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ink/ink1.xml" ContentType="application/inkml+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3"/>
  </p:notesMasterIdLst>
  <p:sldIdLst>
    <p:sldId id="256" r:id="rId2"/>
  </p:sldIdLst>
  <p:sldSz cx="28968700" cy="16294100"/>
  <p:notesSz cx="16294100" cy="289687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Poster" id="{AC5929D0-3FE9-05BD-5200-62DC0598E00C}">
          <p14:sldIdLst>
            <p14:sldId id="256"/>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DCA400"/>
    <a:srgbClr val="F5B701"/>
    <a:srgbClr val="FFF3DE"/>
    <a:srgbClr val="325160"/>
    <a:srgbClr val="2B2D42"/>
    <a:srgbClr val="DDDDDD"/>
    <a:srgbClr val="008E47"/>
    <a:srgbClr val="00A452"/>
    <a:srgbClr val="00CC66"/>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vertBarState="minimized" horzBarState="maximized">
    <p:restoredLeft sz="6217" autoAdjust="0"/>
    <p:restoredTop sz="94610"/>
  </p:normalViewPr>
  <p:slideViewPr>
    <p:cSldViewPr snapToGrid="0" snapToObjects="1">
      <p:cViewPr>
        <p:scale>
          <a:sx n="75" d="100"/>
          <a:sy n="75" d="100"/>
        </p:scale>
        <p:origin x="-4872" y="43"/>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3" Type="http://schemas.openxmlformats.org/officeDocument/2006/relationships/notesMaster" Target="notesMasters/notesMaster1.xml"/><Relationship Id="rId7"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theme" Target="theme/theme1.xml"/><Relationship Id="rId5" Type="http://schemas.openxmlformats.org/officeDocument/2006/relationships/viewProps" Target="viewProps.xml"/><Relationship Id="rId4" Type="http://schemas.openxmlformats.org/officeDocument/2006/relationships/presProps" Target="presProps.xml"/></Relationships>
</file>

<file path=ppt/ink/ink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30T11:58:17.706"/>
    </inkml:context>
    <inkml:brush xml:id="br0">
      <inkml:brushProperty name="width" value="0.05292" units="cm"/>
      <inkml:brushProperty name="height" value="0.05292" units="cm"/>
      <inkml:brushProperty name="color" value="#FF0000"/>
    </inkml:brush>
  </inkml:definitions>
  <inkml:trace contextRef="#ctx0" brushRef="#br0">62843 7418 24575,'0'0'0</inkml:trace>
</inkml:ink>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71510444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POSTER">
    <p:bg>
      <p:bgPr>
        <a:solidFill>
          <a:schemeClr val="bg1"/>
        </a:solidFill>
        <a:effectLst/>
      </p:bgPr>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5.png"/><Relationship Id="rId3" Type="http://schemas.openxmlformats.org/officeDocument/2006/relationships/hyperlink" Target="https://github.com/flavia-castro/CA1-Algorithms-Food-Storage-System" TargetMode="External"/><Relationship Id="rId7" Type="http://schemas.openxmlformats.org/officeDocument/2006/relationships/image" Target="../media/image4.png"/><Relationship Id="rId12" Type="http://schemas.openxmlformats.org/officeDocument/2006/relationships/image" Target="../media/image8.png"/><Relationship Id="rId2" Type="http://schemas.openxmlformats.org/officeDocument/2006/relationships/notesSlide" Target="../notesSlides/notesSlide1.xml"/><Relationship Id="rId1" Type="http://schemas.openxmlformats.org/officeDocument/2006/relationships/slideLayout" Target="../slideLayouts/slideLayout2.xml"/><Relationship Id="rId6" Type="http://schemas.openxmlformats.org/officeDocument/2006/relationships/image" Target="../media/image3.png"/><Relationship Id="rId11" Type="http://schemas.openxmlformats.org/officeDocument/2006/relationships/customXml" Target="../ink/ink1.xml"/><Relationship Id="rId5" Type="http://schemas.openxmlformats.org/officeDocument/2006/relationships/image" Target="../media/image2.png"/><Relationship Id="rId10" Type="http://schemas.openxmlformats.org/officeDocument/2006/relationships/image" Target="../media/image7.png"/><Relationship Id="rId4" Type="http://schemas.openxmlformats.org/officeDocument/2006/relationships/image" Target="../media/image1.png"/><Relationship Id="rId9" Type="http://schemas.openxmlformats.org/officeDocument/2006/relationships/image" Target="../media/image6.png"/></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Header card"/>
          <p:cNvSpPr/>
          <p:nvPr/>
        </p:nvSpPr>
        <p:spPr>
          <a:xfrm>
            <a:off x="411480" y="431787"/>
            <a:ext cx="28145232" cy="1965960"/>
          </a:xfrm>
          <a:prstGeom prst="roundRect">
            <a:avLst>
              <a:gd name="adj" fmla="val 9302"/>
            </a:avLst>
          </a:prstGeom>
          <a:solidFill>
            <a:srgbClr val="F5B701"/>
          </a:solidFill>
          <a:ln/>
        </p:spPr>
        <p:txBody>
          <a:bodyPr/>
          <a:lstStyle/>
          <a:p>
            <a:endParaRPr lang="en-US" dirty="0"/>
          </a:p>
        </p:txBody>
      </p:sp>
      <p:sp>
        <p:nvSpPr>
          <p:cNvPr id="3" name="Title"/>
          <p:cNvSpPr txBox="1"/>
          <p:nvPr/>
        </p:nvSpPr>
        <p:spPr>
          <a:xfrm>
            <a:off x="822960" y="594360"/>
            <a:ext cx="17830800" cy="777240"/>
          </a:xfrm>
          <a:prstGeom prst="rect">
            <a:avLst/>
          </a:prstGeom>
          <a:noFill/>
          <a:ln/>
        </p:spPr>
        <p:txBody>
          <a:bodyPr wrap="square" lIns="0" tIns="0" rIns="0" bIns="0" rtlCol="0" anchor="ctr"/>
          <a:lstStyle/>
          <a:p>
            <a:pPr marL="0" indent="0">
              <a:buNone/>
            </a:pPr>
            <a:r>
              <a:rPr lang="en-US" sz="4600" b="1" dirty="0">
                <a:solidFill>
                  <a:schemeClr val="bg1"/>
                </a:solidFill>
                <a:latin typeface="Franklin Gothic Medium" panose="020B0603020102020204" pitchFamily="34" charset="0"/>
                <a:ea typeface="Cambria" pitchFamily="34" charset="-122"/>
                <a:cs typeface="Lucida Sans Unicode" panose="020B0602030504020204" pitchFamily="34" charset="0"/>
              </a:rPr>
              <a:t>Algorithms &amp; Constructs: Food Storage System</a:t>
            </a:r>
            <a:endParaRPr lang="en-US" sz="4600" dirty="0">
              <a:latin typeface="Franklin Gothic Medium" panose="020B0603020102020204" pitchFamily="34" charset="0"/>
              <a:cs typeface="Lucida Sans Unicode" panose="020B0602030504020204" pitchFamily="34" charset="0"/>
            </a:endParaRPr>
          </a:p>
        </p:txBody>
      </p:sp>
      <p:sp>
        <p:nvSpPr>
          <p:cNvPr id="4" name="Subtitle"/>
          <p:cNvSpPr txBox="1"/>
          <p:nvPr/>
        </p:nvSpPr>
        <p:spPr>
          <a:xfrm>
            <a:off x="822960" y="1371600"/>
            <a:ext cx="17830800" cy="411480"/>
          </a:xfrm>
          <a:prstGeom prst="rect">
            <a:avLst/>
          </a:prstGeom>
          <a:noFill/>
          <a:ln/>
        </p:spPr>
        <p:txBody>
          <a:bodyPr wrap="square" lIns="0" tIns="0" rIns="0" bIns="0" rtlCol="0" anchor="ctr"/>
          <a:lstStyle/>
          <a:p>
            <a:pPr marL="0" indent="0">
              <a:buNone/>
            </a:pPr>
            <a:r>
              <a:rPr lang="en-US" sz="2200" i="1" dirty="0">
                <a:solidFill>
                  <a:srgbClr val="002060"/>
                </a:solidFill>
              </a:rPr>
              <a:t>A Java console application that stores fast-food items in a circular queue (FIFO)</a:t>
            </a:r>
            <a:endParaRPr lang="en-US" sz="2200" dirty="0">
              <a:solidFill>
                <a:srgbClr val="002060"/>
              </a:solidFill>
            </a:endParaRPr>
          </a:p>
        </p:txBody>
      </p:sp>
      <p:sp>
        <p:nvSpPr>
          <p:cNvPr id="5" name="Students"/>
          <p:cNvSpPr txBox="1"/>
          <p:nvPr/>
        </p:nvSpPr>
        <p:spPr>
          <a:xfrm>
            <a:off x="822960" y="1828800"/>
            <a:ext cx="17830800" cy="365760"/>
          </a:xfrm>
          <a:prstGeom prst="rect">
            <a:avLst/>
          </a:prstGeom>
          <a:noFill/>
          <a:ln/>
        </p:spPr>
        <p:txBody>
          <a:bodyPr wrap="square" lIns="0" tIns="0" rIns="0" bIns="0" rtlCol="0" anchor="ctr"/>
          <a:lstStyle/>
          <a:p>
            <a:pPr marL="0" indent="0">
              <a:buNone/>
            </a:pPr>
            <a:r>
              <a:rPr lang="en-US" sz="1600" dirty="0">
                <a:solidFill>
                  <a:schemeClr val="accent6">
                    <a:lumMod val="75000"/>
                  </a:schemeClr>
                </a:solidFill>
              </a:rPr>
              <a:t>Students: Flavia Castro &amp; Sissyane Rodrigues  |  Lecturer: Taufique Ahmed  |  BSc (Hons) in Computing  |  CCT College Dublin</a:t>
            </a:r>
          </a:p>
        </p:txBody>
      </p:sp>
      <p:sp>
        <p:nvSpPr>
          <p:cNvPr id="6" name="Links"/>
          <p:cNvSpPr txBox="1"/>
          <p:nvPr/>
        </p:nvSpPr>
        <p:spPr>
          <a:xfrm>
            <a:off x="18087246" y="943851"/>
            <a:ext cx="9994392" cy="1097280"/>
          </a:xfrm>
          <a:prstGeom prst="rect">
            <a:avLst/>
          </a:prstGeom>
          <a:noFill/>
          <a:ln/>
        </p:spPr>
        <p:txBody>
          <a:bodyPr wrap="square" lIns="0" tIns="0" rIns="0" bIns="0" rtlCol="0" anchor="ctr"/>
          <a:lstStyle/>
          <a:p>
            <a:pPr marL="0" indent="0">
              <a:spcAft>
                <a:spcPts val="600"/>
              </a:spcAft>
              <a:buNone/>
            </a:pPr>
            <a:r>
              <a:rPr lang="en-US" sz="1600" b="1" dirty="0">
                <a:solidFill>
                  <a:schemeClr val="bg2">
                    <a:lumMod val="25000"/>
                  </a:schemeClr>
                </a:solidFill>
              </a:rPr>
              <a:t>GitHub: </a:t>
            </a:r>
            <a:r>
              <a:rPr lang="en-US" sz="1600" u="sng" dirty="0">
                <a:solidFill>
                  <a:srgbClr val="7030A0"/>
                </a:solidFill>
                <a:hlinkClick r:id="rId3">
                  <a:extLst>
                    <a:ext uri="{A12FA001-AC4F-418D-AE19-62706E023703}">
                      <ahyp:hlinkClr xmlns:ahyp="http://schemas.microsoft.com/office/drawing/2018/hyperlinkcolor" val="tx"/>
                    </a:ext>
                  </a:extLst>
                </a:hlinkClick>
              </a:rPr>
              <a:t>github.com/flavia-castro/CA1-Algorithms-Food-Storage-System</a:t>
            </a:r>
            <a:endParaRPr lang="en-US" sz="1600" dirty="0">
              <a:solidFill>
                <a:srgbClr val="7030A0"/>
              </a:solidFill>
            </a:endParaRPr>
          </a:p>
          <a:p>
            <a:pPr marL="0" indent="0">
              <a:spcAft>
                <a:spcPts val="600"/>
              </a:spcAft>
              <a:buNone/>
            </a:pPr>
            <a:r>
              <a:rPr lang="en-US" sz="1600" b="1" dirty="0">
                <a:solidFill>
                  <a:schemeClr val="bg2">
                    <a:lumMod val="25000"/>
                  </a:schemeClr>
                </a:solidFill>
              </a:rPr>
              <a:t>Video Presentation: </a:t>
            </a:r>
            <a:r>
              <a:rPr lang="en-US" sz="1600" dirty="0">
                <a:solidFill>
                  <a:srgbClr val="7030A0"/>
                </a:solidFill>
              </a:rPr>
              <a:t>https://drive.google.com/file/d/1Ziob6ri6nQdibHtRjUXi7CGiZ11nPVpQ/view?usp=drive_link</a:t>
            </a:r>
          </a:p>
        </p:txBody>
      </p:sp>
      <p:sp>
        <p:nvSpPr>
          <p:cNvPr id="7" name="Problem card"/>
          <p:cNvSpPr/>
          <p:nvPr/>
        </p:nvSpPr>
        <p:spPr>
          <a:xfrm>
            <a:off x="411480" y="2651760"/>
            <a:ext cx="6720840" cy="3822192"/>
          </a:xfrm>
          <a:prstGeom prst="roundRect">
            <a:avLst>
              <a:gd name="adj" fmla="val 3333"/>
            </a:avLst>
          </a:prstGeom>
          <a:solidFill>
            <a:srgbClr val="FFF3DE"/>
          </a:solidFill>
          <a:ln/>
        </p:spPr>
        <p:txBody>
          <a:bodyPr/>
          <a:lstStyle/>
          <a:p>
            <a:endParaRPr lang="en-US" dirty="0"/>
          </a:p>
        </p:txBody>
      </p:sp>
      <p:sp>
        <p:nvSpPr>
          <p:cNvPr id="8" name="Problem badge"/>
          <p:cNvSpPr/>
          <p:nvPr/>
        </p:nvSpPr>
        <p:spPr>
          <a:xfrm>
            <a:off x="557784" y="2798064"/>
            <a:ext cx="402336" cy="402336"/>
          </a:xfrm>
          <a:prstGeom prst="ellipse">
            <a:avLst/>
          </a:prstGeom>
          <a:solidFill>
            <a:schemeClr val="accent1"/>
          </a:solidFill>
          <a:ln/>
        </p:spPr>
      </p:sp>
      <p:sp>
        <p:nvSpPr>
          <p:cNvPr id="9" name="Problem number"/>
          <p:cNvSpPr txBox="1"/>
          <p:nvPr/>
        </p:nvSpPr>
        <p:spPr>
          <a:xfrm>
            <a:off x="557784" y="2795087"/>
            <a:ext cx="402336" cy="402336"/>
          </a:xfrm>
          <a:prstGeom prst="rect">
            <a:avLst/>
          </a:prstGeom>
          <a:noFill/>
          <a:ln/>
        </p:spPr>
        <p:txBody>
          <a:bodyPr wrap="square" lIns="0" tIns="0" rIns="0" bIns="0" rtlCol="0" anchor="ctr"/>
          <a:lstStyle/>
          <a:p>
            <a:pPr marL="0" indent="0" algn="ctr">
              <a:buNone/>
            </a:pPr>
            <a:r>
              <a:rPr lang="en-US" sz="1600" b="1" dirty="0">
                <a:solidFill>
                  <a:schemeClr val="bg1"/>
                </a:solidFill>
              </a:rPr>
              <a:t>1</a:t>
            </a:r>
            <a:endParaRPr lang="en-US" sz="1600" dirty="0"/>
          </a:p>
        </p:txBody>
      </p:sp>
      <p:sp>
        <p:nvSpPr>
          <p:cNvPr id="10" name="Problem heading"/>
          <p:cNvSpPr txBox="1"/>
          <p:nvPr/>
        </p:nvSpPr>
        <p:spPr>
          <a:xfrm>
            <a:off x="1142878" y="2784348"/>
            <a:ext cx="5660136" cy="438912"/>
          </a:xfrm>
          <a:prstGeom prst="rect">
            <a:avLst/>
          </a:prstGeom>
          <a:noFill/>
          <a:ln/>
        </p:spPr>
        <p:txBody>
          <a:bodyPr wrap="square" lIns="0" tIns="0" rIns="0" bIns="0" rtlCol="0" anchor="ctr"/>
          <a:lstStyle/>
          <a:p>
            <a:pPr marL="0" indent="0">
              <a:buNone/>
            </a:pPr>
            <a:r>
              <a:rPr lang="en-US" sz="2300" b="1" dirty="0">
                <a:solidFill>
                  <a:schemeClr val="tx2"/>
                </a:solidFill>
                <a:latin typeface="Franklin Gothic Medium" panose="020B0603020102020204" pitchFamily="34" charset="0"/>
                <a:ea typeface="Cambria" pitchFamily="34" charset="-122"/>
                <a:cs typeface="Lucida Sans Unicode" panose="020B0602030504020204" pitchFamily="34" charset="0"/>
              </a:rPr>
              <a:t>The Problem</a:t>
            </a:r>
            <a:endParaRPr lang="en-US" sz="2300" dirty="0">
              <a:latin typeface="Franklin Gothic Medium" panose="020B0603020102020204" pitchFamily="34" charset="0"/>
              <a:cs typeface="Lucida Sans Unicode" panose="020B0602030504020204" pitchFamily="34" charset="0"/>
            </a:endParaRPr>
          </a:p>
        </p:txBody>
      </p:sp>
      <p:sp>
        <p:nvSpPr>
          <p:cNvPr id="11" name="Problem text"/>
          <p:cNvSpPr txBox="1"/>
          <p:nvPr/>
        </p:nvSpPr>
        <p:spPr>
          <a:xfrm>
            <a:off x="667512" y="3392424"/>
            <a:ext cx="6208776" cy="1783080"/>
          </a:xfrm>
          <a:prstGeom prst="rect">
            <a:avLst/>
          </a:prstGeom>
          <a:noFill/>
          <a:ln/>
        </p:spPr>
        <p:txBody>
          <a:bodyPr wrap="square" lIns="0" tIns="0" rIns="0" bIns="0" rtlCol="0" anchor="t"/>
          <a:lstStyle/>
          <a:p>
            <a:pPr algn="just"/>
            <a:r>
              <a:rPr lang="en-GB" sz="1500" dirty="0"/>
              <a:t>A fast-food restaurant stores five types of food: Burger, Pizza, Fries, Sandwich and Hotdog. The storage unit is double-sided and will accept up to 8 trays. </a:t>
            </a:r>
            <a:r>
              <a:rPr lang="en-US" sz="1500" dirty="0"/>
              <a:t>The chef can either add and remove food only on the same side, or alternatively on opposite sides. Each food item is given: Name, weight, best before date (maximum 14 days), and time of storage. The challenge was to choose a appropriate data structure and write a java code to simulate this scenario.</a:t>
            </a:r>
            <a:r>
              <a:rPr lang="en-GB" sz="1500" dirty="0"/>
              <a:t>.</a:t>
            </a:r>
            <a:endParaRPr lang="en-US" sz="1500" dirty="0"/>
          </a:p>
        </p:txBody>
      </p:sp>
      <p:sp>
        <p:nvSpPr>
          <p:cNvPr id="26" name="Why card"/>
          <p:cNvSpPr/>
          <p:nvPr/>
        </p:nvSpPr>
        <p:spPr>
          <a:xfrm>
            <a:off x="411480" y="6766559"/>
            <a:ext cx="6720840" cy="4451751"/>
          </a:xfrm>
          <a:prstGeom prst="roundRect">
            <a:avLst>
              <a:gd name="adj" fmla="val 2857"/>
            </a:avLst>
          </a:prstGeom>
          <a:solidFill>
            <a:srgbClr val="FFF3DE"/>
          </a:solidFill>
          <a:ln/>
        </p:spPr>
      </p:sp>
      <p:sp>
        <p:nvSpPr>
          <p:cNvPr id="27" name="Why badge"/>
          <p:cNvSpPr/>
          <p:nvPr/>
        </p:nvSpPr>
        <p:spPr>
          <a:xfrm>
            <a:off x="557784" y="6922008"/>
            <a:ext cx="402336" cy="402336"/>
          </a:xfrm>
          <a:prstGeom prst="ellipse">
            <a:avLst/>
          </a:prstGeom>
          <a:solidFill>
            <a:schemeClr val="accent1"/>
          </a:solidFill>
          <a:ln/>
        </p:spPr>
      </p:sp>
      <p:sp>
        <p:nvSpPr>
          <p:cNvPr id="28" name="Why number"/>
          <p:cNvSpPr txBox="1"/>
          <p:nvPr/>
        </p:nvSpPr>
        <p:spPr>
          <a:xfrm>
            <a:off x="554492" y="6926941"/>
            <a:ext cx="402336" cy="402336"/>
          </a:xfrm>
          <a:prstGeom prst="rect">
            <a:avLst/>
          </a:prstGeom>
          <a:noFill/>
          <a:ln/>
        </p:spPr>
        <p:txBody>
          <a:bodyPr wrap="square" lIns="0" tIns="0" rIns="0" bIns="0" rtlCol="0" anchor="ctr"/>
          <a:lstStyle/>
          <a:p>
            <a:pPr marL="0" indent="0" algn="ctr">
              <a:buNone/>
            </a:pPr>
            <a:r>
              <a:rPr lang="en-US" sz="1600" b="1" dirty="0">
                <a:solidFill>
                  <a:schemeClr val="bg1"/>
                </a:solidFill>
              </a:rPr>
              <a:t>2</a:t>
            </a:r>
            <a:endParaRPr lang="en-US" sz="1600" dirty="0"/>
          </a:p>
        </p:txBody>
      </p:sp>
      <p:sp>
        <p:nvSpPr>
          <p:cNvPr id="29" name="Why heading"/>
          <p:cNvSpPr txBox="1"/>
          <p:nvPr/>
        </p:nvSpPr>
        <p:spPr>
          <a:xfrm>
            <a:off x="1142878" y="6951945"/>
            <a:ext cx="5660136" cy="438912"/>
          </a:xfrm>
          <a:prstGeom prst="rect">
            <a:avLst/>
          </a:prstGeom>
          <a:noFill/>
          <a:ln/>
        </p:spPr>
        <p:txBody>
          <a:bodyPr wrap="square" lIns="0" tIns="0" rIns="0" bIns="0" rtlCol="0" anchor="ctr"/>
          <a:lstStyle/>
          <a:p>
            <a:r>
              <a:rPr lang="en-US" sz="2300" b="1" dirty="0">
                <a:solidFill>
                  <a:schemeClr val="tx2"/>
                </a:solidFill>
                <a:latin typeface="Franklin Gothic Medium" panose="020B0603020102020204" pitchFamily="34" charset="0"/>
                <a:ea typeface="Cambria" pitchFamily="34" charset="-122"/>
                <a:cs typeface="Lucida Sans Unicode" panose="020B0602030504020204" pitchFamily="34" charset="0"/>
              </a:rPr>
              <a:t>Proposed Solution</a:t>
            </a:r>
            <a:endParaRPr lang="en-US" sz="2300" dirty="0">
              <a:latin typeface="Franklin Gothic Medium" panose="020B0603020102020204" pitchFamily="34" charset="0"/>
              <a:cs typeface="Lucida Sans Unicode" panose="020B0602030504020204" pitchFamily="34" charset="0"/>
            </a:endParaRPr>
          </a:p>
        </p:txBody>
      </p:sp>
      <p:sp>
        <p:nvSpPr>
          <p:cNvPr id="30" name="Why text"/>
          <p:cNvSpPr txBox="1"/>
          <p:nvPr/>
        </p:nvSpPr>
        <p:spPr>
          <a:xfrm>
            <a:off x="667512" y="7558388"/>
            <a:ext cx="6208776" cy="1722651"/>
          </a:xfrm>
          <a:prstGeom prst="rect">
            <a:avLst/>
          </a:prstGeom>
          <a:noFill/>
          <a:ln/>
        </p:spPr>
        <p:txBody>
          <a:bodyPr wrap="square" lIns="0" tIns="0" rIns="0" bIns="0" rtlCol="0" anchor="t"/>
          <a:lstStyle/>
          <a:p>
            <a:pPr algn="just"/>
            <a:r>
              <a:rPr lang="en-US" sz="1500" dirty="0"/>
              <a:t>We have implemented the storing as a data structure: a Circular Queue: First In, First Out or FIFO (Goodrich, </a:t>
            </a:r>
            <a:r>
              <a:rPr lang="en-US" sz="1500" dirty="0" err="1"/>
              <a:t>Tamassia</a:t>
            </a:r>
            <a:r>
              <a:rPr lang="en-US" sz="1500" dirty="0"/>
              <a:t> and Goldwasser, 2014). Food is added at the back and picked up at the front, that way guaranteeing always the use of the most older tray first and also assisting in reducing food waste.</a:t>
            </a:r>
            <a:r>
              <a:rPr lang="en-GB" sz="1500" dirty="0"/>
              <a:t>. A Stack would have the newest food on top and the older food trays would be allowed to expire, whereas a standard array with shifting would have to shift food after each removal.</a:t>
            </a:r>
            <a:endParaRPr lang="en-US" sz="1500" dirty="0"/>
          </a:p>
        </p:txBody>
      </p:sp>
      <p:graphicFrame>
        <p:nvGraphicFramePr>
          <p:cNvPr id="31" name="Comparison table"/>
          <p:cNvGraphicFramePr>
            <a:graphicFrameLocks noGrp="1"/>
          </p:cNvGraphicFramePr>
          <p:nvPr>
            <p:extLst>
              <p:ext uri="{D42A27DB-BD31-4B8C-83A1-F6EECF244321}">
                <p14:modId xmlns:p14="http://schemas.microsoft.com/office/powerpoint/2010/main" val="273211272"/>
              </p:ext>
            </p:extLst>
          </p:nvPr>
        </p:nvGraphicFramePr>
        <p:xfrm>
          <a:off x="678965" y="9360848"/>
          <a:ext cx="6208776" cy="1536192"/>
        </p:xfrm>
        <a:graphic>
          <a:graphicData uri="http://schemas.openxmlformats.org/drawingml/2006/table">
            <a:tbl>
              <a:tblPr/>
              <a:tblGrid>
                <a:gridCol w="2359335">
                  <a:extLst>
                    <a:ext uri="{9D8B030D-6E8A-4147-A177-3AD203B41FA5}">
                      <a16:colId xmlns:a16="http://schemas.microsoft.com/office/drawing/2014/main" val="20000"/>
                    </a:ext>
                  </a:extLst>
                </a:gridCol>
                <a:gridCol w="1862633">
                  <a:extLst>
                    <a:ext uri="{9D8B030D-6E8A-4147-A177-3AD203B41FA5}">
                      <a16:colId xmlns:a16="http://schemas.microsoft.com/office/drawing/2014/main" val="20001"/>
                    </a:ext>
                  </a:extLst>
                </a:gridCol>
                <a:gridCol w="1986808">
                  <a:extLst>
                    <a:ext uri="{9D8B030D-6E8A-4147-A177-3AD203B41FA5}">
                      <a16:colId xmlns:a16="http://schemas.microsoft.com/office/drawing/2014/main" val="20002"/>
                    </a:ext>
                  </a:extLst>
                </a:gridCol>
              </a:tblGrid>
              <a:tr h="384048">
                <a:tc>
                  <a:txBody>
                    <a:bodyPr/>
                    <a:lstStyle/>
                    <a:p>
                      <a:pPr marL="0" indent="0">
                        <a:buNone/>
                      </a:pPr>
                      <a:r>
                        <a:rPr lang="en-DE" sz="1300" b="1" dirty="0">
                          <a:solidFill>
                            <a:schemeClr val="bg1"/>
                          </a:solidFill>
                          <a:latin typeface="+mj-lt"/>
                          <a:ea typeface="Calibri" pitchFamily="34" charset="-122"/>
                          <a:cs typeface="Calibri" pitchFamily="34" charset="-120"/>
                        </a:rPr>
                        <a:t>Data Structure</a:t>
                      </a:r>
                      <a:endParaRPr lang="en-US" sz="1300" dirty="0">
                        <a:latin typeface="+mj-lt"/>
                        <a:ea typeface="Calibri" charset="0"/>
                        <a:cs typeface="Calibri" charset="0"/>
                      </a:endParaRPr>
                    </a:p>
                  </a:txBody>
                  <a:tcPr marL="73152" marR="73152" marT="18288" marB="18288" anchor="ctr">
                    <a:lnL w="9525" cap="flat" cmpd="sng" algn="ctr">
                      <a:solidFill>
                        <a:srgbClr val="D5DAE0"/>
                      </a:solidFill>
                      <a:prstDash val="solid"/>
                      <a:round/>
                      <a:headEnd type="none" w="med" len="med"/>
                      <a:tailEnd type="none" w="med" len="med"/>
                    </a:lnL>
                    <a:lnR w="9525" cap="flat" cmpd="sng" algn="ctr">
                      <a:solidFill>
                        <a:srgbClr val="D5DAE0"/>
                      </a:solidFill>
                      <a:prstDash val="solid"/>
                      <a:round/>
                      <a:headEnd type="none" w="med" len="med"/>
                      <a:tailEnd type="none" w="med" len="med"/>
                    </a:lnR>
                    <a:lnT w="9525" cap="flat" cmpd="sng" algn="ctr">
                      <a:solidFill>
                        <a:srgbClr val="D5DAE0"/>
                      </a:solidFill>
                      <a:prstDash val="solid"/>
                      <a:round/>
                      <a:headEnd type="none" w="med" len="med"/>
                      <a:tailEnd type="none" w="med" len="med"/>
                    </a:lnT>
                    <a:lnB w="9525" cap="flat" cmpd="sng" algn="ctr">
                      <a:solidFill>
                        <a:srgbClr val="D5DAE0"/>
                      </a:solidFill>
                      <a:prstDash val="solid"/>
                      <a:round/>
                      <a:headEnd type="none" w="med" len="med"/>
                      <a:tailEnd type="none" w="med" len="med"/>
                    </a:lnB>
                    <a:solidFill>
                      <a:schemeClr val="tx2"/>
                    </a:solidFill>
                  </a:tcPr>
                </a:tc>
                <a:tc>
                  <a:txBody>
                    <a:bodyPr/>
                    <a:lstStyle/>
                    <a:p>
                      <a:pPr marL="0" indent="0">
                        <a:buNone/>
                      </a:pPr>
                      <a:r>
                        <a:rPr lang="en-US" sz="1300" b="1" dirty="0">
                          <a:solidFill>
                            <a:schemeClr val="bg1"/>
                          </a:solidFill>
                          <a:latin typeface="+mj-lt"/>
                          <a:ea typeface="Calibri" pitchFamily="34" charset="-122"/>
                          <a:cs typeface="Calibri" pitchFamily="34" charset="-120"/>
                        </a:rPr>
                        <a:t>Remove</a:t>
                      </a:r>
                      <a:endParaRPr lang="en-US" sz="1300" dirty="0">
                        <a:latin typeface="+mj-lt"/>
                        <a:ea typeface="Calibri" charset="0"/>
                        <a:cs typeface="Calibri" charset="0"/>
                      </a:endParaRPr>
                    </a:p>
                  </a:txBody>
                  <a:tcPr marL="73152" marR="73152" marT="18288" marB="18288" anchor="ctr">
                    <a:lnL w="9525" cap="flat" cmpd="sng" algn="ctr">
                      <a:solidFill>
                        <a:srgbClr val="D5DAE0"/>
                      </a:solidFill>
                      <a:prstDash val="solid"/>
                      <a:round/>
                      <a:headEnd type="none" w="med" len="med"/>
                      <a:tailEnd type="none" w="med" len="med"/>
                    </a:lnL>
                    <a:lnR w="9525" cap="flat" cmpd="sng" algn="ctr">
                      <a:solidFill>
                        <a:srgbClr val="D5DAE0"/>
                      </a:solidFill>
                      <a:prstDash val="solid"/>
                      <a:round/>
                      <a:headEnd type="none" w="med" len="med"/>
                      <a:tailEnd type="none" w="med" len="med"/>
                    </a:lnR>
                    <a:lnT w="9525" cap="flat" cmpd="sng" algn="ctr">
                      <a:solidFill>
                        <a:srgbClr val="D5DAE0"/>
                      </a:solidFill>
                      <a:prstDash val="solid"/>
                      <a:round/>
                      <a:headEnd type="none" w="med" len="med"/>
                      <a:tailEnd type="none" w="med" len="med"/>
                    </a:lnT>
                    <a:lnB w="9525" cap="flat" cmpd="sng" algn="ctr">
                      <a:solidFill>
                        <a:srgbClr val="D5DAE0"/>
                      </a:solidFill>
                      <a:prstDash val="solid"/>
                      <a:round/>
                      <a:headEnd type="none" w="med" len="med"/>
                      <a:tailEnd type="none" w="med" len="med"/>
                    </a:lnB>
                    <a:solidFill>
                      <a:schemeClr val="tx2"/>
                    </a:solidFill>
                  </a:tcPr>
                </a:tc>
                <a:tc>
                  <a:txBody>
                    <a:bodyPr/>
                    <a:lstStyle/>
                    <a:p>
                      <a:pPr marL="0" indent="0">
                        <a:buNone/>
                      </a:pPr>
                      <a:r>
                        <a:rPr lang="en-US" sz="1300" b="1" dirty="0">
                          <a:solidFill>
                            <a:schemeClr val="bg1"/>
                          </a:solidFill>
                          <a:latin typeface="+mj-lt"/>
                          <a:ea typeface="Calibri" pitchFamily="34" charset="-122"/>
                          <a:cs typeface="Calibri" pitchFamily="34" charset="-120"/>
                        </a:rPr>
                        <a:t>Result</a:t>
                      </a:r>
                      <a:endParaRPr lang="en-US" sz="1300" dirty="0">
                        <a:latin typeface="+mj-lt"/>
                        <a:ea typeface="Calibri" charset="0"/>
                        <a:cs typeface="Calibri" charset="0"/>
                      </a:endParaRPr>
                    </a:p>
                  </a:txBody>
                  <a:tcPr marL="73152" marR="73152" marT="18288" marB="18288" anchor="ctr">
                    <a:lnL w="9525" cap="flat" cmpd="sng" algn="ctr">
                      <a:solidFill>
                        <a:srgbClr val="D5DAE0"/>
                      </a:solidFill>
                      <a:prstDash val="solid"/>
                      <a:round/>
                      <a:headEnd type="none" w="med" len="med"/>
                      <a:tailEnd type="none" w="med" len="med"/>
                    </a:lnL>
                    <a:lnR w="9525" cap="flat" cmpd="sng" algn="ctr">
                      <a:solidFill>
                        <a:srgbClr val="D5DAE0"/>
                      </a:solidFill>
                      <a:prstDash val="solid"/>
                      <a:round/>
                      <a:headEnd type="none" w="med" len="med"/>
                      <a:tailEnd type="none" w="med" len="med"/>
                    </a:lnR>
                    <a:lnT w="9525" cap="flat" cmpd="sng" algn="ctr">
                      <a:solidFill>
                        <a:srgbClr val="D5DAE0"/>
                      </a:solidFill>
                      <a:prstDash val="solid"/>
                      <a:round/>
                      <a:headEnd type="none" w="med" len="med"/>
                      <a:tailEnd type="none" w="med" len="med"/>
                    </a:lnT>
                    <a:lnB w="9525" cap="flat" cmpd="sng" algn="ctr">
                      <a:solidFill>
                        <a:srgbClr val="D5DAE0"/>
                      </a:solidFill>
                      <a:prstDash val="solid"/>
                      <a:round/>
                      <a:headEnd type="none" w="med" len="med"/>
                      <a:tailEnd type="none" w="med" len="med"/>
                    </a:lnB>
                    <a:solidFill>
                      <a:schemeClr val="tx2"/>
                    </a:solidFill>
                  </a:tcPr>
                </a:tc>
                <a:extLst>
                  <a:ext uri="{0D108BD9-81ED-4DB2-BD59-A6C34878D82A}">
                    <a16:rowId xmlns:a16="http://schemas.microsoft.com/office/drawing/2014/main" val="10000"/>
                  </a:ext>
                </a:extLst>
              </a:tr>
              <a:tr h="384048">
                <a:tc>
                  <a:txBody>
                    <a:bodyPr/>
                    <a:lstStyle/>
                    <a:p>
                      <a:pPr marL="0" indent="0">
                        <a:buNone/>
                      </a:pPr>
                      <a:r>
                        <a:rPr lang="en-US" sz="1300" b="1" dirty="0">
                          <a:solidFill>
                            <a:schemeClr val="tx1"/>
                          </a:solidFill>
                          <a:latin typeface="+mj-lt"/>
                          <a:ea typeface="Calibri" pitchFamily="34" charset="-122"/>
                          <a:cs typeface="Calibri" pitchFamily="34" charset="-120"/>
                        </a:rPr>
                        <a:t>Circular Queue (FIFO)</a:t>
                      </a:r>
                      <a:endParaRPr lang="en-US" sz="1300" dirty="0">
                        <a:latin typeface="+mj-lt"/>
                        <a:ea typeface="Calibri" charset="0"/>
                        <a:cs typeface="Calibri" charset="0"/>
                      </a:endParaRPr>
                    </a:p>
                  </a:txBody>
                  <a:tcPr marL="73152" marR="73152" marT="18288" marB="18288" anchor="ctr">
                    <a:lnL w="9525" cap="flat" cmpd="sng" algn="ctr">
                      <a:solidFill>
                        <a:srgbClr val="D5DAE0"/>
                      </a:solidFill>
                      <a:prstDash val="solid"/>
                      <a:round/>
                      <a:headEnd type="none" w="med" len="med"/>
                      <a:tailEnd type="none" w="med" len="med"/>
                    </a:lnL>
                    <a:lnR w="9525" cap="flat" cmpd="sng" algn="ctr">
                      <a:solidFill>
                        <a:srgbClr val="D5DAE0"/>
                      </a:solidFill>
                      <a:prstDash val="solid"/>
                      <a:round/>
                      <a:headEnd type="none" w="med" len="med"/>
                      <a:tailEnd type="none" w="med" len="med"/>
                    </a:lnR>
                    <a:lnT w="9525" cap="flat" cmpd="sng" algn="ctr">
                      <a:solidFill>
                        <a:srgbClr val="D5DAE0"/>
                      </a:solidFill>
                      <a:prstDash val="solid"/>
                      <a:round/>
                      <a:headEnd type="none" w="med" len="med"/>
                      <a:tailEnd type="none" w="med" len="med"/>
                    </a:lnT>
                    <a:lnB w="9525" cap="flat" cmpd="sng" algn="ctr">
                      <a:solidFill>
                        <a:srgbClr val="D5DAE0"/>
                      </a:solidFill>
                      <a:prstDash val="solid"/>
                      <a:round/>
                      <a:headEnd type="none" w="med" len="med"/>
                      <a:tailEnd type="none" w="med" len="med"/>
                    </a:lnB>
                    <a:solidFill>
                      <a:schemeClr val="bg1"/>
                    </a:solidFill>
                  </a:tcPr>
                </a:tc>
                <a:tc>
                  <a:txBody>
                    <a:bodyPr/>
                    <a:lstStyle/>
                    <a:p>
                      <a:pPr marL="0" indent="0">
                        <a:buNone/>
                      </a:pPr>
                      <a:r>
                        <a:rPr lang="en-US" sz="1300" b="1" dirty="0">
                          <a:solidFill>
                            <a:schemeClr val="accent3"/>
                          </a:solidFill>
                          <a:latin typeface="+mj-lt"/>
                          <a:ea typeface="Calibri" pitchFamily="34" charset="-122"/>
                          <a:cs typeface="Calibri" pitchFamily="34" charset="-120"/>
                        </a:rPr>
                        <a:t>O(1), </a:t>
                      </a:r>
                      <a:r>
                        <a:rPr lang="en-DE" sz="1300" b="1" dirty="0">
                          <a:solidFill>
                            <a:schemeClr val="accent3"/>
                          </a:solidFill>
                          <a:latin typeface="+mj-lt"/>
                          <a:ea typeface="Calibri" pitchFamily="34" charset="-122"/>
                          <a:cs typeface="Calibri" pitchFamily="34" charset="-120"/>
                        </a:rPr>
                        <a:t>O</a:t>
                      </a:r>
                      <a:r>
                        <a:rPr lang="en-US" sz="1300" b="1" dirty="0" err="1">
                          <a:solidFill>
                            <a:schemeClr val="accent3"/>
                          </a:solidFill>
                          <a:latin typeface="+mj-lt"/>
                          <a:ea typeface="Calibri" pitchFamily="34" charset="-122"/>
                          <a:cs typeface="Calibri" pitchFamily="34" charset="-120"/>
                        </a:rPr>
                        <a:t>ldest</a:t>
                      </a:r>
                      <a:r>
                        <a:rPr lang="en-US" sz="1300" b="1" dirty="0">
                          <a:solidFill>
                            <a:schemeClr val="accent3"/>
                          </a:solidFill>
                          <a:latin typeface="+mj-lt"/>
                          <a:ea typeface="Calibri" pitchFamily="34" charset="-122"/>
                          <a:cs typeface="Calibri" pitchFamily="34" charset="-120"/>
                        </a:rPr>
                        <a:t> first</a:t>
                      </a:r>
                      <a:endParaRPr lang="en-US" sz="1300" dirty="0">
                        <a:latin typeface="+mj-lt"/>
                        <a:ea typeface="Calibri" charset="0"/>
                        <a:cs typeface="Calibri" charset="0"/>
                      </a:endParaRPr>
                    </a:p>
                  </a:txBody>
                  <a:tcPr marL="73152" marR="73152" marT="18288" marB="18288" anchor="ctr">
                    <a:lnL w="9525" cap="flat" cmpd="sng" algn="ctr">
                      <a:solidFill>
                        <a:srgbClr val="D5DAE0"/>
                      </a:solidFill>
                      <a:prstDash val="solid"/>
                      <a:round/>
                      <a:headEnd type="none" w="med" len="med"/>
                      <a:tailEnd type="none" w="med" len="med"/>
                    </a:lnL>
                    <a:lnR w="9525" cap="flat" cmpd="sng" algn="ctr">
                      <a:solidFill>
                        <a:srgbClr val="D5DAE0"/>
                      </a:solidFill>
                      <a:prstDash val="solid"/>
                      <a:round/>
                      <a:headEnd type="none" w="med" len="med"/>
                      <a:tailEnd type="none" w="med" len="med"/>
                    </a:lnR>
                    <a:lnT w="9525" cap="flat" cmpd="sng" algn="ctr">
                      <a:solidFill>
                        <a:srgbClr val="D5DAE0"/>
                      </a:solidFill>
                      <a:prstDash val="solid"/>
                      <a:round/>
                      <a:headEnd type="none" w="med" len="med"/>
                      <a:tailEnd type="none" w="med" len="med"/>
                    </a:lnT>
                    <a:lnB w="9525" cap="flat" cmpd="sng" algn="ctr">
                      <a:solidFill>
                        <a:srgbClr val="D5DAE0"/>
                      </a:solidFill>
                      <a:prstDash val="solid"/>
                      <a:round/>
                      <a:headEnd type="none" w="med" len="med"/>
                      <a:tailEnd type="none" w="med" len="med"/>
                    </a:lnB>
                    <a:solidFill>
                      <a:schemeClr val="bg1"/>
                    </a:solidFill>
                  </a:tcPr>
                </a:tc>
                <a:tc>
                  <a:txBody>
                    <a:bodyPr/>
                    <a:lstStyle/>
                    <a:p>
                      <a:pPr marL="0" indent="0">
                        <a:buNone/>
                      </a:pPr>
                      <a:r>
                        <a:rPr lang="en-US" sz="1300" b="1" dirty="0">
                          <a:solidFill>
                            <a:schemeClr val="accent3"/>
                          </a:solidFill>
                          <a:latin typeface="+mj-lt"/>
                          <a:ea typeface="Calibri" pitchFamily="34" charset="-122"/>
                          <a:cs typeface="Calibri" pitchFamily="34" charset="-120"/>
                        </a:rPr>
                        <a:t>Chosen</a:t>
                      </a:r>
                      <a:endParaRPr lang="en-US" sz="1300" dirty="0">
                        <a:latin typeface="+mj-lt"/>
                        <a:ea typeface="Calibri" charset="0"/>
                        <a:cs typeface="Calibri" charset="0"/>
                      </a:endParaRPr>
                    </a:p>
                  </a:txBody>
                  <a:tcPr marL="73152" marR="73152" marT="18288" marB="18288" anchor="ctr">
                    <a:lnL w="9525" cap="flat" cmpd="sng" algn="ctr">
                      <a:solidFill>
                        <a:srgbClr val="D5DAE0"/>
                      </a:solidFill>
                      <a:prstDash val="solid"/>
                      <a:round/>
                      <a:headEnd type="none" w="med" len="med"/>
                      <a:tailEnd type="none" w="med" len="med"/>
                    </a:lnL>
                    <a:lnR w="9525" cap="flat" cmpd="sng" algn="ctr">
                      <a:solidFill>
                        <a:srgbClr val="D5DAE0"/>
                      </a:solidFill>
                      <a:prstDash val="solid"/>
                      <a:round/>
                      <a:headEnd type="none" w="med" len="med"/>
                      <a:tailEnd type="none" w="med" len="med"/>
                    </a:lnR>
                    <a:lnT w="9525" cap="flat" cmpd="sng" algn="ctr">
                      <a:solidFill>
                        <a:srgbClr val="D5DAE0"/>
                      </a:solidFill>
                      <a:prstDash val="solid"/>
                      <a:round/>
                      <a:headEnd type="none" w="med" len="med"/>
                      <a:tailEnd type="none" w="med" len="med"/>
                    </a:lnT>
                    <a:lnB w="9525" cap="flat" cmpd="sng" algn="ctr">
                      <a:solidFill>
                        <a:srgbClr val="D5DAE0"/>
                      </a:solidFill>
                      <a:prstDash val="solid"/>
                      <a:round/>
                      <a:headEnd type="none" w="med" len="med"/>
                      <a:tailEnd type="none" w="med" len="med"/>
                    </a:lnB>
                    <a:solidFill>
                      <a:schemeClr val="bg1"/>
                    </a:solidFill>
                  </a:tcPr>
                </a:tc>
                <a:extLst>
                  <a:ext uri="{0D108BD9-81ED-4DB2-BD59-A6C34878D82A}">
                    <a16:rowId xmlns:a16="http://schemas.microsoft.com/office/drawing/2014/main" val="10001"/>
                  </a:ext>
                </a:extLst>
              </a:tr>
              <a:tr h="384048">
                <a:tc>
                  <a:txBody>
                    <a:bodyPr/>
                    <a:lstStyle/>
                    <a:p>
                      <a:pPr marL="0" indent="0">
                        <a:buNone/>
                      </a:pPr>
                      <a:r>
                        <a:rPr lang="en-US" sz="1300" dirty="0">
                          <a:solidFill>
                            <a:schemeClr val="tx1"/>
                          </a:solidFill>
                          <a:latin typeface="+mj-lt"/>
                          <a:ea typeface="Calibri" pitchFamily="34" charset="-122"/>
                          <a:cs typeface="Calibri" pitchFamily="34" charset="-120"/>
                        </a:rPr>
                        <a:t>Stack (LIFO)</a:t>
                      </a:r>
                      <a:endParaRPr lang="en-US" sz="1300" dirty="0">
                        <a:latin typeface="+mj-lt"/>
                        <a:ea typeface="Calibri" charset="0"/>
                        <a:cs typeface="Calibri" charset="0"/>
                      </a:endParaRPr>
                    </a:p>
                  </a:txBody>
                  <a:tcPr marL="73152" marR="73152" marT="18288" marB="18288" anchor="ctr">
                    <a:lnL w="9525" cap="flat" cmpd="sng" algn="ctr">
                      <a:solidFill>
                        <a:srgbClr val="D5DAE0"/>
                      </a:solidFill>
                      <a:prstDash val="solid"/>
                      <a:round/>
                      <a:headEnd type="none" w="med" len="med"/>
                      <a:tailEnd type="none" w="med" len="med"/>
                    </a:lnL>
                    <a:lnR w="9525" cap="flat" cmpd="sng" algn="ctr">
                      <a:solidFill>
                        <a:srgbClr val="D5DAE0"/>
                      </a:solidFill>
                      <a:prstDash val="solid"/>
                      <a:round/>
                      <a:headEnd type="none" w="med" len="med"/>
                      <a:tailEnd type="none" w="med" len="med"/>
                    </a:lnR>
                    <a:lnT w="9525" cap="flat" cmpd="sng" algn="ctr">
                      <a:solidFill>
                        <a:srgbClr val="D5DAE0"/>
                      </a:solidFill>
                      <a:prstDash val="solid"/>
                      <a:round/>
                      <a:headEnd type="none" w="med" len="med"/>
                      <a:tailEnd type="none" w="med" len="med"/>
                    </a:lnT>
                    <a:lnB w="9525" cap="flat" cmpd="sng" algn="ctr">
                      <a:solidFill>
                        <a:srgbClr val="D5DAE0"/>
                      </a:solidFill>
                      <a:prstDash val="solid"/>
                      <a:round/>
                      <a:headEnd type="none" w="med" len="med"/>
                      <a:tailEnd type="none" w="med" len="med"/>
                    </a:lnB>
                    <a:solidFill>
                      <a:schemeClr val="bg1"/>
                    </a:solidFill>
                  </a:tcPr>
                </a:tc>
                <a:tc>
                  <a:txBody>
                    <a:bodyPr/>
                    <a:lstStyle/>
                    <a:p>
                      <a:pPr marL="0" indent="0">
                        <a:buNone/>
                      </a:pPr>
                      <a:r>
                        <a:rPr lang="en-US" sz="1300" dirty="0">
                          <a:solidFill>
                            <a:schemeClr val="tx1"/>
                          </a:solidFill>
                          <a:latin typeface="+mj-lt"/>
                          <a:ea typeface="Calibri" pitchFamily="34" charset="-122"/>
                          <a:cs typeface="Calibri" pitchFamily="34" charset="-120"/>
                        </a:rPr>
                        <a:t>O(1), </a:t>
                      </a:r>
                      <a:r>
                        <a:rPr lang="en-DE" sz="1300" dirty="0">
                          <a:solidFill>
                            <a:schemeClr val="tx1"/>
                          </a:solidFill>
                          <a:latin typeface="+mj-lt"/>
                          <a:ea typeface="Calibri" pitchFamily="34" charset="-122"/>
                          <a:cs typeface="Calibri" pitchFamily="34" charset="-120"/>
                        </a:rPr>
                        <a:t>N</a:t>
                      </a:r>
                      <a:r>
                        <a:rPr lang="en-US" sz="1300" dirty="0" err="1">
                          <a:solidFill>
                            <a:schemeClr val="tx1"/>
                          </a:solidFill>
                          <a:latin typeface="+mj-lt"/>
                          <a:ea typeface="Calibri" pitchFamily="34" charset="-122"/>
                          <a:cs typeface="Calibri" pitchFamily="34" charset="-120"/>
                        </a:rPr>
                        <a:t>ewest</a:t>
                      </a:r>
                      <a:r>
                        <a:rPr lang="en-US" sz="1300" dirty="0">
                          <a:solidFill>
                            <a:schemeClr val="tx1"/>
                          </a:solidFill>
                          <a:latin typeface="+mj-lt"/>
                          <a:ea typeface="Calibri" pitchFamily="34" charset="-122"/>
                          <a:cs typeface="Calibri" pitchFamily="34" charset="-120"/>
                        </a:rPr>
                        <a:t> first</a:t>
                      </a:r>
                      <a:endParaRPr lang="en-US" sz="1300" dirty="0">
                        <a:latin typeface="+mj-lt"/>
                        <a:ea typeface="Calibri" charset="0"/>
                        <a:cs typeface="Calibri" charset="0"/>
                      </a:endParaRPr>
                    </a:p>
                  </a:txBody>
                  <a:tcPr marL="73152" marR="73152" marT="18288" marB="18288" anchor="ctr">
                    <a:lnL w="9525" cap="flat" cmpd="sng" algn="ctr">
                      <a:solidFill>
                        <a:srgbClr val="D5DAE0"/>
                      </a:solidFill>
                      <a:prstDash val="solid"/>
                      <a:round/>
                      <a:headEnd type="none" w="med" len="med"/>
                      <a:tailEnd type="none" w="med" len="med"/>
                    </a:lnL>
                    <a:lnR w="9525" cap="flat" cmpd="sng" algn="ctr">
                      <a:solidFill>
                        <a:srgbClr val="D5DAE0"/>
                      </a:solidFill>
                      <a:prstDash val="solid"/>
                      <a:round/>
                      <a:headEnd type="none" w="med" len="med"/>
                      <a:tailEnd type="none" w="med" len="med"/>
                    </a:lnR>
                    <a:lnT w="9525" cap="flat" cmpd="sng" algn="ctr">
                      <a:solidFill>
                        <a:srgbClr val="D5DAE0"/>
                      </a:solidFill>
                      <a:prstDash val="solid"/>
                      <a:round/>
                      <a:headEnd type="none" w="med" len="med"/>
                      <a:tailEnd type="none" w="med" len="med"/>
                    </a:lnT>
                    <a:lnB w="9525" cap="flat" cmpd="sng" algn="ctr">
                      <a:solidFill>
                        <a:srgbClr val="D5DAE0"/>
                      </a:solidFill>
                      <a:prstDash val="solid"/>
                      <a:round/>
                      <a:headEnd type="none" w="med" len="med"/>
                      <a:tailEnd type="none" w="med" len="med"/>
                    </a:lnB>
                    <a:solidFill>
                      <a:schemeClr val="bg1"/>
                    </a:solidFill>
                  </a:tcPr>
                </a:tc>
                <a:tc>
                  <a:txBody>
                    <a:bodyPr/>
                    <a:lstStyle/>
                    <a:p>
                      <a:pPr marL="0" indent="0">
                        <a:buNone/>
                      </a:pPr>
                      <a:r>
                        <a:rPr lang="en-US" sz="1300" b="1" dirty="0">
                          <a:solidFill>
                            <a:schemeClr val="accent1"/>
                          </a:solidFill>
                          <a:latin typeface="+mj-lt"/>
                          <a:ea typeface="Calibri" pitchFamily="34" charset="-122"/>
                          <a:cs typeface="Calibri" pitchFamily="34" charset="-120"/>
                        </a:rPr>
                        <a:t>Oldest food may expire</a:t>
                      </a:r>
                      <a:endParaRPr lang="en-US" sz="1300" dirty="0">
                        <a:latin typeface="+mj-lt"/>
                        <a:ea typeface="Calibri" charset="0"/>
                        <a:cs typeface="Calibri" charset="0"/>
                      </a:endParaRPr>
                    </a:p>
                  </a:txBody>
                  <a:tcPr marL="73152" marR="73152" marT="18288" marB="18288" anchor="ctr">
                    <a:lnL w="9525" cap="flat" cmpd="sng" algn="ctr">
                      <a:solidFill>
                        <a:srgbClr val="D5DAE0"/>
                      </a:solidFill>
                      <a:prstDash val="solid"/>
                      <a:round/>
                      <a:headEnd type="none" w="med" len="med"/>
                      <a:tailEnd type="none" w="med" len="med"/>
                    </a:lnL>
                    <a:lnR w="9525" cap="flat" cmpd="sng" algn="ctr">
                      <a:solidFill>
                        <a:srgbClr val="D5DAE0"/>
                      </a:solidFill>
                      <a:prstDash val="solid"/>
                      <a:round/>
                      <a:headEnd type="none" w="med" len="med"/>
                      <a:tailEnd type="none" w="med" len="med"/>
                    </a:lnR>
                    <a:lnT w="9525" cap="flat" cmpd="sng" algn="ctr">
                      <a:solidFill>
                        <a:srgbClr val="D5DAE0"/>
                      </a:solidFill>
                      <a:prstDash val="solid"/>
                      <a:round/>
                      <a:headEnd type="none" w="med" len="med"/>
                      <a:tailEnd type="none" w="med" len="med"/>
                    </a:lnT>
                    <a:lnB w="9525" cap="flat" cmpd="sng" algn="ctr">
                      <a:solidFill>
                        <a:srgbClr val="D5DAE0"/>
                      </a:solidFill>
                      <a:prstDash val="solid"/>
                      <a:round/>
                      <a:headEnd type="none" w="med" len="med"/>
                      <a:tailEnd type="none" w="med" len="med"/>
                    </a:lnB>
                    <a:solidFill>
                      <a:schemeClr val="bg1"/>
                    </a:solidFill>
                  </a:tcPr>
                </a:tc>
                <a:extLst>
                  <a:ext uri="{0D108BD9-81ED-4DB2-BD59-A6C34878D82A}">
                    <a16:rowId xmlns:a16="http://schemas.microsoft.com/office/drawing/2014/main" val="10002"/>
                  </a:ext>
                </a:extLst>
              </a:tr>
              <a:tr h="384048">
                <a:tc>
                  <a:txBody>
                    <a:bodyPr/>
                    <a:lstStyle/>
                    <a:p>
                      <a:pPr marL="0" indent="0">
                        <a:buNone/>
                      </a:pPr>
                      <a:r>
                        <a:rPr lang="en-US" sz="1300" dirty="0">
                          <a:solidFill>
                            <a:schemeClr val="tx1"/>
                          </a:solidFill>
                          <a:latin typeface="+mj-lt"/>
                          <a:ea typeface="Calibri" pitchFamily="34" charset="-122"/>
                          <a:cs typeface="Calibri" pitchFamily="34" charset="-120"/>
                        </a:rPr>
                        <a:t>Array with shifting</a:t>
                      </a:r>
                      <a:endParaRPr lang="en-US" sz="1300" dirty="0">
                        <a:latin typeface="+mj-lt"/>
                        <a:ea typeface="Calibri" charset="0"/>
                        <a:cs typeface="Calibri" charset="0"/>
                      </a:endParaRPr>
                    </a:p>
                  </a:txBody>
                  <a:tcPr marL="73152" marR="73152" marT="18288" marB="18288" anchor="ctr">
                    <a:lnL w="9525" cap="flat" cmpd="sng" algn="ctr">
                      <a:solidFill>
                        <a:srgbClr val="D5DAE0"/>
                      </a:solidFill>
                      <a:prstDash val="solid"/>
                      <a:round/>
                      <a:headEnd type="none" w="med" len="med"/>
                      <a:tailEnd type="none" w="med" len="med"/>
                    </a:lnL>
                    <a:lnR w="9525" cap="flat" cmpd="sng" algn="ctr">
                      <a:solidFill>
                        <a:srgbClr val="D5DAE0"/>
                      </a:solidFill>
                      <a:prstDash val="solid"/>
                      <a:round/>
                      <a:headEnd type="none" w="med" len="med"/>
                      <a:tailEnd type="none" w="med" len="med"/>
                    </a:lnR>
                    <a:lnT w="9525" cap="flat" cmpd="sng" algn="ctr">
                      <a:solidFill>
                        <a:srgbClr val="D5DAE0"/>
                      </a:solidFill>
                      <a:prstDash val="solid"/>
                      <a:round/>
                      <a:headEnd type="none" w="med" len="med"/>
                      <a:tailEnd type="none" w="med" len="med"/>
                    </a:lnT>
                    <a:lnB w="9525" cap="flat" cmpd="sng" algn="ctr">
                      <a:solidFill>
                        <a:srgbClr val="D5DAE0"/>
                      </a:solidFill>
                      <a:prstDash val="solid"/>
                      <a:round/>
                      <a:headEnd type="none" w="med" len="med"/>
                      <a:tailEnd type="none" w="med" len="med"/>
                    </a:lnB>
                    <a:solidFill>
                      <a:schemeClr val="bg1"/>
                    </a:solidFill>
                  </a:tcPr>
                </a:tc>
                <a:tc>
                  <a:txBody>
                    <a:bodyPr/>
                    <a:lstStyle/>
                    <a:p>
                      <a:pPr marL="0" indent="0">
                        <a:buNone/>
                      </a:pPr>
                      <a:r>
                        <a:rPr lang="en-US" sz="1300" b="1" dirty="0">
                          <a:solidFill>
                            <a:schemeClr val="accent1"/>
                          </a:solidFill>
                          <a:latin typeface="+mj-lt"/>
                          <a:ea typeface="Calibri" pitchFamily="34" charset="-122"/>
                          <a:cs typeface="Calibri" pitchFamily="34" charset="-120"/>
                        </a:rPr>
                        <a:t>O(n), </a:t>
                      </a:r>
                      <a:r>
                        <a:rPr lang="en-DE" sz="1300" b="1" dirty="0">
                          <a:solidFill>
                            <a:schemeClr val="accent1"/>
                          </a:solidFill>
                          <a:latin typeface="+mj-lt"/>
                          <a:ea typeface="Calibri" pitchFamily="34" charset="-122"/>
                          <a:cs typeface="Calibri" pitchFamily="34" charset="-120"/>
                        </a:rPr>
                        <a:t>S</a:t>
                      </a:r>
                      <a:r>
                        <a:rPr lang="en-US" sz="1300" b="1" dirty="0" err="1">
                          <a:solidFill>
                            <a:schemeClr val="accent1"/>
                          </a:solidFill>
                          <a:latin typeface="+mj-lt"/>
                          <a:ea typeface="Calibri" pitchFamily="34" charset="-122"/>
                          <a:cs typeface="Calibri" pitchFamily="34" charset="-120"/>
                        </a:rPr>
                        <a:t>hift</a:t>
                      </a:r>
                      <a:r>
                        <a:rPr lang="en-US" sz="1300" b="1" dirty="0">
                          <a:solidFill>
                            <a:schemeClr val="accent1"/>
                          </a:solidFill>
                          <a:latin typeface="+mj-lt"/>
                          <a:ea typeface="Calibri" pitchFamily="34" charset="-122"/>
                          <a:cs typeface="Calibri" pitchFamily="34" charset="-120"/>
                        </a:rPr>
                        <a:t> items</a:t>
                      </a:r>
                      <a:endParaRPr lang="en-US" sz="1300" dirty="0">
                        <a:latin typeface="+mj-lt"/>
                        <a:ea typeface="Calibri" charset="0"/>
                        <a:cs typeface="Calibri" charset="0"/>
                      </a:endParaRPr>
                    </a:p>
                  </a:txBody>
                  <a:tcPr marL="73152" marR="73152" marT="18288" marB="18288" anchor="ctr">
                    <a:lnL w="9525" cap="flat" cmpd="sng" algn="ctr">
                      <a:solidFill>
                        <a:srgbClr val="D5DAE0"/>
                      </a:solidFill>
                      <a:prstDash val="solid"/>
                      <a:round/>
                      <a:headEnd type="none" w="med" len="med"/>
                      <a:tailEnd type="none" w="med" len="med"/>
                    </a:lnL>
                    <a:lnR w="9525" cap="flat" cmpd="sng" algn="ctr">
                      <a:solidFill>
                        <a:srgbClr val="D5DAE0"/>
                      </a:solidFill>
                      <a:prstDash val="solid"/>
                      <a:round/>
                      <a:headEnd type="none" w="med" len="med"/>
                      <a:tailEnd type="none" w="med" len="med"/>
                    </a:lnR>
                    <a:lnT w="9525" cap="flat" cmpd="sng" algn="ctr">
                      <a:solidFill>
                        <a:srgbClr val="D5DAE0"/>
                      </a:solidFill>
                      <a:prstDash val="solid"/>
                      <a:round/>
                      <a:headEnd type="none" w="med" len="med"/>
                      <a:tailEnd type="none" w="med" len="med"/>
                    </a:lnT>
                    <a:lnB w="9525" cap="flat" cmpd="sng" algn="ctr">
                      <a:solidFill>
                        <a:srgbClr val="D5DAE0"/>
                      </a:solidFill>
                      <a:prstDash val="solid"/>
                      <a:round/>
                      <a:headEnd type="none" w="med" len="med"/>
                      <a:tailEnd type="none" w="med" len="med"/>
                    </a:lnB>
                    <a:solidFill>
                      <a:schemeClr val="bg1"/>
                    </a:solidFill>
                  </a:tcPr>
                </a:tc>
                <a:tc>
                  <a:txBody>
                    <a:bodyPr/>
                    <a:lstStyle/>
                    <a:p>
                      <a:pPr marL="0" indent="0">
                        <a:buNone/>
                      </a:pPr>
                      <a:r>
                        <a:rPr lang="en-US" sz="1300" b="1" dirty="0">
                          <a:solidFill>
                            <a:schemeClr val="accent1"/>
                          </a:solidFill>
                          <a:latin typeface="+mj-lt"/>
                          <a:ea typeface="Calibri" pitchFamily="34" charset="-122"/>
                          <a:cs typeface="Calibri" pitchFamily="34" charset="-120"/>
                        </a:rPr>
                        <a:t>Slow remove</a:t>
                      </a:r>
                      <a:endParaRPr lang="en-US" sz="1300" dirty="0">
                        <a:latin typeface="+mj-lt"/>
                        <a:ea typeface="Calibri" charset="0"/>
                        <a:cs typeface="Calibri" charset="0"/>
                      </a:endParaRPr>
                    </a:p>
                  </a:txBody>
                  <a:tcPr marL="73152" marR="73152" marT="18288" marB="18288" anchor="ctr">
                    <a:lnL w="9525" cap="flat" cmpd="sng" algn="ctr">
                      <a:solidFill>
                        <a:srgbClr val="D5DAE0"/>
                      </a:solidFill>
                      <a:prstDash val="solid"/>
                      <a:round/>
                      <a:headEnd type="none" w="med" len="med"/>
                      <a:tailEnd type="none" w="med" len="med"/>
                    </a:lnL>
                    <a:lnR w="9525" cap="flat" cmpd="sng" algn="ctr">
                      <a:solidFill>
                        <a:srgbClr val="D5DAE0"/>
                      </a:solidFill>
                      <a:prstDash val="solid"/>
                      <a:round/>
                      <a:headEnd type="none" w="med" len="med"/>
                      <a:tailEnd type="none" w="med" len="med"/>
                    </a:lnR>
                    <a:lnT w="9525" cap="flat" cmpd="sng" algn="ctr">
                      <a:solidFill>
                        <a:srgbClr val="D5DAE0"/>
                      </a:solidFill>
                      <a:prstDash val="solid"/>
                      <a:round/>
                      <a:headEnd type="none" w="med" len="med"/>
                      <a:tailEnd type="none" w="med" len="med"/>
                    </a:lnT>
                    <a:lnB w="9525" cap="flat" cmpd="sng" algn="ctr">
                      <a:solidFill>
                        <a:srgbClr val="D5DAE0"/>
                      </a:solidFill>
                      <a:prstDash val="solid"/>
                      <a:round/>
                      <a:headEnd type="none" w="med" len="med"/>
                      <a:tailEnd type="none" w="med" len="med"/>
                    </a:lnB>
                    <a:solidFill>
                      <a:schemeClr val="bg1"/>
                    </a:solidFill>
                  </a:tcPr>
                </a:tc>
                <a:extLst>
                  <a:ext uri="{0D108BD9-81ED-4DB2-BD59-A6C34878D82A}">
                    <a16:rowId xmlns:a16="http://schemas.microsoft.com/office/drawing/2014/main" val="10003"/>
                  </a:ext>
                </a:extLst>
              </a:tr>
            </a:tbl>
          </a:graphicData>
        </a:graphic>
      </p:graphicFrame>
      <p:sp>
        <p:nvSpPr>
          <p:cNvPr id="32" name="AdvLim card"/>
          <p:cNvSpPr/>
          <p:nvPr/>
        </p:nvSpPr>
        <p:spPr>
          <a:xfrm>
            <a:off x="411480" y="11510916"/>
            <a:ext cx="6720840" cy="3137771"/>
          </a:xfrm>
          <a:prstGeom prst="roundRect">
            <a:avLst>
              <a:gd name="adj" fmla="val 4094"/>
            </a:avLst>
          </a:prstGeom>
          <a:solidFill>
            <a:srgbClr val="FFF3DE"/>
          </a:solidFill>
          <a:ln/>
        </p:spPr>
      </p:sp>
      <p:sp>
        <p:nvSpPr>
          <p:cNvPr id="33" name="AdvLim badge"/>
          <p:cNvSpPr/>
          <p:nvPr/>
        </p:nvSpPr>
        <p:spPr>
          <a:xfrm>
            <a:off x="560568" y="11733544"/>
            <a:ext cx="402336" cy="402336"/>
          </a:xfrm>
          <a:prstGeom prst="ellipse">
            <a:avLst/>
          </a:prstGeom>
          <a:solidFill>
            <a:schemeClr val="accent1"/>
          </a:solidFill>
          <a:ln/>
        </p:spPr>
      </p:sp>
      <p:sp>
        <p:nvSpPr>
          <p:cNvPr id="34" name="AdvLim number"/>
          <p:cNvSpPr txBox="1"/>
          <p:nvPr/>
        </p:nvSpPr>
        <p:spPr>
          <a:xfrm>
            <a:off x="560568" y="11733546"/>
            <a:ext cx="402336" cy="402336"/>
          </a:xfrm>
          <a:prstGeom prst="rect">
            <a:avLst/>
          </a:prstGeom>
          <a:noFill/>
          <a:ln/>
        </p:spPr>
        <p:txBody>
          <a:bodyPr wrap="square" lIns="0" tIns="0" rIns="0" bIns="0" rtlCol="0" anchor="ctr"/>
          <a:lstStyle/>
          <a:p>
            <a:pPr marL="0" indent="0" algn="ctr">
              <a:buNone/>
            </a:pPr>
            <a:r>
              <a:rPr lang="en-US" sz="1600" b="1" dirty="0">
                <a:solidFill>
                  <a:schemeClr val="bg1"/>
                </a:solidFill>
              </a:rPr>
              <a:t>3</a:t>
            </a:r>
            <a:endParaRPr lang="en-US" sz="1600" dirty="0"/>
          </a:p>
        </p:txBody>
      </p:sp>
      <p:sp>
        <p:nvSpPr>
          <p:cNvPr id="35" name="AdvLim heading"/>
          <p:cNvSpPr txBox="1"/>
          <p:nvPr/>
        </p:nvSpPr>
        <p:spPr>
          <a:xfrm>
            <a:off x="1109208" y="11744499"/>
            <a:ext cx="5660136" cy="438912"/>
          </a:xfrm>
          <a:prstGeom prst="rect">
            <a:avLst/>
          </a:prstGeom>
          <a:noFill/>
          <a:ln/>
        </p:spPr>
        <p:txBody>
          <a:bodyPr wrap="square" lIns="0" tIns="0" rIns="0" bIns="0" rtlCol="0" anchor="ctr"/>
          <a:lstStyle/>
          <a:p>
            <a:pPr marL="0" indent="0">
              <a:buNone/>
            </a:pPr>
            <a:r>
              <a:rPr lang="en-US" sz="2300" b="1" dirty="0">
                <a:solidFill>
                  <a:schemeClr val="tx2"/>
                </a:solidFill>
                <a:latin typeface="Franklin Gothic Medium" panose="020B0603020102020204" pitchFamily="34" charset="0"/>
                <a:ea typeface="Cambria" pitchFamily="34" charset="-122"/>
                <a:cs typeface="Lucida Sans Unicode" panose="020B0602030504020204" pitchFamily="34" charset="0"/>
              </a:rPr>
              <a:t>Advantages and Limitations</a:t>
            </a:r>
            <a:endParaRPr lang="en-US" sz="2300" dirty="0">
              <a:latin typeface="Franklin Gothic Medium" panose="020B0603020102020204" pitchFamily="34" charset="0"/>
              <a:cs typeface="Lucida Sans Unicode" panose="020B0602030504020204" pitchFamily="34" charset="0"/>
            </a:endParaRPr>
          </a:p>
        </p:txBody>
      </p:sp>
      <p:sp>
        <p:nvSpPr>
          <p:cNvPr id="36" name="Advantages subheading"/>
          <p:cNvSpPr txBox="1"/>
          <p:nvPr/>
        </p:nvSpPr>
        <p:spPr>
          <a:xfrm>
            <a:off x="667512" y="12440879"/>
            <a:ext cx="3060801" cy="274320"/>
          </a:xfrm>
          <a:prstGeom prst="rect">
            <a:avLst/>
          </a:prstGeom>
          <a:noFill/>
          <a:ln/>
        </p:spPr>
        <p:txBody>
          <a:bodyPr wrap="square" lIns="0" tIns="0" rIns="0" bIns="0" rtlCol="0" anchor="ctr"/>
          <a:lstStyle/>
          <a:p>
            <a:pPr marL="0" indent="0">
              <a:buNone/>
            </a:pPr>
            <a:r>
              <a:rPr lang="en-US" sz="1450" b="1" dirty="0">
                <a:solidFill>
                  <a:schemeClr val="accent3"/>
                </a:solidFill>
              </a:rPr>
              <a:t>Advantages</a:t>
            </a:r>
            <a:endParaRPr lang="en-US" sz="1450" dirty="0"/>
          </a:p>
        </p:txBody>
      </p:sp>
      <p:sp>
        <p:nvSpPr>
          <p:cNvPr id="37" name="Limitations subheading"/>
          <p:cNvSpPr txBox="1"/>
          <p:nvPr/>
        </p:nvSpPr>
        <p:spPr>
          <a:xfrm>
            <a:off x="3789184" y="12440879"/>
            <a:ext cx="2967228" cy="274320"/>
          </a:xfrm>
          <a:prstGeom prst="rect">
            <a:avLst/>
          </a:prstGeom>
          <a:noFill/>
          <a:ln/>
        </p:spPr>
        <p:txBody>
          <a:bodyPr wrap="square" lIns="0" tIns="0" rIns="0" bIns="0" rtlCol="0" anchor="ctr"/>
          <a:lstStyle/>
          <a:p>
            <a:pPr marL="0" indent="0">
              <a:buNone/>
            </a:pPr>
            <a:r>
              <a:rPr lang="en-US" sz="1450" b="1" dirty="0">
                <a:solidFill>
                  <a:schemeClr val="accent1"/>
                </a:solidFill>
              </a:rPr>
              <a:t>Limitations</a:t>
            </a:r>
            <a:endParaRPr lang="en-US" sz="1450" dirty="0"/>
          </a:p>
        </p:txBody>
      </p:sp>
      <p:sp>
        <p:nvSpPr>
          <p:cNvPr id="45" name="Limitations list item 1"/>
          <p:cNvSpPr txBox="1"/>
          <p:nvPr/>
        </p:nvSpPr>
        <p:spPr>
          <a:xfrm>
            <a:off x="697361" y="12767406"/>
            <a:ext cx="3080126" cy="1699721"/>
          </a:xfrm>
          <a:prstGeom prst="rect">
            <a:avLst/>
          </a:prstGeom>
          <a:noFill/>
          <a:ln/>
        </p:spPr>
        <p:txBody>
          <a:bodyPr wrap="square" lIns="0" tIns="0" rIns="0" bIns="0" rtlCol="0" anchor="t"/>
          <a:lstStyle/>
          <a:p>
            <a:pPr marL="285750" indent="-285750">
              <a:buClr>
                <a:srgbClr val="00CC66"/>
              </a:buClr>
              <a:buFont typeface="Wingdings" panose="05000000000000000000" pitchFamily="2" charset="2"/>
              <a:buChar char="§"/>
            </a:pPr>
            <a:r>
              <a:rPr lang="en-GB" sz="1400" dirty="0">
                <a:solidFill>
                  <a:schemeClr val="tx1"/>
                </a:solidFill>
              </a:rPr>
              <a:t>O(1) add, remove and peek</a:t>
            </a:r>
            <a:endParaRPr lang="en-DE" sz="1400" dirty="0">
              <a:solidFill>
                <a:schemeClr val="tx1"/>
              </a:solidFill>
            </a:endParaRPr>
          </a:p>
          <a:p>
            <a:pPr marL="285750" indent="-285750">
              <a:buClr>
                <a:srgbClr val="00CC66"/>
              </a:buClr>
              <a:buFont typeface="Wingdings" panose="05000000000000000000" pitchFamily="2" charset="2"/>
              <a:buChar char="§"/>
            </a:pPr>
            <a:r>
              <a:rPr lang="en-GB" sz="1400" dirty="0"/>
              <a:t>Oldest food is always removed first</a:t>
            </a:r>
            <a:endParaRPr lang="en-DE" sz="1400" dirty="0"/>
          </a:p>
          <a:p>
            <a:pPr marL="285750" indent="-285750">
              <a:buClr>
                <a:srgbClr val="00CC66"/>
              </a:buClr>
              <a:buFont typeface="Wingdings" panose="05000000000000000000" pitchFamily="2" charset="2"/>
              <a:buChar char="§"/>
            </a:pPr>
            <a:r>
              <a:rPr lang="en-GB" sz="1400" dirty="0"/>
              <a:t>Reuses empty spaces without shifting items</a:t>
            </a:r>
            <a:endParaRPr lang="en-DE" sz="1400" dirty="0"/>
          </a:p>
          <a:p>
            <a:pPr marL="285750" indent="-285750">
              <a:buClr>
                <a:srgbClr val="00CC66"/>
              </a:buClr>
              <a:buFont typeface="Wingdings" panose="05000000000000000000" pitchFamily="2" charset="2"/>
              <a:buChar char="§"/>
            </a:pPr>
            <a:r>
              <a:rPr lang="en-GB" sz="1400" dirty="0"/>
              <a:t>Simple to implement and maintain</a:t>
            </a:r>
            <a:endParaRPr lang="en-DE" sz="1400" dirty="0"/>
          </a:p>
          <a:p>
            <a:pPr marL="285750" indent="-285750">
              <a:buClr>
                <a:srgbClr val="00CC66"/>
              </a:buClr>
              <a:buFont typeface="Wingdings" panose="05000000000000000000" pitchFamily="2" charset="2"/>
              <a:buChar char="§"/>
            </a:pPr>
            <a:r>
              <a:rPr lang="en-GB" sz="1400" dirty="0"/>
              <a:t>Handles full and empty storage safely</a:t>
            </a:r>
            <a:endParaRPr lang="en-US" sz="1400" dirty="0"/>
          </a:p>
        </p:txBody>
      </p:sp>
      <p:sp>
        <p:nvSpPr>
          <p:cNvPr id="50" name="How card"/>
          <p:cNvSpPr/>
          <p:nvPr/>
        </p:nvSpPr>
        <p:spPr>
          <a:xfrm>
            <a:off x="7406640" y="2651760"/>
            <a:ext cx="6903720" cy="6629400"/>
          </a:xfrm>
          <a:prstGeom prst="roundRect">
            <a:avLst>
              <a:gd name="adj" fmla="val 2333"/>
            </a:avLst>
          </a:prstGeom>
          <a:solidFill>
            <a:srgbClr val="FFF3DE"/>
          </a:solidFill>
          <a:ln/>
        </p:spPr>
      </p:sp>
      <p:sp>
        <p:nvSpPr>
          <p:cNvPr id="51" name="How badge"/>
          <p:cNvSpPr/>
          <p:nvPr/>
        </p:nvSpPr>
        <p:spPr>
          <a:xfrm>
            <a:off x="7647384" y="2831592"/>
            <a:ext cx="402336" cy="402336"/>
          </a:xfrm>
          <a:prstGeom prst="ellipse">
            <a:avLst/>
          </a:prstGeom>
          <a:solidFill>
            <a:schemeClr val="accent1"/>
          </a:solidFill>
          <a:ln/>
        </p:spPr>
      </p:sp>
      <p:sp>
        <p:nvSpPr>
          <p:cNvPr id="52" name="How number"/>
          <p:cNvSpPr txBox="1"/>
          <p:nvPr/>
        </p:nvSpPr>
        <p:spPr>
          <a:xfrm>
            <a:off x="7647384" y="2831592"/>
            <a:ext cx="402336" cy="402336"/>
          </a:xfrm>
          <a:prstGeom prst="rect">
            <a:avLst/>
          </a:prstGeom>
          <a:noFill/>
          <a:ln/>
        </p:spPr>
        <p:txBody>
          <a:bodyPr wrap="square" lIns="0" tIns="0" rIns="0" bIns="0" rtlCol="0" anchor="ctr"/>
          <a:lstStyle/>
          <a:p>
            <a:pPr marL="0" indent="0" algn="ctr">
              <a:buNone/>
            </a:pPr>
            <a:r>
              <a:rPr lang="en-US" sz="1600" b="1" dirty="0">
                <a:solidFill>
                  <a:schemeClr val="bg1"/>
                </a:solidFill>
              </a:rPr>
              <a:t>4</a:t>
            </a:r>
            <a:endParaRPr lang="en-US" sz="1600" dirty="0"/>
          </a:p>
        </p:txBody>
      </p:sp>
      <p:sp>
        <p:nvSpPr>
          <p:cNvPr id="53" name="How heading"/>
          <p:cNvSpPr txBox="1"/>
          <p:nvPr/>
        </p:nvSpPr>
        <p:spPr>
          <a:xfrm>
            <a:off x="8196024" y="2813304"/>
            <a:ext cx="5843016" cy="438912"/>
          </a:xfrm>
          <a:prstGeom prst="rect">
            <a:avLst/>
          </a:prstGeom>
          <a:noFill/>
          <a:ln/>
        </p:spPr>
        <p:txBody>
          <a:bodyPr wrap="square" lIns="0" tIns="0" rIns="0" bIns="0" rtlCol="0" anchor="ctr"/>
          <a:lstStyle/>
          <a:p>
            <a:pPr marL="0" indent="0">
              <a:buNone/>
            </a:pPr>
            <a:r>
              <a:rPr lang="en-US" sz="2300" b="1" dirty="0">
                <a:solidFill>
                  <a:schemeClr val="tx2"/>
                </a:solidFill>
                <a:latin typeface="Franklin Gothic Medium" panose="020B0603020102020204" pitchFamily="34" charset="0"/>
                <a:ea typeface="Cambria" pitchFamily="34" charset="-122"/>
                <a:cs typeface="Lucida Sans Unicode" panose="020B0602030504020204" pitchFamily="34" charset="0"/>
              </a:rPr>
              <a:t>How the Circular Queue Works</a:t>
            </a:r>
            <a:endParaRPr lang="en-US" sz="2300" dirty="0">
              <a:latin typeface="Franklin Gothic Medium" panose="020B0603020102020204" pitchFamily="34" charset="0"/>
              <a:cs typeface="Lucida Sans Unicode" panose="020B0602030504020204" pitchFamily="34" charset="0"/>
            </a:endParaRPr>
          </a:p>
        </p:txBody>
      </p:sp>
      <p:sp>
        <p:nvSpPr>
          <p:cNvPr id="54" name="How intro"/>
          <p:cNvSpPr txBox="1"/>
          <p:nvPr/>
        </p:nvSpPr>
        <p:spPr>
          <a:xfrm>
            <a:off x="7647384" y="3402438"/>
            <a:ext cx="6391656" cy="3939431"/>
          </a:xfrm>
          <a:prstGeom prst="rect">
            <a:avLst/>
          </a:prstGeom>
          <a:noFill/>
          <a:ln/>
        </p:spPr>
        <p:txBody>
          <a:bodyPr wrap="square" lIns="0" tIns="0" rIns="0" bIns="0" rtlCol="0" anchor="t"/>
          <a:lstStyle/>
          <a:p>
            <a:pPr algn="just"/>
            <a:r>
              <a:rPr lang="en-GB" sz="1500" dirty="0"/>
              <a:t>We implemented our own circular queue using an array with 8 slots for </a:t>
            </a:r>
            <a:r>
              <a:rPr lang="en-GB" sz="1500" dirty="0" err="1"/>
              <a:t>FoodItem</a:t>
            </a:r>
            <a:r>
              <a:rPr lang="en-GB" sz="1500" dirty="0"/>
              <a:t> objects. </a:t>
            </a:r>
            <a:r>
              <a:rPr lang="en-US" sz="1500" dirty="0"/>
              <a:t>The system uses two variables: front (item to be removed first) and count (the number of items).</a:t>
            </a:r>
            <a:endParaRPr lang="en-GB" sz="1500" dirty="0"/>
          </a:p>
          <a:p>
            <a:pPr marL="0" indent="0">
              <a:buNone/>
            </a:pPr>
            <a:endParaRPr lang="en-GB" sz="1500" dirty="0">
              <a:solidFill>
                <a:schemeClr val="tx1"/>
              </a:solidFill>
            </a:endParaRPr>
          </a:p>
          <a:p>
            <a:pPr marL="285750" indent="-285750">
              <a:buClr>
                <a:schemeClr val="accent1"/>
              </a:buClr>
              <a:buFont typeface="Wingdings" pitchFamily="2" charset="2"/>
              <a:buChar char="§"/>
            </a:pPr>
            <a:r>
              <a:rPr lang="en-GB" sz="1500" b="1" dirty="0">
                <a:solidFill>
                  <a:schemeClr val="tx1"/>
                </a:solidFill>
              </a:rPr>
              <a:t>Enqueue:</a:t>
            </a:r>
            <a:r>
              <a:rPr lang="en-GB" sz="1500" dirty="0">
                <a:solidFill>
                  <a:schemeClr val="tx1"/>
                </a:solidFill>
              </a:rPr>
              <a:t> If not full, add the item at</a:t>
            </a:r>
            <a:r>
              <a:rPr lang="en-DE" sz="1500" dirty="0">
                <a:solidFill>
                  <a:schemeClr val="tx1"/>
                </a:solidFill>
              </a:rPr>
              <a:t> </a:t>
            </a:r>
            <a:r>
              <a:rPr lang="en-GB" sz="1500" dirty="0">
                <a:solidFill>
                  <a:schemeClr val="bg1">
                    <a:lumMod val="85000"/>
                  </a:schemeClr>
                </a:solidFill>
                <a:highlight>
                  <a:srgbClr val="2B2D42"/>
                </a:highlight>
              </a:rPr>
              <a:t> </a:t>
            </a:r>
            <a:r>
              <a:rPr lang="en-GB" sz="1400" dirty="0">
                <a:solidFill>
                  <a:schemeClr val="bg1">
                    <a:lumMod val="85000"/>
                  </a:schemeClr>
                </a:solidFill>
                <a:highlight>
                  <a:srgbClr val="2B2D42"/>
                </a:highlight>
                <a:latin typeface="Cascadia Mono SemiLight" panose="020B0609020000020004" pitchFamily="49" charset="0"/>
                <a:cs typeface="Cascadia Mono SemiLight" panose="020B0609020000020004" pitchFamily="49" charset="0"/>
              </a:rPr>
              <a:t>rear</a:t>
            </a:r>
            <a:r>
              <a:rPr lang="en-DE" sz="600" dirty="0">
                <a:solidFill>
                  <a:schemeClr val="bg1">
                    <a:lumMod val="85000"/>
                  </a:schemeClr>
                </a:solidFill>
                <a:highlight>
                  <a:srgbClr val="2B2D42"/>
                </a:highlight>
                <a:latin typeface="Cascadia Mono SemiLight" panose="020B0609020000020004" pitchFamily="49" charset="0"/>
                <a:cs typeface="Cascadia Mono SemiLight" panose="020B0609020000020004" pitchFamily="49" charset="0"/>
              </a:rPr>
              <a:t> </a:t>
            </a:r>
            <a:r>
              <a:rPr lang="en-GB" sz="1400" dirty="0">
                <a:solidFill>
                  <a:schemeClr val="bg1">
                    <a:lumMod val="85000"/>
                  </a:schemeClr>
                </a:solidFill>
                <a:highlight>
                  <a:srgbClr val="2B2D42"/>
                </a:highlight>
                <a:latin typeface="Cascadia Mono SemiLight" panose="020B0609020000020004" pitchFamily="49" charset="0"/>
                <a:cs typeface="Cascadia Mono SemiLight" panose="020B0609020000020004" pitchFamily="49" charset="0"/>
              </a:rPr>
              <a:t>=</a:t>
            </a:r>
            <a:r>
              <a:rPr lang="en-DE" sz="600" dirty="0">
                <a:solidFill>
                  <a:schemeClr val="bg1">
                    <a:lumMod val="85000"/>
                  </a:schemeClr>
                </a:solidFill>
                <a:highlight>
                  <a:srgbClr val="2B2D42"/>
                </a:highlight>
                <a:latin typeface="Cascadia Mono SemiLight" panose="020B0609020000020004" pitchFamily="49" charset="0"/>
                <a:cs typeface="Cascadia Mono SemiLight" panose="020B0609020000020004" pitchFamily="49" charset="0"/>
              </a:rPr>
              <a:t> </a:t>
            </a:r>
            <a:r>
              <a:rPr lang="en-GB" sz="1400" dirty="0">
                <a:solidFill>
                  <a:schemeClr val="bg1">
                    <a:lumMod val="85000"/>
                  </a:schemeClr>
                </a:solidFill>
                <a:highlight>
                  <a:srgbClr val="2B2D42"/>
                </a:highlight>
                <a:latin typeface="Cascadia Mono SemiLight" panose="020B0609020000020004" pitchFamily="49" charset="0"/>
                <a:cs typeface="Cascadia Mono SemiLight" panose="020B0609020000020004" pitchFamily="49" charset="0"/>
              </a:rPr>
              <a:t>(front</a:t>
            </a:r>
            <a:r>
              <a:rPr lang="en-GB" sz="600" dirty="0">
                <a:solidFill>
                  <a:schemeClr val="bg1">
                    <a:lumMod val="85000"/>
                  </a:schemeClr>
                </a:solidFill>
                <a:highlight>
                  <a:srgbClr val="2B2D42"/>
                </a:highlight>
                <a:latin typeface="Cascadia Mono SemiLight" panose="020B0609020000020004" pitchFamily="49" charset="0"/>
                <a:cs typeface="Cascadia Mono SemiLight" panose="020B0609020000020004" pitchFamily="49" charset="0"/>
              </a:rPr>
              <a:t> </a:t>
            </a:r>
            <a:r>
              <a:rPr lang="en-GB" sz="1400" dirty="0">
                <a:solidFill>
                  <a:schemeClr val="bg1">
                    <a:lumMod val="85000"/>
                  </a:schemeClr>
                </a:solidFill>
                <a:highlight>
                  <a:srgbClr val="2B2D42"/>
                </a:highlight>
                <a:latin typeface="Cascadia Mono SemiLight" panose="020B0609020000020004" pitchFamily="49" charset="0"/>
                <a:cs typeface="Cascadia Mono SemiLight" panose="020B0609020000020004" pitchFamily="49" charset="0"/>
              </a:rPr>
              <a:t>+</a:t>
            </a:r>
            <a:r>
              <a:rPr lang="en-GB" sz="600" dirty="0">
                <a:solidFill>
                  <a:schemeClr val="bg1">
                    <a:lumMod val="85000"/>
                  </a:schemeClr>
                </a:solidFill>
                <a:highlight>
                  <a:srgbClr val="2B2D42"/>
                </a:highlight>
                <a:latin typeface="Cascadia Mono SemiLight" panose="020B0609020000020004" pitchFamily="49" charset="0"/>
                <a:cs typeface="Cascadia Mono SemiLight" panose="020B0609020000020004" pitchFamily="49" charset="0"/>
              </a:rPr>
              <a:t> </a:t>
            </a:r>
            <a:r>
              <a:rPr lang="en-GB" sz="1400" dirty="0">
                <a:solidFill>
                  <a:schemeClr val="bg1">
                    <a:lumMod val="85000"/>
                  </a:schemeClr>
                </a:solidFill>
                <a:highlight>
                  <a:srgbClr val="2B2D42"/>
                </a:highlight>
                <a:latin typeface="Cascadia Mono SemiLight" panose="020B0609020000020004" pitchFamily="49" charset="0"/>
                <a:cs typeface="Cascadia Mono SemiLight" panose="020B0609020000020004" pitchFamily="49" charset="0"/>
              </a:rPr>
              <a:t>count)</a:t>
            </a:r>
            <a:r>
              <a:rPr lang="en-DE" sz="600" dirty="0">
                <a:solidFill>
                  <a:schemeClr val="bg1">
                    <a:lumMod val="85000"/>
                  </a:schemeClr>
                </a:solidFill>
                <a:highlight>
                  <a:srgbClr val="2B2D42"/>
                </a:highlight>
                <a:latin typeface="Cascadia Mono SemiLight" panose="020B0609020000020004" pitchFamily="49" charset="0"/>
                <a:cs typeface="Cascadia Mono SemiLight" panose="020B0609020000020004" pitchFamily="49" charset="0"/>
              </a:rPr>
              <a:t> </a:t>
            </a:r>
            <a:r>
              <a:rPr lang="en-GB" sz="1400" dirty="0">
                <a:solidFill>
                  <a:schemeClr val="bg1">
                    <a:lumMod val="85000"/>
                  </a:schemeClr>
                </a:solidFill>
                <a:highlight>
                  <a:srgbClr val="2B2D42"/>
                </a:highlight>
                <a:latin typeface="Cascadia Mono SemiLight" panose="020B0609020000020004" pitchFamily="49" charset="0"/>
                <a:cs typeface="Cascadia Mono SemiLight" panose="020B0609020000020004" pitchFamily="49" charset="0"/>
              </a:rPr>
              <a:t>%</a:t>
            </a:r>
            <a:r>
              <a:rPr lang="en-DE" sz="600" dirty="0">
                <a:solidFill>
                  <a:schemeClr val="bg1">
                    <a:lumMod val="85000"/>
                  </a:schemeClr>
                </a:solidFill>
                <a:highlight>
                  <a:srgbClr val="2B2D42"/>
                </a:highlight>
                <a:latin typeface="Cascadia Mono SemiLight" panose="020B0609020000020004" pitchFamily="49" charset="0"/>
                <a:cs typeface="Cascadia Mono SemiLight" panose="020B0609020000020004" pitchFamily="49" charset="0"/>
              </a:rPr>
              <a:t> </a:t>
            </a:r>
            <a:r>
              <a:rPr lang="en-GB" sz="1400" dirty="0">
                <a:solidFill>
                  <a:schemeClr val="bg1">
                    <a:lumMod val="85000"/>
                  </a:schemeClr>
                </a:solidFill>
                <a:highlight>
                  <a:srgbClr val="2B2D42"/>
                </a:highlight>
                <a:latin typeface="Cascadia Mono SemiLight" panose="020B0609020000020004" pitchFamily="49" charset="0"/>
                <a:cs typeface="Cascadia Mono SemiLight" panose="020B0609020000020004" pitchFamily="49" charset="0"/>
              </a:rPr>
              <a:t>8</a:t>
            </a:r>
            <a:r>
              <a:rPr lang="en-DE" sz="900" dirty="0">
                <a:solidFill>
                  <a:schemeClr val="bg1">
                    <a:lumMod val="85000"/>
                  </a:schemeClr>
                </a:solidFill>
                <a:highlight>
                  <a:srgbClr val="2B2D42"/>
                </a:highlight>
                <a:latin typeface="Cascadia Mono SemiLight" panose="020B0609020000020004" pitchFamily="49" charset="0"/>
                <a:cs typeface="Cascadia Mono SemiLight" panose="020B0609020000020004" pitchFamily="49" charset="0"/>
              </a:rPr>
              <a:t> </a:t>
            </a:r>
            <a:r>
              <a:rPr lang="en-GB" sz="1500" dirty="0">
                <a:solidFill>
                  <a:schemeClr val="tx1"/>
                </a:solidFill>
              </a:rPr>
              <a:t>, then increase count.</a:t>
            </a:r>
            <a:endParaRPr lang="en-DE" sz="1500" dirty="0">
              <a:solidFill>
                <a:schemeClr val="tx1"/>
              </a:solidFill>
            </a:endParaRPr>
          </a:p>
          <a:p>
            <a:endParaRPr lang="en-GB" sz="800" dirty="0">
              <a:solidFill>
                <a:schemeClr val="tx1"/>
              </a:solidFill>
            </a:endParaRPr>
          </a:p>
          <a:p>
            <a:pPr marL="285750" indent="-285750">
              <a:buClr>
                <a:schemeClr val="accent1"/>
              </a:buClr>
              <a:buFont typeface="Wingdings" pitchFamily="2" charset="2"/>
              <a:buChar char="§"/>
            </a:pPr>
            <a:r>
              <a:rPr lang="en-GB" sz="1500" b="1" dirty="0">
                <a:solidFill>
                  <a:schemeClr val="tx1"/>
                </a:solidFill>
              </a:rPr>
              <a:t>Dequeue:</a:t>
            </a:r>
            <a:r>
              <a:rPr lang="en-GB" sz="1500" dirty="0">
                <a:solidFill>
                  <a:schemeClr val="tx1"/>
                </a:solidFill>
              </a:rPr>
              <a:t> If not empty, take </a:t>
            </a:r>
            <a:r>
              <a:rPr lang="en-GB" sz="1400" dirty="0">
                <a:solidFill>
                  <a:schemeClr val="bg1">
                    <a:lumMod val="85000"/>
                  </a:schemeClr>
                </a:solidFill>
                <a:highlight>
                  <a:srgbClr val="2B2D42"/>
                </a:highlight>
                <a:latin typeface="Cascadia Mono SemiLight" panose="020B0609020000020004" pitchFamily="49" charset="0"/>
                <a:cs typeface="Cascadia Mono SemiLight" panose="020B0609020000020004" pitchFamily="49" charset="0"/>
              </a:rPr>
              <a:t>items[front]</a:t>
            </a:r>
            <a:r>
              <a:rPr lang="en-GB" sz="1500" dirty="0">
                <a:solidFill>
                  <a:schemeClr val="tx1"/>
                </a:solidFill>
              </a:rPr>
              <a:t>, clear the slot, move </a:t>
            </a:r>
            <a:r>
              <a:rPr lang="en-GB" sz="1400" dirty="0">
                <a:solidFill>
                  <a:schemeClr val="bg1">
                    <a:lumMod val="85000"/>
                  </a:schemeClr>
                </a:solidFill>
                <a:highlight>
                  <a:srgbClr val="2B2D42"/>
                </a:highlight>
                <a:latin typeface="Cascadia Mono SemiLight" panose="020B0609020000020004" pitchFamily="49" charset="0"/>
                <a:cs typeface="Cascadia Mono SemiLight" panose="020B0609020000020004" pitchFamily="49" charset="0"/>
              </a:rPr>
              <a:t>front</a:t>
            </a:r>
            <a:r>
              <a:rPr lang="en-GB" sz="600" dirty="0">
                <a:solidFill>
                  <a:schemeClr val="bg1">
                    <a:lumMod val="85000"/>
                  </a:schemeClr>
                </a:solidFill>
                <a:highlight>
                  <a:srgbClr val="2B2D42"/>
                </a:highlight>
                <a:latin typeface="Cascadia Mono SemiLight" panose="020B0609020000020004" pitchFamily="49" charset="0"/>
                <a:cs typeface="Cascadia Mono SemiLight" panose="020B0609020000020004" pitchFamily="49" charset="0"/>
              </a:rPr>
              <a:t> </a:t>
            </a:r>
            <a:r>
              <a:rPr lang="en-GB" sz="1400" dirty="0">
                <a:solidFill>
                  <a:schemeClr val="bg1">
                    <a:lumMod val="85000"/>
                  </a:schemeClr>
                </a:solidFill>
                <a:highlight>
                  <a:srgbClr val="2B2D42"/>
                </a:highlight>
                <a:latin typeface="Cascadia Mono SemiLight" panose="020B0609020000020004" pitchFamily="49" charset="0"/>
                <a:cs typeface="Cascadia Mono SemiLight" panose="020B0609020000020004" pitchFamily="49" charset="0"/>
              </a:rPr>
              <a:t>=</a:t>
            </a:r>
            <a:r>
              <a:rPr lang="en-DE" sz="600" dirty="0">
                <a:solidFill>
                  <a:schemeClr val="bg1">
                    <a:lumMod val="85000"/>
                  </a:schemeClr>
                </a:solidFill>
                <a:highlight>
                  <a:srgbClr val="2B2D42"/>
                </a:highlight>
                <a:latin typeface="Cascadia Mono SemiLight" panose="020B0609020000020004" pitchFamily="49" charset="0"/>
                <a:cs typeface="Cascadia Mono SemiLight" panose="020B0609020000020004" pitchFamily="49" charset="0"/>
              </a:rPr>
              <a:t> </a:t>
            </a:r>
            <a:r>
              <a:rPr lang="en-GB" sz="1400" dirty="0">
                <a:solidFill>
                  <a:schemeClr val="bg1">
                    <a:lumMod val="85000"/>
                  </a:schemeClr>
                </a:solidFill>
                <a:highlight>
                  <a:srgbClr val="2B2D42"/>
                </a:highlight>
                <a:latin typeface="Cascadia Mono SemiLight" panose="020B0609020000020004" pitchFamily="49" charset="0"/>
                <a:cs typeface="Cascadia Mono SemiLight" panose="020B0609020000020004" pitchFamily="49" charset="0"/>
              </a:rPr>
              <a:t>(front</a:t>
            </a:r>
            <a:r>
              <a:rPr lang="en-GB" sz="600" dirty="0">
                <a:solidFill>
                  <a:schemeClr val="bg1">
                    <a:lumMod val="85000"/>
                  </a:schemeClr>
                </a:solidFill>
                <a:highlight>
                  <a:srgbClr val="2B2D42"/>
                </a:highlight>
                <a:latin typeface="Cascadia Mono SemiLight" panose="020B0609020000020004" pitchFamily="49" charset="0"/>
                <a:cs typeface="Cascadia Mono SemiLight" panose="020B0609020000020004" pitchFamily="49" charset="0"/>
              </a:rPr>
              <a:t> </a:t>
            </a:r>
            <a:r>
              <a:rPr lang="en-GB" sz="1400" dirty="0">
                <a:solidFill>
                  <a:schemeClr val="bg1">
                    <a:lumMod val="85000"/>
                  </a:schemeClr>
                </a:solidFill>
                <a:highlight>
                  <a:srgbClr val="2B2D42"/>
                </a:highlight>
                <a:latin typeface="Cascadia Mono SemiLight" panose="020B0609020000020004" pitchFamily="49" charset="0"/>
                <a:cs typeface="Cascadia Mono SemiLight" panose="020B0609020000020004" pitchFamily="49" charset="0"/>
              </a:rPr>
              <a:t>+</a:t>
            </a:r>
            <a:r>
              <a:rPr lang="en-GB" sz="600" dirty="0">
                <a:solidFill>
                  <a:schemeClr val="bg1">
                    <a:lumMod val="85000"/>
                  </a:schemeClr>
                </a:solidFill>
                <a:highlight>
                  <a:srgbClr val="2B2D42"/>
                </a:highlight>
                <a:latin typeface="Cascadia Mono SemiLight" panose="020B0609020000020004" pitchFamily="49" charset="0"/>
                <a:cs typeface="Cascadia Mono SemiLight" panose="020B0609020000020004" pitchFamily="49" charset="0"/>
              </a:rPr>
              <a:t> </a:t>
            </a:r>
            <a:r>
              <a:rPr lang="en-GB" sz="1400" dirty="0">
                <a:solidFill>
                  <a:schemeClr val="bg1">
                    <a:lumMod val="85000"/>
                  </a:schemeClr>
                </a:solidFill>
                <a:highlight>
                  <a:srgbClr val="2B2D42"/>
                </a:highlight>
                <a:latin typeface="Cascadia Mono SemiLight" panose="020B0609020000020004" pitchFamily="49" charset="0"/>
                <a:cs typeface="Cascadia Mono SemiLight" panose="020B0609020000020004" pitchFamily="49" charset="0"/>
              </a:rPr>
              <a:t>1)</a:t>
            </a:r>
            <a:r>
              <a:rPr lang="en-GB" sz="600" dirty="0">
                <a:solidFill>
                  <a:schemeClr val="bg1">
                    <a:lumMod val="85000"/>
                  </a:schemeClr>
                </a:solidFill>
                <a:highlight>
                  <a:srgbClr val="2B2D42"/>
                </a:highlight>
                <a:latin typeface="Cascadia Mono SemiLight" panose="020B0609020000020004" pitchFamily="49" charset="0"/>
                <a:cs typeface="Cascadia Mono SemiLight" panose="020B0609020000020004" pitchFamily="49" charset="0"/>
              </a:rPr>
              <a:t> </a:t>
            </a:r>
            <a:r>
              <a:rPr lang="en-GB" sz="1400" dirty="0">
                <a:solidFill>
                  <a:schemeClr val="bg1">
                    <a:lumMod val="85000"/>
                  </a:schemeClr>
                </a:solidFill>
                <a:highlight>
                  <a:srgbClr val="2B2D42"/>
                </a:highlight>
                <a:latin typeface="Cascadia Mono SemiLight" panose="020B0609020000020004" pitchFamily="49" charset="0"/>
                <a:cs typeface="Cascadia Mono SemiLight" panose="020B0609020000020004" pitchFamily="49" charset="0"/>
              </a:rPr>
              <a:t>%</a:t>
            </a:r>
            <a:r>
              <a:rPr lang="en-GB" sz="600" dirty="0">
                <a:solidFill>
                  <a:schemeClr val="bg1">
                    <a:lumMod val="85000"/>
                  </a:schemeClr>
                </a:solidFill>
                <a:highlight>
                  <a:srgbClr val="2B2D42"/>
                </a:highlight>
                <a:latin typeface="Cascadia Mono SemiLight" panose="020B0609020000020004" pitchFamily="49" charset="0"/>
                <a:cs typeface="Cascadia Mono SemiLight" panose="020B0609020000020004" pitchFamily="49" charset="0"/>
              </a:rPr>
              <a:t> </a:t>
            </a:r>
            <a:r>
              <a:rPr lang="en-GB" sz="1400" dirty="0">
                <a:solidFill>
                  <a:schemeClr val="bg1">
                    <a:lumMod val="85000"/>
                  </a:schemeClr>
                </a:solidFill>
                <a:highlight>
                  <a:srgbClr val="2B2D42"/>
                </a:highlight>
                <a:latin typeface="Cascadia Mono SemiLight" panose="020B0609020000020004" pitchFamily="49" charset="0"/>
                <a:cs typeface="Cascadia Mono SemiLight" panose="020B0609020000020004" pitchFamily="49" charset="0"/>
              </a:rPr>
              <a:t>8</a:t>
            </a:r>
            <a:r>
              <a:rPr lang="en-GB" sz="600" dirty="0">
                <a:solidFill>
                  <a:schemeClr val="bg1">
                    <a:lumMod val="85000"/>
                  </a:schemeClr>
                </a:solidFill>
                <a:highlight>
                  <a:srgbClr val="2B2D42"/>
                </a:highlight>
                <a:latin typeface="Cascadia Mono SemiLight" panose="020B0609020000020004" pitchFamily="49" charset="0"/>
                <a:cs typeface="Cascadia Mono SemiLight" panose="020B0609020000020004" pitchFamily="49" charset="0"/>
              </a:rPr>
              <a:t> </a:t>
            </a:r>
            <a:r>
              <a:rPr lang="en-DE" sz="1500" dirty="0">
                <a:solidFill>
                  <a:schemeClr val="tx1"/>
                </a:solidFill>
              </a:rPr>
              <a:t> a</a:t>
            </a:r>
            <a:r>
              <a:rPr lang="en-DE" sz="1500" dirty="0"/>
              <a:t>nd</a:t>
            </a:r>
            <a:r>
              <a:rPr lang="en-GB" sz="1500" dirty="0">
                <a:solidFill>
                  <a:schemeClr val="tx1"/>
                </a:solidFill>
              </a:rPr>
              <a:t> decrease count.</a:t>
            </a:r>
            <a:endParaRPr lang="en-DE" sz="1500" dirty="0">
              <a:solidFill>
                <a:schemeClr val="tx1"/>
              </a:solidFill>
            </a:endParaRPr>
          </a:p>
          <a:p>
            <a:endParaRPr lang="en-GB" sz="800" dirty="0">
              <a:solidFill>
                <a:schemeClr val="tx1"/>
              </a:solidFill>
            </a:endParaRPr>
          </a:p>
          <a:p>
            <a:pPr marL="285750" indent="-285750">
              <a:buClr>
                <a:schemeClr val="accent1"/>
              </a:buClr>
              <a:buFont typeface="Wingdings" pitchFamily="2" charset="2"/>
              <a:buChar char="§"/>
            </a:pPr>
            <a:r>
              <a:rPr lang="en-GB" sz="1500" b="1" dirty="0">
                <a:solidFill>
                  <a:schemeClr val="tx1"/>
                </a:solidFill>
              </a:rPr>
              <a:t>Peek: </a:t>
            </a:r>
            <a:r>
              <a:rPr lang="en-GB" sz="1500" dirty="0">
                <a:solidFill>
                  <a:schemeClr val="tx1"/>
                </a:solidFill>
              </a:rPr>
              <a:t>Return </a:t>
            </a:r>
            <a:r>
              <a:rPr lang="en-GB" sz="1600" dirty="0">
                <a:solidFill>
                  <a:schemeClr val="bg1">
                    <a:lumMod val="85000"/>
                  </a:schemeClr>
                </a:solidFill>
                <a:highlight>
                  <a:srgbClr val="2B2D42"/>
                </a:highlight>
                <a:latin typeface="Cascadia Mono SemiLight" panose="020B0609020000020004" pitchFamily="49" charset="0"/>
                <a:cs typeface="Cascadia Mono SemiLight" panose="020B0609020000020004" pitchFamily="49" charset="0"/>
              </a:rPr>
              <a:t>items[front]</a:t>
            </a:r>
            <a:r>
              <a:rPr lang="en-GB" sz="1500" dirty="0">
                <a:solidFill>
                  <a:schemeClr val="tx1"/>
                </a:solidFill>
              </a:rPr>
              <a:t> without removing it.</a:t>
            </a:r>
            <a:endParaRPr lang="en-DE" sz="1500" dirty="0">
              <a:solidFill>
                <a:schemeClr val="tx1"/>
              </a:solidFill>
            </a:endParaRPr>
          </a:p>
          <a:p>
            <a:pPr>
              <a:buClr>
                <a:schemeClr val="accent1"/>
              </a:buClr>
            </a:pPr>
            <a:endParaRPr lang="en-DE" sz="800" dirty="0">
              <a:solidFill>
                <a:schemeClr val="tx1"/>
              </a:solidFill>
            </a:endParaRPr>
          </a:p>
          <a:p>
            <a:pPr marL="285750" indent="-285750">
              <a:buClr>
                <a:schemeClr val="accent1"/>
              </a:buClr>
              <a:buFont typeface="Wingdings" pitchFamily="2" charset="2"/>
              <a:buChar char="§"/>
            </a:pPr>
            <a:r>
              <a:rPr lang="en-GB" sz="1500" b="1" dirty="0">
                <a:solidFill>
                  <a:schemeClr val="tx1"/>
                </a:solidFill>
              </a:rPr>
              <a:t>Empty Slots: </a:t>
            </a:r>
            <a:r>
              <a:rPr lang="en-GB" sz="1500" dirty="0">
                <a:solidFill>
                  <a:schemeClr val="tx1"/>
                </a:solidFill>
              </a:rPr>
              <a:t>When an item is removed, its position becomes empty </a:t>
            </a:r>
            <a:r>
              <a:rPr lang="en-GB" sz="1500" dirty="0"/>
              <a:t>(</a:t>
            </a:r>
            <a:r>
              <a:rPr lang="en-GB" sz="1400" dirty="0">
                <a:solidFill>
                  <a:schemeClr val="bg1">
                    <a:lumMod val="95000"/>
                  </a:schemeClr>
                </a:solidFill>
                <a:highlight>
                  <a:srgbClr val="2B2D42"/>
                </a:highlight>
                <a:latin typeface="Cascadia Mono SemiLight" panose="020B0609020000020004" pitchFamily="49" charset="0"/>
                <a:cs typeface="Cascadia Mono SemiLight" panose="020B0609020000020004" pitchFamily="49" charset="0"/>
              </a:rPr>
              <a:t>null</a:t>
            </a:r>
            <a:r>
              <a:rPr lang="en-GB" sz="1500" dirty="0"/>
              <a:t>). </a:t>
            </a:r>
            <a:r>
              <a:rPr lang="en-GB" sz="1500" dirty="0">
                <a:solidFill>
                  <a:schemeClr val="tx1"/>
                </a:solidFill>
              </a:rPr>
              <a:t>New items use the next available rear position, and the queue wraps around to reuse earlier slots when needed.</a:t>
            </a:r>
          </a:p>
          <a:p>
            <a:pPr marL="0" indent="0">
              <a:buNone/>
            </a:pPr>
            <a:endParaRPr lang="en-GB" sz="1500" dirty="0">
              <a:solidFill>
                <a:schemeClr val="tx1"/>
              </a:solidFill>
            </a:endParaRPr>
          </a:p>
          <a:p>
            <a:pPr algn="just"/>
            <a:r>
              <a:rPr lang="en-US" sz="1500" dirty="0"/>
              <a:t>The modulo operator (%) is used to wrap the indexes of 7 back to 0 so that the empty slots can be reused without moving the items.</a:t>
            </a:r>
          </a:p>
        </p:txBody>
      </p:sp>
      <p:sp>
        <p:nvSpPr>
          <p:cNvPr id="81" name="Code card"/>
          <p:cNvSpPr/>
          <p:nvPr/>
        </p:nvSpPr>
        <p:spPr>
          <a:xfrm>
            <a:off x="7406640" y="9555480"/>
            <a:ext cx="6903720" cy="5093208"/>
          </a:xfrm>
          <a:prstGeom prst="roundRect">
            <a:avLst>
              <a:gd name="adj" fmla="val 2053"/>
            </a:avLst>
          </a:prstGeom>
          <a:solidFill>
            <a:srgbClr val="FFF3DE"/>
          </a:solidFill>
          <a:ln/>
        </p:spPr>
      </p:sp>
      <p:sp>
        <p:nvSpPr>
          <p:cNvPr id="82" name="Code badge"/>
          <p:cNvSpPr/>
          <p:nvPr/>
        </p:nvSpPr>
        <p:spPr>
          <a:xfrm>
            <a:off x="7555833" y="9712815"/>
            <a:ext cx="402336" cy="402336"/>
          </a:xfrm>
          <a:prstGeom prst="ellipse">
            <a:avLst/>
          </a:prstGeom>
          <a:solidFill>
            <a:schemeClr val="accent1"/>
          </a:solidFill>
          <a:ln/>
        </p:spPr>
      </p:sp>
      <p:sp>
        <p:nvSpPr>
          <p:cNvPr id="83" name="Code number"/>
          <p:cNvSpPr txBox="1"/>
          <p:nvPr/>
        </p:nvSpPr>
        <p:spPr>
          <a:xfrm>
            <a:off x="7555833" y="9712815"/>
            <a:ext cx="402336" cy="402336"/>
          </a:xfrm>
          <a:prstGeom prst="rect">
            <a:avLst/>
          </a:prstGeom>
          <a:noFill/>
          <a:ln/>
        </p:spPr>
        <p:txBody>
          <a:bodyPr wrap="square" lIns="0" tIns="0" rIns="0" bIns="0" rtlCol="0" anchor="ctr"/>
          <a:lstStyle/>
          <a:p>
            <a:pPr marL="0" indent="0" algn="ctr">
              <a:buNone/>
            </a:pPr>
            <a:r>
              <a:rPr lang="en-US" sz="1600" b="1" dirty="0">
                <a:solidFill>
                  <a:schemeClr val="bg1"/>
                </a:solidFill>
              </a:rPr>
              <a:t>5</a:t>
            </a:r>
            <a:endParaRPr lang="en-US" sz="1600" dirty="0"/>
          </a:p>
        </p:txBody>
      </p:sp>
      <p:sp>
        <p:nvSpPr>
          <p:cNvPr id="84" name="Code heading"/>
          <p:cNvSpPr txBox="1"/>
          <p:nvPr/>
        </p:nvSpPr>
        <p:spPr>
          <a:xfrm>
            <a:off x="8104473" y="9694527"/>
            <a:ext cx="5843016" cy="438912"/>
          </a:xfrm>
          <a:prstGeom prst="rect">
            <a:avLst/>
          </a:prstGeom>
          <a:noFill/>
          <a:ln/>
        </p:spPr>
        <p:txBody>
          <a:bodyPr wrap="square" lIns="0" tIns="0" rIns="0" bIns="0" rtlCol="0" anchor="ctr"/>
          <a:lstStyle/>
          <a:p>
            <a:pPr marL="0" indent="0">
              <a:buNone/>
            </a:pPr>
            <a:r>
              <a:rPr lang="en-US" sz="2300" b="1" dirty="0">
                <a:solidFill>
                  <a:schemeClr val="tx2"/>
                </a:solidFill>
                <a:latin typeface="Franklin Gothic Medium" panose="020B0603020102020204" pitchFamily="34" charset="0"/>
                <a:ea typeface="Cambria" pitchFamily="34" charset="-122"/>
                <a:cs typeface="Lucida Sans Unicode" panose="020B0602030504020204" pitchFamily="34" charset="0"/>
              </a:rPr>
              <a:t>Java Code: enqueue and dequeue</a:t>
            </a:r>
            <a:endParaRPr lang="en-US" sz="2300" dirty="0">
              <a:latin typeface="Franklin Gothic Medium" panose="020B0603020102020204" pitchFamily="34" charset="0"/>
              <a:cs typeface="Lucida Sans Unicode" panose="020B0602030504020204" pitchFamily="34" charset="0"/>
            </a:endParaRPr>
          </a:p>
        </p:txBody>
      </p:sp>
      <p:sp>
        <p:nvSpPr>
          <p:cNvPr id="85" name="Code snippet bg"/>
          <p:cNvSpPr/>
          <p:nvPr/>
        </p:nvSpPr>
        <p:spPr>
          <a:xfrm>
            <a:off x="7647384" y="10304998"/>
            <a:ext cx="6391656" cy="4142998"/>
          </a:xfrm>
          <a:prstGeom prst="roundRect">
            <a:avLst>
              <a:gd name="adj" fmla="val 1429"/>
            </a:avLst>
          </a:prstGeom>
          <a:solidFill>
            <a:schemeClr val="tx2"/>
          </a:solidFill>
          <a:ln/>
        </p:spPr>
      </p:sp>
      <p:sp>
        <p:nvSpPr>
          <p:cNvPr id="86" name="Code snippet"/>
          <p:cNvSpPr txBox="1"/>
          <p:nvPr/>
        </p:nvSpPr>
        <p:spPr>
          <a:xfrm>
            <a:off x="7838771" y="10490127"/>
            <a:ext cx="6062472" cy="3724656"/>
          </a:xfrm>
          <a:prstGeom prst="rect">
            <a:avLst/>
          </a:prstGeom>
          <a:noFill/>
          <a:ln/>
        </p:spPr>
        <p:txBody>
          <a:bodyPr wrap="square" lIns="0" tIns="0" rIns="0" bIns="0" rtlCol="0" anchor="t"/>
          <a:lstStyle/>
          <a:p>
            <a:pPr marL="0" indent="0">
              <a:buNone/>
            </a:pPr>
            <a:r>
              <a:rPr lang="en-US" sz="1400" dirty="0">
                <a:solidFill>
                  <a:schemeClr val="accent4"/>
                </a:solidFill>
                <a:latin typeface="Courier New" pitchFamily="34" charset="0"/>
                <a:ea typeface="Courier New" pitchFamily="34" charset="-122"/>
                <a:cs typeface="Courier New" pitchFamily="34" charset="-120"/>
              </a:rPr>
              <a:t>// enqueue - adds to the back</a:t>
            </a:r>
            <a:endParaRPr lang="en-US" sz="1400" dirty="0"/>
          </a:p>
          <a:p>
            <a:pPr marL="0" indent="0">
              <a:buNone/>
            </a:pPr>
            <a:r>
              <a:rPr lang="en-US" sz="1400" dirty="0">
                <a:solidFill>
                  <a:schemeClr val="bg1"/>
                </a:solidFill>
                <a:latin typeface="Courier New" pitchFamily="34" charset="0"/>
                <a:ea typeface="Courier New" pitchFamily="34" charset="-122"/>
                <a:cs typeface="Courier New" pitchFamily="34" charset="-120"/>
              </a:rPr>
              <a:t>public void add(FoodItem item) {</a:t>
            </a:r>
            <a:endParaRPr lang="en-US" sz="1400" dirty="0"/>
          </a:p>
          <a:p>
            <a:pPr marL="0" indent="0">
              <a:buNone/>
            </a:pPr>
            <a:r>
              <a:rPr lang="en-US" sz="1400" dirty="0">
                <a:solidFill>
                  <a:schemeClr val="bg1"/>
                </a:solidFill>
                <a:latin typeface="Courier New" pitchFamily="34" charset="0"/>
                <a:ea typeface="Courier New" pitchFamily="34" charset="-122"/>
                <a:cs typeface="Courier New" pitchFamily="34" charset="-120"/>
              </a:rPr>
              <a:t>    if (isFull())</a:t>
            </a:r>
            <a:endParaRPr lang="en-US" sz="1400" dirty="0"/>
          </a:p>
          <a:p>
            <a:pPr marL="0" indent="0">
              <a:buNone/>
            </a:pPr>
            <a:r>
              <a:rPr lang="en-US" sz="1400" dirty="0">
                <a:solidFill>
                  <a:schemeClr val="bg1"/>
                </a:solidFill>
                <a:latin typeface="Courier New" pitchFamily="34" charset="0"/>
                <a:ea typeface="Courier New" pitchFamily="34" charset="-122"/>
                <a:cs typeface="Courier New" pitchFamily="34" charset="-120"/>
              </a:rPr>
              <a:t>        throw new StorageFullException(...);</a:t>
            </a:r>
            <a:endParaRPr lang="en-US" sz="1400" dirty="0"/>
          </a:p>
          <a:p>
            <a:pPr marL="0" indent="0">
              <a:buNone/>
            </a:pPr>
            <a:r>
              <a:rPr lang="en-US" sz="1400" dirty="0">
                <a:solidFill>
                  <a:schemeClr val="bg1"/>
                </a:solidFill>
                <a:latin typeface="Courier New" pitchFamily="34" charset="0"/>
                <a:ea typeface="Courier New" pitchFamily="34" charset="-122"/>
                <a:cs typeface="Courier New" pitchFamily="34" charset="-120"/>
              </a:rPr>
              <a:t>    </a:t>
            </a:r>
            <a:r>
              <a:rPr lang="en-US" sz="1400" b="1" dirty="0">
                <a:solidFill>
                  <a:schemeClr val="bg1"/>
                </a:solidFill>
                <a:latin typeface="Courier New" pitchFamily="34" charset="0"/>
                <a:ea typeface="Courier New" pitchFamily="34" charset="-122"/>
                <a:cs typeface="Courier New" pitchFamily="34" charset="-120"/>
              </a:rPr>
              <a:t>int rear = (front + count) % MAX_CAPACITY;</a:t>
            </a:r>
            <a:endParaRPr lang="en-US" sz="1400" b="1" dirty="0"/>
          </a:p>
          <a:p>
            <a:pPr marL="0" indent="0">
              <a:buNone/>
            </a:pPr>
            <a:r>
              <a:rPr lang="en-US" sz="1400" dirty="0">
                <a:solidFill>
                  <a:schemeClr val="bg1"/>
                </a:solidFill>
                <a:latin typeface="Courier New" pitchFamily="34" charset="0"/>
                <a:ea typeface="Courier New" pitchFamily="34" charset="-122"/>
                <a:cs typeface="Courier New" pitchFamily="34" charset="-120"/>
              </a:rPr>
              <a:t>    items[rear] = item;</a:t>
            </a:r>
            <a:endParaRPr lang="en-US" sz="1400" dirty="0"/>
          </a:p>
          <a:p>
            <a:pPr marL="0" indent="0">
              <a:buNone/>
            </a:pPr>
            <a:r>
              <a:rPr lang="en-US" sz="1400" dirty="0">
                <a:solidFill>
                  <a:schemeClr val="bg1"/>
                </a:solidFill>
                <a:latin typeface="Courier New" pitchFamily="34" charset="0"/>
                <a:ea typeface="Courier New" pitchFamily="34" charset="-122"/>
                <a:cs typeface="Courier New" pitchFamily="34" charset="-120"/>
              </a:rPr>
              <a:t>    count++;</a:t>
            </a:r>
            <a:endParaRPr lang="en-US" sz="1400" dirty="0"/>
          </a:p>
          <a:p>
            <a:pPr marL="0" indent="0">
              <a:buNone/>
            </a:pPr>
            <a:r>
              <a:rPr lang="en-US" sz="1400" dirty="0">
                <a:solidFill>
                  <a:schemeClr val="bg1"/>
                </a:solidFill>
                <a:latin typeface="Courier New" pitchFamily="34" charset="0"/>
                <a:ea typeface="Courier New" pitchFamily="34" charset="-122"/>
                <a:cs typeface="Courier New" pitchFamily="34" charset="-120"/>
              </a:rPr>
              <a:t>}</a:t>
            </a:r>
            <a:endParaRPr lang="en-US" sz="1400" dirty="0"/>
          </a:p>
          <a:p>
            <a:pPr marL="0" indent="0">
              <a:buNone/>
            </a:pPr>
            <a:r>
              <a:rPr lang="en-US" sz="1400" dirty="0">
                <a:solidFill>
                  <a:schemeClr val="accent4"/>
                </a:solidFill>
                <a:latin typeface="Courier New" pitchFamily="34" charset="0"/>
                <a:ea typeface="Courier New" pitchFamily="34" charset="-122"/>
                <a:cs typeface="Courier New" pitchFamily="34" charset="-120"/>
              </a:rPr>
              <a:t>// dequeue - removes from the front</a:t>
            </a:r>
            <a:endParaRPr lang="en-US" sz="1400" dirty="0"/>
          </a:p>
          <a:p>
            <a:pPr marL="0" indent="0">
              <a:buNone/>
            </a:pPr>
            <a:r>
              <a:rPr lang="en-US" sz="1400" dirty="0">
                <a:solidFill>
                  <a:schemeClr val="bg1"/>
                </a:solidFill>
                <a:latin typeface="Courier New" pitchFamily="34" charset="0"/>
                <a:ea typeface="Courier New" pitchFamily="34" charset="-122"/>
                <a:cs typeface="Courier New" pitchFamily="34" charset="-120"/>
              </a:rPr>
              <a:t>public FoodItem remove() {</a:t>
            </a:r>
            <a:endParaRPr lang="en-US" sz="1400" dirty="0"/>
          </a:p>
          <a:p>
            <a:pPr marL="0" indent="0">
              <a:buNone/>
            </a:pPr>
            <a:r>
              <a:rPr lang="en-US" sz="1400" dirty="0">
                <a:solidFill>
                  <a:schemeClr val="bg1"/>
                </a:solidFill>
                <a:latin typeface="Courier New" pitchFamily="34" charset="0"/>
                <a:ea typeface="Courier New" pitchFamily="34" charset="-122"/>
                <a:cs typeface="Courier New" pitchFamily="34" charset="-120"/>
              </a:rPr>
              <a:t>    if (isEmpty())</a:t>
            </a:r>
            <a:endParaRPr lang="en-US" sz="1400" dirty="0"/>
          </a:p>
          <a:p>
            <a:pPr marL="0" indent="0">
              <a:buNone/>
            </a:pPr>
            <a:r>
              <a:rPr lang="en-US" sz="1400" dirty="0">
                <a:solidFill>
                  <a:schemeClr val="bg1"/>
                </a:solidFill>
                <a:latin typeface="Courier New" pitchFamily="34" charset="0"/>
                <a:ea typeface="Courier New" pitchFamily="34" charset="-122"/>
                <a:cs typeface="Courier New" pitchFamily="34" charset="-120"/>
              </a:rPr>
              <a:t>        throw new StorageEmptyException(...);</a:t>
            </a:r>
            <a:endParaRPr lang="en-US" sz="1400" dirty="0"/>
          </a:p>
          <a:p>
            <a:pPr marL="0" indent="0">
              <a:buNone/>
            </a:pPr>
            <a:r>
              <a:rPr lang="en-US" sz="1400" dirty="0">
                <a:solidFill>
                  <a:schemeClr val="bg1"/>
                </a:solidFill>
                <a:latin typeface="Courier New" pitchFamily="34" charset="0"/>
                <a:ea typeface="Courier New" pitchFamily="34" charset="-122"/>
                <a:cs typeface="Courier New" pitchFamily="34" charset="-120"/>
              </a:rPr>
              <a:t>    FoodItem removed = items[front];</a:t>
            </a:r>
            <a:endParaRPr lang="en-US" sz="1400" dirty="0"/>
          </a:p>
          <a:p>
            <a:pPr marL="0" indent="0">
              <a:buNone/>
            </a:pPr>
            <a:r>
              <a:rPr lang="en-US" sz="1400" dirty="0">
                <a:solidFill>
                  <a:schemeClr val="bg1"/>
                </a:solidFill>
                <a:latin typeface="Courier New" pitchFamily="34" charset="0"/>
                <a:ea typeface="Courier New" pitchFamily="34" charset="-122"/>
                <a:cs typeface="Courier New" pitchFamily="34" charset="-120"/>
              </a:rPr>
              <a:t>    items[front] = null;</a:t>
            </a:r>
            <a:endParaRPr lang="en-US" sz="1400" dirty="0"/>
          </a:p>
          <a:p>
            <a:pPr marL="0" indent="0">
              <a:buNone/>
            </a:pPr>
            <a:r>
              <a:rPr lang="en-US" sz="1400" b="1" dirty="0">
                <a:solidFill>
                  <a:schemeClr val="bg1"/>
                </a:solidFill>
                <a:latin typeface="Courier New" pitchFamily="34" charset="0"/>
                <a:ea typeface="Courier New" pitchFamily="34" charset="-122"/>
                <a:cs typeface="Courier New" pitchFamily="34" charset="-120"/>
              </a:rPr>
              <a:t>    front = (front + 1) % MAX_CAPACITY;</a:t>
            </a:r>
            <a:endParaRPr lang="en-US" sz="1400" b="1" dirty="0"/>
          </a:p>
          <a:p>
            <a:pPr marL="0" indent="0">
              <a:buNone/>
            </a:pPr>
            <a:r>
              <a:rPr lang="en-US" sz="1400" dirty="0">
                <a:solidFill>
                  <a:schemeClr val="bg1"/>
                </a:solidFill>
                <a:latin typeface="Courier New" pitchFamily="34" charset="0"/>
                <a:ea typeface="Courier New" pitchFamily="34" charset="-122"/>
                <a:cs typeface="Courier New" pitchFamily="34" charset="-120"/>
              </a:rPr>
              <a:t>    count--;</a:t>
            </a:r>
            <a:endParaRPr lang="en-US" sz="1400" dirty="0"/>
          </a:p>
          <a:p>
            <a:pPr marL="0" indent="0">
              <a:buNone/>
            </a:pPr>
            <a:r>
              <a:rPr lang="en-US" sz="1400" dirty="0">
                <a:solidFill>
                  <a:schemeClr val="bg1"/>
                </a:solidFill>
                <a:latin typeface="Courier New" pitchFamily="34" charset="0"/>
                <a:ea typeface="Courier New" pitchFamily="34" charset="-122"/>
                <a:cs typeface="Courier New" pitchFamily="34" charset="-120"/>
              </a:rPr>
              <a:t>    return removed;</a:t>
            </a:r>
            <a:endParaRPr lang="en-US" sz="1400" dirty="0"/>
          </a:p>
          <a:p>
            <a:pPr marL="0" indent="0">
              <a:buNone/>
            </a:pPr>
            <a:r>
              <a:rPr lang="en-US" sz="1400" dirty="0">
                <a:solidFill>
                  <a:schemeClr val="bg1"/>
                </a:solidFill>
                <a:latin typeface="Courier New" pitchFamily="34" charset="0"/>
                <a:ea typeface="Courier New" pitchFamily="34" charset="-122"/>
                <a:cs typeface="Courier New" pitchFamily="34" charset="-120"/>
              </a:rPr>
              <a:t>}</a:t>
            </a:r>
            <a:endParaRPr lang="en-US" sz="1400" dirty="0"/>
          </a:p>
        </p:txBody>
      </p:sp>
      <p:sp>
        <p:nvSpPr>
          <p:cNvPr id="87" name="UML card"/>
          <p:cNvSpPr/>
          <p:nvPr/>
        </p:nvSpPr>
        <p:spPr>
          <a:xfrm>
            <a:off x="14584680" y="2651759"/>
            <a:ext cx="7315200" cy="7042767"/>
          </a:xfrm>
          <a:prstGeom prst="roundRect">
            <a:avLst>
              <a:gd name="adj" fmla="val 1879"/>
            </a:avLst>
          </a:prstGeom>
          <a:solidFill>
            <a:srgbClr val="FFF3DE"/>
          </a:solidFill>
          <a:ln/>
        </p:spPr>
      </p:sp>
      <p:sp>
        <p:nvSpPr>
          <p:cNvPr id="88" name="UML badge"/>
          <p:cNvSpPr/>
          <p:nvPr/>
        </p:nvSpPr>
        <p:spPr>
          <a:xfrm>
            <a:off x="14767560" y="2816352"/>
            <a:ext cx="402336" cy="402336"/>
          </a:xfrm>
          <a:prstGeom prst="ellipse">
            <a:avLst/>
          </a:prstGeom>
          <a:solidFill>
            <a:schemeClr val="accent1"/>
          </a:solidFill>
          <a:ln/>
        </p:spPr>
      </p:sp>
      <p:sp>
        <p:nvSpPr>
          <p:cNvPr id="89" name="UML number"/>
          <p:cNvSpPr txBox="1"/>
          <p:nvPr/>
        </p:nvSpPr>
        <p:spPr>
          <a:xfrm>
            <a:off x="14767560" y="2816352"/>
            <a:ext cx="402336" cy="402336"/>
          </a:xfrm>
          <a:prstGeom prst="rect">
            <a:avLst/>
          </a:prstGeom>
          <a:noFill/>
          <a:ln/>
        </p:spPr>
        <p:txBody>
          <a:bodyPr wrap="square" lIns="0" tIns="0" rIns="0" bIns="0" rtlCol="0" anchor="ctr"/>
          <a:lstStyle/>
          <a:p>
            <a:pPr marL="0" indent="0" algn="ctr">
              <a:buNone/>
            </a:pPr>
            <a:r>
              <a:rPr lang="en-US" sz="1600" b="1" dirty="0">
                <a:solidFill>
                  <a:schemeClr val="bg1"/>
                </a:solidFill>
              </a:rPr>
              <a:t>6</a:t>
            </a:r>
            <a:endParaRPr lang="en-US" sz="1600" dirty="0"/>
          </a:p>
        </p:txBody>
      </p:sp>
      <p:sp>
        <p:nvSpPr>
          <p:cNvPr id="90" name="UML heading"/>
          <p:cNvSpPr txBox="1"/>
          <p:nvPr/>
        </p:nvSpPr>
        <p:spPr>
          <a:xfrm>
            <a:off x="15316200" y="2798064"/>
            <a:ext cx="6254496" cy="438912"/>
          </a:xfrm>
          <a:prstGeom prst="rect">
            <a:avLst/>
          </a:prstGeom>
          <a:noFill/>
          <a:ln/>
        </p:spPr>
        <p:txBody>
          <a:bodyPr wrap="square" lIns="0" tIns="0" rIns="0" bIns="0" rtlCol="0" anchor="ctr"/>
          <a:lstStyle/>
          <a:p>
            <a:pPr marL="0" indent="0">
              <a:buNone/>
            </a:pPr>
            <a:r>
              <a:rPr lang="en-US" sz="2300" b="1" dirty="0">
                <a:solidFill>
                  <a:schemeClr val="tx2"/>
                </a:solidFill>
                <a:latin typeface="Franklin Gothic Medium" panose="020B0603020102020204" pitchFamily="34" charset="0"/>
                <a:ea typeface="Cambria" pitchFamily="34" charset="-122"/>
                <a:cs typeface="Lucida Sans Unicode" panose="020B0602030504020204" pitchFamily="34" charset="0"/>
              </a:rPr>
              <a:t>Class Design (UML)</a:t>
            </a:r>
            <a:endParaRPr lang="en-US" sz="2300" dirty="0">
              <a:latin typeface="Franklin Gothic Medium" panose="020B0603020102020204" pitchFamily="34" charset="0"/>
              <a:cs typeface="Lucida Sans Unicode" panose="020B0602030504020204" pitchFamily="34" charset="0"/>
            </a:endParaRPr>
          </a:p>
        </p:txBody>
      </p:sp>
      <p:sp>
        <p:nvSpPr>
          <p:cNvPr id="91" name="Interface box"/>
          <p:cNvSpPr/>
          <p:nvPr/>
        </p:nvSpPr>
        <p:spPr>
          <a:xfrm>
            <a:off x="14840712" y="3531616"/>
            <a:ext cx="3108960" cy="1389888"/>
          </a:xfrm>
          <a:prstGeom prst="rect">
            <a:avLst/>
          </a:prstGeom>
          <a:solidFill>
            <a:schemeClr val="bg1"/>
          </a:solidFill>
          <a:ln w="12700">
            <a:solidFill>
              <a:schemeClr val="tx2"/>
            </a:solidFill>
            <a:prstDash val="solid"/>
          </a:ln>
        </p:spPr>
      </p:sp>
      <p:sp>
        <p:nvSpPr>
          <p:cNvPr id="92" name="Interface header"/>
          <p:cNvSpPr/>
          <p:nvPr/>
        </p:nvSpPr>
        <p:spPr>
          <a:xfrm>
            <a:off x="14840712" y="3531616"/>
            <a:ext cx="3108960" cy="384048"/>
          </a:xfrm>
          <a:prstGeom prst="rect">
            <a:avLst/>
          </a:prstGeom>
          <a:solidFill>
            <a:schemeClr val="accent5"/>
          </a:solidFill>
          <a:ln w="12700">
            <a:solidFill>
              <a:schemeClr val="tx2"/>
            </a:solidFill>
            <a:prstDash val="solid"/>
          </a:ln>
        </p:spPr>
      </p:sp>
      <p:sp>
        <p:nvSpPr>
          <p:cNvPr id="93" name="Interface name"/>
          <p:cNvSpPr txBox="1"/>
          <p:nvPr/>
        </p:nvSpPr>
        <p:spPr>
          <a:xfrm>
            <a:off x="14840712" y="3531616"/>
            <a:ext cx="3108960" cy="384048"/>
          </a:xfrm>
          <a:prstGeom prst="rect">
            <a:avLst/>
          </a:prstGeom>
          <a:noFill/>
          <a:ln/>
        </p:spPr>
        <p:txBody>
          <a:bodyPr wrap="square" lIns="0" tIns="0" rIns="0" bIns="0" rtlCol="0" anchor="ctr"/>
          <a:lstStyle/>
          <a:p>
            <a:pPr marL="0" indent="0" algn="ctr">
              <a:buNone/>
            </a:pPr>
            <a:r>
              <a:rPr lang="en-US" sz="1100" b="1" i="1" dirty="0">
                <a:solidFill>
                  <a:schemeClr val="bg1"/>
                </a:solidFill>
              </a:rPr>
              <a:t>« interface » </a:t>
            </a:r>
            <a:r>
              <a:rPr lang="en-US" sz="1350" b="1" dirty="0" err="1">
                <a:solidFill>
                  <a:schemeClr val="bg1"/>
                </a:solidFill>
              </a:rPr>
              <a:t>StorageInterface</a:t>
            </a:r>
            <a:endParaRPr lang="en-US" sz="1350" dirty="0"/>
          </a:p>
        </p:txBody>
      </p:sp>
      <p:sp>
        <p:nvSpPr>
          <p:cNvPr id="94" name="Interface members"/>
          <p:cNvSpPr txBox="1"/>
          <p:nvPr/>
        </p:nvSpPr>
        <p:spPr>
          <a:xfrm>
            <a:off x="14984731" y="4029964"/>
            <a:ext cx="2670048" cy="832104"/>
          </a:xfrm>
          <a:prstGeom prst="rect">
            <a:avLst/>
          </a:prstGeom>
          <a:noFill/>
          <a:ln/>
        </p:spPr>
        <p:txBody>
          <a:bodyPr wrap="square" lIns="0" tIns="0" rIns="0" bIns="0" rtlCol="0" anchor="t"/>
          <a:lstStyle/>
          <a:p>
            <a:pPr marL="0" indent="0">
              <a:buNone/>
            </a:pPr>
            <a:r>
              <a:rPr lang="en-US" sz="1200" dirty="0">
                <a:solidFill>
                  <a:schemeClr val="tx1"/>
                </a:solidFill>
                <a:latin typeface="Courier New" pitchFamily="34" charset="0"/>
                <a:ea typeface="Courier New" pitchFamily="34" charset="-122"/>
                <a:cs typeface="Courier New" pitchFamily="34" charset="-120"/>
              </a:rPr>
              <a:t>MAX_CAPACITY = 8</a:t>
            </a:r>
            <a:endParaRPr lang="en-US" sz="1200" dirty="0"/>
          </a:p>
          <a:p>
            <a:pPr marL="0" indent="0">
              <a:buNone/>
            </a:pPr>
            <a:r>
              <a:rPr lang="en-US" sz="1200" dirty="0">
                <a:solidFill>
                  <a:schemeClr val="tx1"/>
                </a:solidFill>
                <a:latin typeface="Courier New" pitchFamily="34" charset="0"/>
                <a:ea typeface="Courier New" pitchFamily="34" charset="-122"/>
                <a:cs typeface="Courier New" pitchFamily="34" charset="-120"/>
              </a:rPr>
              <a:t>add() remove() peek()</a:t>
            </a:r>
            <a:endParaRPr lang="en-US" sz="1200" dirty="0"/>
          </a:p>
          <a:p>
            <a:pPr marL="0" indent="0">
              <a:buNone/>
            </a:pPr>
            <a:r>
              <a:rPr lang="en-US" sz="1200" dirty="0">
                <a:solidFill>
                  <a:schemeClr val="tx1"/>
                </a:solidFill>
                <a:latin typeface="Courier New" pitchFamily="34" charset="0"/>
                <a:ea typeface="Courier New" pitchFamily="34" charset="-122"/>
                <a:cs typeface="Courier New" pitchFamily="34" charset="-120"/>
              </a:rPr>
              <a:t>display() search()</a:t>
            </a:r>
            <a:endParaRPr lang="en-US" sz="1200" dirty="0"/>
          </a:p>
          <a:p>
            <a:pPr marL="0" indent="0">
              <a:buNone/>
            </a:pPr>
            <a:r>
              <a:rPr lang="en-US" sz="1200" dirty="0">
                <a:solidFill>
                  <a:schemeClr val="tx1"/>
                </a:solidFill>
                <a:latin typeface="Courier New" pitchFamily="34" charset="0"/>
                <a:ea typeface="Courier New" pitchFamily="34" charset="-122"/>
                <a:cs typeface="Courier New" pitchFamily="34" charset="-120"/>
              </a:rPr>
              <a:t>isEmpty() isFull() size()</a:t>
            </a:r>
            <a:endParaRPr lang="en-US" sz="1200" dirty="0"/>
          </a:p>
        </p:txBody>
      </p:sp>
      <p:sp>
        <p:nvSpPr>
          <p:cNvPr id="95" name="RuntimeException box"/>
          <p:cNvSpPr/>
          <p:nvPr/>
        </p:nvSpPr>
        <p:spPr>
          <a:xfrm>
            <a:off x="18534888" y="3531616"/>
            <a:ext cx="3108960" cy="384048"/>
          </a:xfrm>
          <a:prstGeom prst="rect">
            <a:avLst/>
          </a:prstGeom>
          <a:solidFill>
            <a:schemeClr val="bg1"/>
          </a:solidFill>
          <a:ln w="12700">
            <a:solidFill>
              <a:schemeClr val="tx2"/>
            </a:solidFill>
            <a:prstDash val="solid"/>
          </a:ln>
        </p:spPr>
      </p:sp>
      <p:sp>
        <p:nvSpPr>
          <p:cNvPr id="96" name="RuntimeException header"/>
          <p:cNvSpPr/>
          <p:nvPr/>
        </p:nvSpPr>
        <p:spPr>
          <a:xfrm>
            <a:off x="18534888" y="3531616"/>
            <a:ext cx="3108960" cy="384048"/>
          </a:xfrm>
          <a:prstGeom prst="rect">
            <a:avLst/>
          </a:prstGeom>
          <a:solidFill>
            <a:schemeClr val="accent6"/>
          </a:solidFill>
          <a:ln w="12700">
            <a:solidFill>
              <a:schemeClr val="tx2"/>
            </a:solidFill>
            <a:prstDash val="solid"/>
          </a:ln>
        </p:spPr>
      </p:sp>
      <p:sp>
        <p:nvSpPr>
          <p:cNvPr id="97" name="RuntimeException name"/>
          <p:cNvSpPr txBox="1"/>
          <p:nvPr/>
        </p:nvSpPr>
        <p:spPr>
          <a:xfrm>
            <a:off x="18534888" y="3531616"/>
            <a:ext cx="3108960" cy="384048"/>
          </a:xfrm>
          <a:prstGeom prst="rect">
            <a:avLst/>
          </a:prstGeom>
          <a:noFill/>
          <a:ln/>
        </p:spPr>
        <p:txBody>
          <a:bodyPr wrap="square" lIns="0" tIns="0" rIns="0" bIns="0" rtlCol="0" anchor="ctr"/>
          <a:lstStyle/>
          <a:p>
            <a:pPr marL="0" indent="0" algn="ctr">
              <a:buNone/>
            </a:pPr>
            <a:r>
              <a:rPr lang="en-US" sz="1350" b="1" dirty="0">
                <a:solidFill>
                  <a:schemeClr val="bg1"/>
                </a:solidFill>
              </a:rPr>
              <a:t>RuntimeException</a:t>
            </a:r>
            <a:endParaRPr lang="en-US" sz="1350" dirty="0"/>
          </a:p>
        </p:txBody>
      </p:sp>
      <p:sp>
        <p:nvSpPr>
          <p:cNvPr id="98" name="QueueStorage box"/>
          <p:cNvSpPr/>
          <p:nvPr/>
        </p:nvSpPr>
        <p:spPr>
          <a:xfrm>
            <a:off x="14840712" y="5424424"/>
            <a:ext cx="3108960" cy="1161288"/>
          </a:xfrm>
          <a:prstGeom prst="rect">
            <a:avLst/>
          </a:prstGeom>
          <a:solidFill>
            <a:schemeClr val="bg1"/>
          </a:solidFill>
          <a:ln w="12700">
            <a:solidFill>
              <a:schemeClr val="tx2"/>
            </a:solidFill>
            <a:prstDash val="solid"/>
          </a:ln>
        </p:spPr>
      </p:sp>
      <p:sp>
        <p:nvSpPr>
          <p:cNvPr id="99" name="QueueStorage header"/>
          <p:cNvSpPr/>
          <p:nvPr/>
        </p:nvSpPr>
        <p:spPr>
          <a:xfrm>
            <a:off x="14840712" y="5424424"/>
            <a:ext cx="3108960" cy="384048"/>
          </a:xfrm>
          <a:prstGeom prst="rect">
            <a:avLst/>
          </a:prstGeom>
          <a:solidFill>
            <a:schemeClr val="accent1"/>
          </a:solidFill>
          <a:ln w="12700">
            <a:solidFill>
              <a:schemeClr val="tx2"/>
            </a:solidFill>
            <a:prstDash val="solid"/>
          </a:ln>
        </p:spPr>
      </p:sp>
      <p:sp>
        <p:nvSpPr>
          <p:cNvPr id="100" name="QueueStorage name"/>
          <p:cNvSpPr txBox="1"/>
          <p:nvPr/>
        </p:nvSpPr>
        <p:spPr>
          <a:xfrm>
            <a:off x="14840712" y="5424424"/>
            <a:ext cx="3108960" cy="384048"/>
          </a:xfrm>
          <a:prstGeom prst="rect">
            <a:avLst/>
          </a:prstGeom>
          <a:noFill/>
          <a:ln/>
        </p:spPr>
        <p:txBody>
          <a:bodyPr wrap="square" lIns="0" tIns="0" rIns="0" bIns="0" rtlCol="0" anchor="ctr"/>
          <a:lstStyle/>
          <a:p>
            <a:pPr marL="0" indent="0" algn="ctr">
              <a:buNone/>
            </a:pPr>
            <a:r>
              <a:rPr lang="en-US" sz="1350" b="1" dirty="0">
                <a:solidFill>
                  <a:schemeClr val="bg1"/>
                </a:solidFill>
              </a:rPr>
              <a:t>QueueStorage</a:t>
            </a:r>
            <a:endParaRPr lang="en-US" sz="1350" dirty="0"/>
          </a:p>
        </p:txBody>
      </p:sp>
      <p:sp>
        <p:nvSpPr>
          <p:cNvPr id="101" name="QueueStorage members"/>
          <p:cNvSpPr txBox="1"/>
          <p:nvPr/>
        </p:nvSpPr>
        <p:spPr>
          <a:xfrm>
            <a:off x="14984730" y="5914136"/>
            <a:ext cx="2084069" cy="603504"/>
          </a:xfrm>
          <a:prstGeom prst="rect">
            <a:avLst/>
          </a:prstGeom>
          <a:noFill/>
          <a:ln/>
        </p:spPr>
        <p:txBody>
          <a:bodyPr wrap="square" lIns="0" tIns="0" rIns="0" bIns="0" rtlCol="0" anchor="t"/>
          <a:lstStyle/>
          <a:p>
            <a:pPr marL="0" indent="0">
              <a:buNone/>
            </a:pPr>
            <a:r>
              <a:rPr lang="en-US" sz="1200" dirty="0">
                <a:solidFill>
                  <a:schemeClr val="tx1"/>
                </a:solidFill>
                <a:latin typeface="Courier New" pitchFamily="34" charset="0"/>
                <a:ea typeface="Courier New" pitchFamily="34" charset="-122"/>
                <a:cs typeface="Courier New" pitchFamily="34" charset="-120"/>
              </a:rPr>
              <a:t>- items: FoodItem[8]</a:t>
            </a:r>
            <a:endParaRPr lang="en-US" sz="1200" dirty="0"/>
          </a:p>
          <a:p>
            <a:pPr marL="0" indent="0">
              <a:buNone/>
            </a:pPr>
            <a:r>
              <a:rPr lang="en-US" sz="1200" dirty="0">
                <a:solidFill>
                  <a:schemeClr val="tx1"/>
                </a:solidFill>
                <a:latin typeface="Courier New" pitchFamily="34" charset="0"/>
                <a:ea typeface="Courier New" pitchFamily="34" charset="-122"/>
                <a:cs typeface="Courier New" pitchFamily="34" charset="-120"/>
              </a:rPr>
              <a:t>- front: int</a:t>
            </a:r>
            <a:endParaRPr lang="en-US" sz="1200" dirty="0"/>
          </a:p>
          <a:p>
            <a:pPr marL="0" indent="0">
              <a:buNone/>
            </a:pPr>
            <a:r>
              <a:rPr lang="en-US" sz="1200" dirty="0">
                <a:solidFill>
                  <a:schemeClr val="tx1"/>
                </a:solidFill>
                <a:latin typeface="Courier New" pitchFamily="34" charset="0"/>
                <a:ea typeface="Courier New" pitchFamily="34" charset="-122"/>
                <a:cs typeface="Courier New" pitchFamily="34" charset="-120"/>
              </a:rPr>
              <a:t>- count: int</a:t>
            </a:r>
            <a:endParaRPr lang="en-US" sz="1200" dirty="0"/>
          </a:p>
        </p:txBody>
      </p:sp>
      <p:sp>
        <p:nvSpPr>
          <p:cNvPr id="102" name="FullEx box"/>
          <p:cNvSpPr/>
          <p:nvPr/>
        </p:nvSpPr>
        <p:spPr>
          <a:xfrm>
            <a:off x="18534888" y="5561584"/>
            <a:ext cx="1485900" cy="704088"/>
          </a:xfrm>
          <a:prstGeom prst="rect">
            <a:avLst/>
          </a:prstGeom>
          <a:solidFill>
            <a:schemeClr val="bg1"/>
          </a:solidFill>
          <a:ln w="12700">
            <a:solidFill>
              <a:schemeClr val="tx2"/>
            </a:solidFill>
            <a:prstDash val="solid"/>
          </a:ln>
        </p:spPr>
      </p:sp>
      <p:sp>
        <p:nvSpPr>
          <p:cNvPr id="103" name="FullEx header"/>
          <p:cNvSpPr/>
          <p:nvPr/>
        </p:nvSpPr>
        <p:spPr>
          <a:xfrm>
            <a:off x="18534888" y="5561584"/>
            <a:ext cx="1485900" cy="384048"/>
          </a:xfrm>
          <a:prstGeom prst="rect">
            <a:avLst/>
          </a:prstGeom>
          <a:solidFill>
            <a:schemeClr val="accent2"/>
          </a:solidFill>
          <a:ln w="12700">
            <a:solidFill>
              <a:schemeClr val="tx2"/>
            </a:solidFill>
            <a:prstDash val="solid"/>
          </a:ln>
        </p:spPr>
      </p:sp>
      <p:sp>
        <p:nvSpPr>
          <p:cNvPr id="104" name="FullEx name"/>
          <p:cNvSpPr txBox="1"/>
          <p:nvPr/>
        </p:nvSpPr>
        <p:spPr>
          <a:xfrm>
            <a:off x="18534888" y="5561584"/>
            <a:ext cx="1485900" cy="384048"/>
          </a:xfrm>
          <a:prstGeom prst="rect">
            <a:avLst/>
          </a:prstGeom>
          <a:noFill/>
          <a:ln/>
        </p:spPr>
        <p:txBody>
          <a:bodyPr wrap="square" lIns="0" tIns="0" rIns="0" bIns="0" rtlCol="0" anchor="ctr"/>
          <a:lstStyle/>
          <a:p>
            <a:pPr marL="0" indent="0" algn="ctr">
              <a:buNone/>
            </a:pPr>
            <a:r>
              <a:rPr lang="en-US" sz="1350" b="1" dirty="0">
                <a:solidFill>
                  <a:schemeClr val="bg1"/>
                </a:solidFill>
              </a:rPr>
              <a:t>StorageFull</a:t>
            </a:r>
            <a:endParaRPr lang="en-US" sz="1350" dirty="0"/>
          </a:p>
        </p:txBody>
      </p:sp>
      <p:sp>
        <p:nvSpPr>
          <p:cNvPr id="105" name="FullEx members"/>
          <p:cNvSpPr txBox="1"/>
          <p:nvPr/>
        </p:nvSpPr>
        <p:spPr>
          <a:xfrm>
            <a:off x="18653760" y="6003036"/>
            <a:ext cx="1266444" cy="320040"/>
          </a:xfrm>
          <a:prstGeom prst="rect">
            <a:avLst/>
          </a:prstGeom>
          <a:noFill/>
          <a:ln/>
        </p:spPr>
        <p:txBody>
          <a:bodyPr wrap="square" lIns="0" tIns="0" rIns="0" bIns="0" rtlCol="0" anchor="t"/>
          <a:lstStyle/>
          <a:p>
            <a:pPr marL="0" indent="0" algn="ctr">
              <a:buNone/>
            </a:pPr>
            <a:r>
              <a:rPr lang="en-US" sz="1200" dirty="0">
                <a:solidFill>
                  <a:schemeClr val="tx1"/>
                </a:solidFill>
                <a:latin typeface="Courier New" pitchFamily="34" charset="0"/>
                <a:ea typeface="Courier New" pitchFamily="34" charset="-122"/>
                <a:cs typeface="Courier New" pitchFamily="34" charset="-120"/>
              </a:rPr>
              <a:t>Exception</a:t>
            </a:r>
            <a:endParaRPr lang="en-US" sz="1200" dirty="0"/>
          </a:p>
        </p:txBody>
      </p:sp>
      <p:sp>
        <p:nvSpPr>
          <p:cNvPr id="106" name="EmptyEx box"/>
          <p:cNvSpPr/>
          <p:nvPr/>
        </p:nvSpPr>
        <p:spPr>
          <a:xfrm>
            <a:off x="20157948" y="5561584"/>
            <a:ext cx="1485900" cy="704088"/>
          </a:xfrm>
          <a:prstGeom prst="rect">
            <a:avLst/>
          </a:prstGeom>
          <a:solidFill>
            <a:schemeClr val="bg1"/>
          </a:solidFill>
          <a:ln w="12700">
            <a:solidFill>
              <a:schemeClr val="tx2"/>
            </a:solidFill>
            <a:prstDash val="solid"/>
          </a:ln>
        </p:spPr>
      </p:sp>
      <p:sp>
        <p:nvSpPr>
          <p:cNvPr id="107" name="EmptyEx header"/>
          <p:cNvSpPr/>
          <p:nvPr/>
        </p:nvSpPr>
        <p:spPr>
          <a:xfrm>
            <a:off x="20157948" y="5561584"/>
            <a:ext cx="1485900" cy="384048"/>
          </a:xfrm>
          <a:prstGeom prst="rect">
            <a:avLst/>
          </a:prstGeom>
          <a:solidFill>
            <a:schemeClr val="accent2"/>
          </a:solidFill>
          <a:ln w="12700">
            <a:solidFill>
              <a:schemeClr val="tx2"/>
            </a:solidFill>
            <a:prstDash val="solid"/>
          </a:ln>
        </p:spPr>
      </p:sp>
      <p:sp>
        <p:nvSpPr>
          <p:cNvPr id="108" name="EmptyEx name"/>
          <p:cNvSpPr txBox="1"/>
          <p:nvPr/>
        </p:nvSpPr>
        <p:spPr>
          <a:xfrm>
            <a:off x="20157948" y="5561584"/>
            <a:ext cx="1485900" cy="384048"/>
          </a:xfrm>
          <a:prstGeom prst="rect">
            <a:avLst/>
          </a:prstGeom>
          <a:noFill/>
          <a:ln/>
        </p:spPr>
        <p:txBody>
          <a:bodyPr wrap="square" lIns="0" tIns="0" rIns="0" bIns="0" rtlCol="0" anchor="ctr"/>
          <a:lstStyle/>
          <a:p>
            <a:pPr marL="0" indent="0" algn="ctr">
              <a:buNone/>
            </a:pPr>
            <a:r>
              <a:rPr lang="en-US" sz="1350" b="1" dirty="0">
                <a:solidFill>
                  <a:schemeClr val="bg1"/>
                </a:solidFill>
              </a:rPr>
              <a:t>StorageEmpty</a:t>
            </a:r>
            <a:endParaRPr lang="en-US" sz="1350" dirty="0"/>
          </a:p>
        </p:txBody>
      </p:sp>
      <p:sp>
        <p:nvSpPr>
          <p:cNvPr id="109" name="EmptyEx members"/>
          <p:cNvSpPr txBox="1"/>
          <p:nvPr/>
        </p:nvSpPr>
        <p:spPr>
          <a:xfrm>
            <a:off x="20240244" y="6003036"/>
            <a:ext cx="1339596" cy="265176"/>
          </a:xfrm>
          <a:prstGeom prst="rect">
            <a:avLst/>
          </a:prstGeom>
          <a:noFill/>
          <a:ln/>
        </p:spPr>
        <p:txBody>
          <a:bodyPr wrap="square" lIns="0" tIns="0" rIns="0" bIns="0" rtlCol="0" anchor="t"/>
          <a:lstStyle/>
          <a:p>
            <a:pPr marL="0" indent="0" algn="ctr">
              <a:buNone/>
            </a:pPr>
            <a:r>
              <a:rPr lang="en-US" sz="1200" dirty="0">
                <a:solidFill>
                  <a:schemeClr val="tx1"/>
                </a:solidFill>
                <a:latin typeface="Courier New" pitchFamily="34" charset="0"/>
                <a:ea typeface="Courier New" pitchFamily="34" charset="-122"/>
                <a:cs typeface="Courier New" pitchFamily="34" charset="-120"/>
              </a:rPr>
              <a:t>Exception</a:t>
            </a:r>
            <a:endParaRPr lang="en-US" sz="1200" dirty="0"/>
          </a:p>
        </p:txBody>
      </p:sp>
      <p:sp>
        <p:nvSpPr>
          <p:cNvPr id="110" name="FoodItem box"/>
          <p:cNvSpPr/>
          <p:nvPr/>
        </p:nvSpPr>
        <p:spPr>
          <a:xfrm>
            <a:off x="14840712" y="7088632"/>
            <a:ext cx="3108960" cy="1161288"/>
          </a:xfrm>
          <a:prstGeom prst="rect">
            <a:avLst/>
          </a:prstGeom>
          <a:solidFill>
            <a:schemeClr val="bg1"/>
          </a:solidFill>
          <a:ln w="12700">
            <a:solidFill>
              <a:schemeClr val="tx2"/>
            </a:solidFill>
            <a:prstDash val="solid"/>
          </a:ln>
        </p:spPr>
      </p:sp>
      <p:sp>
        <p:nvSpPr>
          <p:cNvPr id="111" name="FoodItem header"/>
          <p:cNvSpPr/>
          <p:nvPr/>
        </p:nvSpPr>
        <p:spPr>
          <a:xfrm>
            <a:off x="14840712" y="7088632"/>
            <a:ext cx="3108960" cy="384048"/>
          </a:xfrm>
          <a:prstGeom prst="rect">
            <a:avLst/>
          </a:prstGeom>
          <a:solidFill>
            <a:schemeClr val="accent3"/>
          </a:solidFill>
          <a:ln w="12700">
            <a:solidFill>
              <a:schemeClr val="tx2"/>
            </a:solidFill>
            <a:prstDash val="solid"/>
          </a:ln>
        </p:spPr>
      </p:sp>
      <p:sp>
        <p:nvSpPr>
          <p:cNvPr id="112" name="FoodItem name"/>
          <p:cNvSpPr txBox="1"/>
          <p:nvPr/>
        </p:nvSpPr>
        <p:spPr>
          <a:xfrm>
            <a:off x="14840712" y="7088632"/>
            <a:ext cx="3108960" cy="384048"/>
          </a:xfrm>
          <a:prstGeom prst="rect">
            <a:avLst/>
          </a:prstGeom>
          <a:noFill/>
          <a:ln/>
        </p:spPr>
        <p:txBody>
          <a:bodyPr wrap="square" lIns="0" tIns="0" rIns="0" bIns="0" rtlCol="0" anchor="ctr"/>
          <a:lstStyle/>
          <a:p>
            <a:pPr marL="0" indent="0" algn="ctr">
              <a:buNone/>
            </a:pPr>
            <a:r>
              <a:rPr lang="en-US" sz="1350" b="1" dirty="0">
                <a:solidFill>
                  <a:schemeClr val="bg1"/>
                </a:solidFill>
              </a:rPr>
              <a:t>FoodItem</a:t>
            </a:r>
            <a:endParaRPr lang="en-US" sz="1350" dirty="0"/>
          </a:p>
        </p:txBody>
      </p:sp>
      <p:sp>
        <p:nvSpPr>
          <p:cNvPr id="113" name="FoodItem members"/>
          <p:cNvSpPr txBox="1"/>
          <p:nvPr/>
        </p:nvSpPr>
        <p:spPr>
          <a:xfrm>
            <a:off x="14984730" y="7593076"/>
            <a:ext cx="2891789" cy="534924"/>
          </a:xfrm>
          <a:prstGeom prst="rect">
            <a:avLst/>
          </a:prstGeom>
          <a:noFill/>
          <a:ln/>
        </p:spPr>
        <p:txBody>
          <a:bodyPr wrap="square" lIns="0" tIns="0" rIns="0" bIns="0" rtlCol="0" anchor="t"/>
          <a:lstStyle/>
          <a:p>
            <a:pPr marL="0" indent="0">
              <a:buNone/>
            </a:pPr>
            <a:r>
              <a:rPr lang="en-US" sz="1200" dirty="0">
                <a:solidFill>
                  <a:schemeClr val="tx1"/>
                </a:solidFill>
                <a:latin typeface="Courier New" pitchFamily="34" charset="0"/>
                <a:ea typeface="Courier New" pitchFamily="34" charset="-122"/>
                <a:cs typeface="Courier New" pitchFamily="34" charset="-120"/>
              </a:rPr>
              <a:t>- name, weight</a:t>
            </a:r>
            <a:endParaRPr lang="en-US" sz="1200" dirty="0"/>
          </a:p>
          <a:p>
            <a:pPr marL="0" indent="0">
              <a:buNone/>
            </a:pPr>
            <a:r>
              <a:rPr lang="en-US" sz="1200" dirty="0">
                <a:solidFill>
                  <a:schemeClr val="tx1"/>
                </a:solidFill>
                <a:latin typeface="Courier New" pitchFamily="34" charset="0"/>
                <a:ea typeface="Courier New" pitchFamily="34" charset="-122"/>
                <a:cs typeface="Courier New" pitchFamily="34" charset="-120"/>
              </a:rPr>
              <a:t>- bestBefore, timeAdded</a:t>
            </a:r>
            <a:endParaRPr lang="en-US" sz="1200" dirty="0"/>
          </a:p>
          <a:p>
            <a:pPr marL="0" indent="0">
              <a:buNone/>
            </a:pPr>
            <a:r>
              <a:rPr lang="en-US" sz="1200" dirty="0">
                <a:solidFill>
                  <a:schemeClr val="tx1"/>
                </a:solidFill>
                <a:latin typeface="Courier New" pitchFamily="34" charset="0"/>
                <a:ea typeface="Courier New" pitchFamily="34" charset="-122"/>
                <a:cs typeface="Courier New" pitchFamily="34" charset="-120"/>
              </a:rPr>
              <a:t>+ isValidName()</a:t>
            </a:r>
            <a:endParaRPr lang="en-US" sz="1200" dirty="0"/>
          </a:p>
        </p:txBody>
      </p:sp>
      <p:sp>
        <p:nvSpPr>
          <p:cNvPr id="114" name="App box"/>
          <p:cNvSpPr/>
          <p:nvPr/>
        </p:nvSpPr>
        <p:spPr>
          <a:xfrm>
            <a:off x="18534888" y="7088632"/>
            <a:ext cx="3108960" cy="704088"/>
          </a:xfrm>
          <a:prstGeom prst="rect">
            <a:avLst/>
          </a:prstGeom>
          <a:solidFill>
            <a:schemeClr val="bg1"/>
          </a:solidFill>
          <a:ln w="12700">
            <a:solidFill>
              <a:schemeClr val="tx2"/>
            </a:solidFill>
            <a:prstDash val="solid"/>
          </a:ln>
        </p:spPr>
      </p:sp>
      <p:sp>
        <p:nvSpPr>
          <p:cNvPr id="115" name="App header"/>
          <p:cNvSpPr/>
          <p:nvPr/>
        </p:nvSpPr>
        <p:spPr>
          <a:xfrm>
            <a:off x="18534888" y="7088632"/>
            <a:ext cx="3108960" cy="384048"/>
          </a:xfrm>
          <a:prstGeom prst="rect">
            <a:avLst/>
          </a:prstGeom>
          <a:solidFill>
            <a:schemeClr val="tx2"/>
          </a:solidFill>
          <a:ln w="12700">
            <a:solidFill>
              <a:schemeClr val="tx2"/>
            </a:solidFill>
            <a:prstDash val="solid"/>
          </a:ln>
        </p:spPr>
      </p:sp>
      <p:sp>
        <p:nvSpPr>
          <p:cNvPr id="116" name="App name"/>
          <p:cNvSpPr txBox="1"/>
          <p:nvPr/>
        </p:nvSpPr>
        <p:spPr>
          <a:xfrm>
            <a:off x="18534888" y="7088632"/>
            <a:ext cx="3108960" cy="384048"/>
          </a:xfrm>
          <a:prstGeom prst="rect">
            <a:avLst/>
          </a:prstGeom>
          <a:noFill/>
          <a:ln/>
        </p:spPr>
        <p:txBody>
          <a:bodyPr wrap="square" lIns="0" tIns="0" rIns="0" bIns="0" rtlCol="0" anchor="ctr"/>
          <a:lstStyle/>
          <a:p>
            <a:pPr marL="0" indent="0" algn="ctr">
              <a:buNone/>
            </a:pPr>
            <a:r>
              <a:rPr lang="en-US" sz="1350" b="1" dirty="0">
                <a:solidFill>
                  <a:schemeClr val="bg1"/>
                </a:solidFill>
              </a:rPr>
              <a:t>FoodStorageApp</a:t>
            </a:r>
            <a:endParaRPr lang="en-US" sz="1350" dirty="0"/>
          </a:p>
        </p:txBody>
      </p:sp>
      <p:sp>
        <p:nvSpPr>
          <p:cNvPr id="117" name="App members"/>
          <p:cNvSpPr txBox="1"/>
          <p:nvPr/>
        </p:nvSpPr>
        <p:spPr>
          <a:xfrm>
            <a:off x="18681192" y="7545832"/>
            <a:ext cx="2889504" cy="228600"/>
          </a:xfrm>
          <a:prstGeom prst="rect">
            <a:avLst/>
          </a:prstGeom>
          <a:noFill/>
          <a:ln/>
        </p:spPr>
        <p:txBody>
          <a:bodyPr wrap="square" lIns="0" tIns="0" rIns="0" bIns="0" rtlCol="0" anchor="t"/>
          <a:lstStyle/>
          <a:p>
            <a:pPr marL="0" indent="0">
              <a:buNone/>
            </a:pPr>
            <a:r>
              <a:rPr lang="en-US" sz="1200" dirty="0">
                <a:solidFill>
                  <a:schemeClr val="tx1"/>
                </a:solidFill>
                <a:latin typeface="Courier New" pitchFamily="34" charset="0"/>
                <a:ea typeface="Courier New" pitchFamily="34" charset="-122"/>
                <a:cs typeface="Courier New" pitchFamily="34" charset="-120"/>
              </a:rPr>
              <a:t>+ main(): menu</a:t>
            </a:r>
            <a:endParaRPr lang="en-US" sz="1200" dirty="0"/>
          </a:p>
        </p:txBody>
      </p:sp>
      <p:sp>
        <p:nvSpPr>
          <p:cNvPr id="118" name="Implements arrow"/>
          <p:cNvSpPr/>
          <p:nvPr/>
        </p:nvSpPr>
        <p:spPr>
          <a:xfrm flipV="1">
            <a:off x="16395192" y="4921504"/>
            <a:ext cx="0" cy="502920"/>
          </a:xfrm>
          <a:prstGeom prst="line">
            <a:avLst/>
          </a:prstGeom>
          <a:noFill/>
          <a:ln w="19050">
            <a:solidFill>
              <a:schemeClr val="tx2"/>
            </a:solidFill>
            <a:prstDash val="dash"/>
            <a:tailEnd type="triangle"/>
          </a:ln>
        </p:spPr>
      </p:sp>
      <p:sp>
        <p:nvSpPr>
          <p:cNvPr id="119" name="Implements arrow label"/>
          <p:cNvSpPr txBox="1"/>
          <p:nvPr/>
        </p:nvSpPr>
        <p:spPr>
          <a:xfrm>
            <a:off x="16486632" y="5040376"/>
            <a:ext cx="1097280" cy="228600"/>
          </a:xfrm>
          <a:prstGeom prst="rect">
            <a:avLst/>
          </a:prstGeom>
          <a:noFill/>
          <a:ln/>
        </p:spPr>
        <p:txBody>
          <a:bodyPr wrap="square" lIns="0" tIns="0" rIns="0" bIns="0" rtlCol="0" anchor="ctr"/>
          <a:lstStyle/>
          <a:p>
            <a:pPr marL="0" indent="0">
              <a:buNone/>
            </a:pPr>
            <a:r>
              <a:rPr lang="en-US" sz="1100" i="1" dirty="0">
                <a:solidFill>
                  <a:schemeClr val="accent6"/>
                </a:solidFill>
              </a:rPr>
              <a:t>implements</a:t>
            </a:r>
            <a:endParaRPr lang="en-US" sz="1100" dirty="0"/>
          </a:p>
        </p:txBody>
      </p:sp>
      <p:sp>
        <p:nvSpPr>
          <p:cNvPr id="120" name="Stores arrow"/>
          <p:cNvSpPr/>
          <p:nvPr/>
        </p:nvSpPr>
        <p:spPr>
          <a:xfrm>
            <a:off x="16395192" y="6585712"/>
            <a:ext cx="0" cy="502920"/>
          </a:xfrm>
          <a:prstGeom prst="line">
            <a:avLst/>
          </a:prstGeom>
          <a:noFill/>
          <a:ln w="19050">
            <a:solidFill>
              <a:schemeClr val="tx2"/>
            </a:solidFill>
            <a:prstDash val="solid"/>
            <a:tailEnd type="triangle"/>
          </a:ln>
        </p:spPr>
      </p:sp>
      <p:sp>
        <p:nvSpPr>
          <p:cNvPr id="121" name="Stores arrow label"/>
          <p:cNvSpPr txBox="1"/>
          <p:nvPr/>
        </p:nvSpPr>
        <p:spPr>
          <a:xfrm>
            <a:off x="16486632" y="6704584"/>
            <a:ext cx="1097280" cy="228600"/>
          </a:xfrm>
          <a:prstGeom prst="rect">
            <a:avLst/>
          </a:prstGeom>
          <a:noFill/>
          <a:ln/>
        </p:spPr>
        <p:txBody>
          <a:bodyPr wrap="square" lIns="0" tIns="0" rIns="0" bIns="0" rtlCol="0" anchor="ctr"/>
          <a:lstStyle/>
          <a:p>
            <a:pPr marL="0" indent="0">
              <a:buNone/>
            </a:pPr>
            <a:r>
              <a:rPr lang="en-US" sz="1100" i="1" dirty="0">
                <a:solidFill>
                  <a:schemeClr val="accent6"/>
                </a:solidFill>
              </a:rPr>
              <a:t>stores 0..</a:t>
            </a:r>
            <a:r>
              <a:rPr lang="en-DE" sz="1100" i="1" dirty="0">
                <a:solidFill>
                  <a:schemeClr val="accent6"/>
                </a:solidFill>
              </a:rPr>
              <a:t>.</a:t>
            </a:r>
            <a:r>
              <a:rPr lang="en-US" sz="1100" i="1" dirty="0">
                <a:solidFill>
                  <a:schemeClr val="accent6"/>
                </a:solidFill>
              </a:rPr>
              <a:t>8</a:t>
            </a:r>
            <a:endParaRPr lang="en-US" sz="1100" dirty="0"/>
          </a:p>
        </p:txBody>
      </p:sp>
      <p:sp>
        <p:nvSpPr>
          <p:cNvPr id="122" name="Extends arrow 1"/>
          <p:cNvSpPr/>
          <p:nvPr/>
        </p:nvSpPr>
        <p:spPr>
          <a:xfrm flipV="1">
            <a:off x="19277838" y="3915664"/>
            <a:ext cx="0" cy="1645920"/>
          </a:xfrm>
          <a:prstGeom prst="line">
            <a:avLst/>
          </a:prstGeom>
          <a:noFill/>
          <a:ln w="19050">
            <a:solidFill>
              <a:schemeClr val="tx2"/>
            </a:solidFill>
            <a:prstDash val="solid"/>
            <a:tailEnd type="triangle"/>
          </a:ln>
        </p:spPr>
      </p:sp>
      <p:sp>
        <p:nvSpPr>
          <p:cNvPr id="123" name="Extends arrow 2"/>
          <p:cNvSpPr/>
          <p:nvPr/>
        </p:nvSpPr>
        <p:spPr>
          <a:xfrm flipV="1">
            <a:off x="20900898" y="3915664"/>
            <a:ext cx="0" cy="1645920"/>
          </a:xfrm>
          <a:prstGeom prst="line">
            <a:avLst/>
          </a:prstGeom>
          <a:noFill/>
          <a:ln w="19050">
            <a:solidFill>
              <a:schemeClr val="tx2"/>
            </a:solidFill>
            <a:prstDash val="solid"/>
            <a:tailEnd type="triangle"/>
          </a:ln>
        </p:spPr>
      </p:sp>
      <p:sp>
        <p:nvSpPr>
          <p:cNvPr id="124" name="Extends arrow 2 label"/>
          <p:cNvSpPr txBox="1"/>
          <p:nvPr/>
        </p:nvSpPr>
        <p:spPr>
          <a:xfrm>
            <a:off x="20992338" y="4052824"/>
            <a:ext cx="822960" cy="228600"/>
          </a:xfrm>
          <a:prstGeom prst="rect">
            <a:avLst/>
          </a:prstGeom>
          <a:noFill/>
          <a:ln/>
        </p:spPr>
        <p:txBody>
          <a:bodyPr wrap="square" lIns="0" tIns="0" rIns="0" bIns="0" rtlCol="0" anchor="ctr"/>
          <a:lstStyle/>
          <a:p>
            <a:pPr marL="0" indent="0">
              <a:buNone/>
            </a:pPr>
            <a:r>
              <a:rPr lang="en-US" sz="1100" i="1" dirty="0">
                <a:solidFill>
                  <a:schemeClr val="accent6"/>
                </a:solidFill>
              </a:rPr>
              <a:t>extends</a:t>
            </a:r>
            <a:endParaRPr lang="en-US" sz="1100" dirty="0"/>
          </a:p>
        </p:txBody>
      </p:sp>
      <p:sp>
        <p:nvSpPr>
          <p:cNvPr id="125" name="Throws arrow"/>
          <p:cNvSpPr/>
          <p:nvPr/>
        </p:nvSpPr>
        <p:spPr>
          <a:xfrm>
            <a:off x="17949672" y="5835904"/>
            <a:ext cx="585216" cy="0"/>
          </a:xfrm>
          <a:prstGeom prst="line">
            <a:avLst/>
          </a:prstGeom>
          <a:noFill/>
          <a:ln w="19050">
            <a:solidFill>
              <a:schemeClr val="tx2"/>
            </a:solidFill>
            <a:prstDash val="dash"/>
            <a:tailEnd type="triangle"/>
          </a:ln>
        </p:spPr>
      </p:sp>
      <p:sp>
        <p:nvSpPr>
          <p:cNvPr id="126" name="Throws arrow label"/>
          <p:cNvSpPr txBox="1"/>
          <p:nvPr/>
        </p:nvSpPr>
        <p:spPr>
          <a:xfrm>
            <a:off x="18041112" y="5561584"/>
            <a:ext cx="640080" cy="228600"/>
          </a:xfrm>
          <a:prstGeom prst="rect">
            <a:avLst/>
          </a:prstGeom>
          <a:noFill/>
          <a:ln/>
        </p:spPr>
        <p:txBody>
          <a:bodyPr wrap="square" lIns="0" tIns="0" rIns="0" bIns="0" rtlCol="0" anchor="ctr"/>
          <a:lstStyle/>
          <a:p>
            <a:pPr marL="0" indent="0">
              <a:buNone/>
            </a:pPr>
            <a:r>
              <a:rPr lang="en-US" sz="1100" i="1" dirty="0">
                <a:solidFill>
                  <a:schemeClr val="accent6"/>
                </a:solidFill>
              </a:rPr>
              <a:t>throws</a:t>
            </a:r>
            <a:endParaRPr lang="en-US" sz="1100" dirty="0"/>
          </a:p>
        </p:txBody>
      </p:sp>
      <p:sp>
        <p:nvSpPr>
          <p:cNvPr id="127" name="Uses arrow"/>
          <p:cNvSpPr/>
          <p:nvPr/>
        </p:nvSpPr>
        <p:spPr>
          <a:xfrm flipH="1" flipV="1">
            <a:off x="17949672" y="6384544"/>
            <a:ext cx="585216" cy="905256"/>
          </a:xfrm>
          <a:prstGeom prst="line">
            <a:avLst/>
          </a:prstGeom>
          <a:noFill/>
          <a:ln w="19050">
            <a:solidFill>
              <a:schemeClr val="tx2"/>
            </a:solidFill>
            <a:prstDash val="solid"/>
            <a:tailEnd type="triangle"/>
          </a:ln>
        </p:spPr>
      </p:sp>
      <p:sp>
        <p:nvSpPr>
          <p:cNvPr id="128" name="Uses arrow label"/>
          <p:cNvSpPr txBox="1"/>
          <p:nvPr/>
        </p:nvSpPr>
        <p:spPr>
          <a:xfrm>
            <a:off x="18352008" y="6711188"/>
            <a:ext cx="548640" cy="228600"/>
          </a:xfrm>
          <a:prstGeom prst="rect">
            <a:avLst/>
          </a:prstGeom>
          <a:noFill/>
          <a:ln/>
        </p:spPr>
        <p:txBody>
          <a:bodyPr wrap="square" lIns="0" tIns="0" rIns="0" bIns="0" rtlCol="0" anchor="ctr"/>
          <a:lstStyle/>
          <a:p>
            <a:pPr marL="0" indent="0">
              <a:buNone/>
            </a:pPr>
            <a:r>
              <a:rPr lang="en-US" sz="1100" i="1" dirty="0">
                <a:solidFill>
                  <a:schemeClr val="accent6"/>
                </a:solidFill>
              </a:rPr>
              <a:t>uses</a:t>
            </a:r>
            <a:endParaRPr lang="en-US" sz="1100" dirty="0"/>
          </a:p>
        </p:txBody>
      </p:sp>
      <p:sp>
        <p:nvSpPr>
          <p:cNvPr id="129" name="OOP note"/>
          <p:cNvSpPr txBox="1"/>
          <p:nvPr/>
        </p:nvSpPr>
        <p:spPr>
          <a:xfrm>
            <a:off x="14840712" y="8583168"/>
            <a:ext cx="6803136" cy="1005840"/>
          </a:xfrm>
          <a:prstGeom prst="rect">
            <a:avLst/>
          </a:prstGeom>
          <a:noFill/>
          <a:ln/>
        </p:spPr>
        <p:txBody>
          <a:bodyPr wrap="square" lIns="0" tIns="0" rIns="0" bIns="0" rtlCol="0" anchor="t"/>
          <a:lstStyle/>
          <a:p>
            <a:pPr marL="0" indent="0" algn="just">
              <a:buNone/>
            </a:pPr>
            <a:r>
              <a:rPr lang="en-GB" sz="1400" dirty="0" err="1">
                <a:solidFill>
                  <a:schemeClr val="tx1"/>
                </a:solidFill>
              </a:rPr>
              <a:t>FoodItem</a:t>
            </a:r>
            <a:r>
              <a:rPr lang="en-GB" sz="1400" dirty="0">
                <a:solidFill>
                  <a:schemeClr val="tx1"/>
                </a:solidFill>
              </a:rPr>
              <a:t> stores the food details using private fields and getters (encapsulation). </a:t>
            </a:r>
            <a:r>
              <a:rPr lang="en-GB" sz="1400" dirty="0" err="1">
                <a:solidFill>
                  <a:schemeClr val="tx1"/>
                </a:solidFill>
              </a:rPr>
              <a:t>StorageInterface</a:t>
            </a:r>
            <a:r>
              <a:rPr lang="en-GB" sz="1400" dirty="0">
                <a:solidFill>
                  <a:schemeClr val="tx1"/>
                </a:solidFill>
              </a:rPr>
              <a:t> defines the required operations (abstraction), while </a:t>
            </a:r>
            <a:r>
              <a:rPr lang="en-GB" sz="1400" dirty="0" err="1">
                <a:solidFill>
                  <a:schemeClr val="tx1"/>
                </a:solidFill>
              </a:rPr>
              <a:t>QueueStorage</a:t>
            </a:r>
            <a:r>
              <a:rPr lang="en-GB" sz="1400" dirty="0">
                <a:solidFill>
                  <a:schemeClr val="tx1"/>
                </a:solidFill>
              </a:rPr>
              <a:t> implements them. Custom exceptions handle full and empty storage, and </a:t>
            </a:r>
            <a:r>
              <a:rPr lang="en-GB" sz="1400" dirty="0" err="1">
                <a:solidFill>
                  <a:schemeClr val="tx1"/>
                </a:solidFill>
              </a:rPr>
              <a:t>FoodStorageApp</a:t>
            </a:r>
            <a:r>
              <a:rPr lang="en-GB" sz="1400" dirty="0">
                <a:solidFill>
                  <a:schemeClr val="tx1"/>
                </a:solidFill>
              </a:rPr>
              <a:t> provides the user menu.</a:t>
            </a:r>
            <a:endParaRPr lang="en-US" sz="1400" dirty="0"/>
          </a:p>
        </p:txBody>
      </p:sp>
      <p:sp>
        <p:nvSpPr>
          <p:cNvPr id="130" name="Complexity card"/>
          <p:cNvSpPr/>
          <p:nvPr/>
        </p:nvSpPr>
        <p:spPr>
          <a:xfrm>
            <a:off x="14584680" y="9973563"/>
            <a:ext cx="7315200" cy="4675124"/>
          </a:xfrm>
          <a:prstGeom prst="roundRect">
            <a:avLst>
              <a:gd name="adj" fmla="val 2607"/>
            </a:avLst>
          </a:prstGeom>
          <a:solidFill>
            <a:srgbClr val="FFF3DE"/>
          </a:solidFill>
          <a:ln/>
        </p:spPr>
        <p:txBody>
          <a:bodyPr/>
          <a:lstStyle/>
          <a:p>
            <a:endParaRPr lang="en-IE" dirty="0"/>
          </a:p>
        </p:txBody>
      </p:sp>
      <p:sp>
        <p:nvSpPr>
          <p:cNvPr id="131" name="Complexity badge"/>
          <p:cNvSpPr/>
          <p:nvPr/>
        </p:nvSpPr>
        <p:spPr>
          <a:xfrm>
            <a:off x="14767560" y="10190044"/>
            <a:ext cx="402336" cy="402336"/>
          </a:xfrm>
          <a:prstGeom prst="ellipse">
            <a:avLst/>
          </a:prstGeom>
          <a:solidFill>
            <a:schemeClr val="accent1"/>
          </a:solidFill>
          <a:ln/>
        </p:spPr>
      </p:sp>
      <p:sp>
        <p:nvSpPr>
          <p:cNvPr id="132" name="Complexity number"/>
          <p:cNvSpPr txBox="1"/>
          <p:nvPr/>
        </p:nvSpPr>
        <p:spPr>
          <a:xfrm>
            <a:off x="14767560" y="10190044"/>
            <a:ext cx="402336" cy="402336"/>
          </a:xfrm>
          <a:prstGeom prst="rect">
            <a:avLst/>
          </a:prstGeom>
          <a:noFill/>
          <a:ln/>
        </p:spPr>
        <p:txBody>
          <a:bodyPr wrap="square" lIns="0" tIns="0" rIns="0" bIns="0" rtlCol="0" anchor="ctr"/>
          <a:lstStyle/>
          <a:p>
            <a:pPr marL="0" indent="0" algn="ctr">
              <a:buNone/>
            </a:pPr>
            <a:r>
              <a:rPr lang="en-US" sz="1600" b="1" dirty="0">
                <a:solidFill>
                  <a:schemeClr val="bg1"/>
                </a:solidFill>
              </a:rPr>
              <a:t>7</a:t>
            </a:r>
            <a:endParaRPr lang="en-US" sz="1600" dirty="0"/>
          </a:p>
        </p:txBody>
      </p:sp>
      <p:sp>
        <p:nvSpPr>
          <p:cNvPr id="133" name="Complexity heading"/>
          <p:cNvSpPr txBox="1"/>
          <p:nvPr/>
        </p:nvSpPr>
        <p:spPr>
          <a:xfrm>
            <a:off x="15316200" y="10171756"/>
            <a:ext cx="6254496" cy="438912"/>
          </a:xfrm>
          <a:prstGeom prst="rect">
            <a:avLst/>
          </a:prstGeom>
          <a:noFill/>
          <a:ln/>
        </p:spPr>
        <p:txBody>
          <a:bodyPr wrap="square" lIns="0" tIns="0" rIns="0" bIns="0" rtlCol="0" anchor="ctr"/>
          <a:lstStyle/>
          <a:p>
            <a:pPr marL="0" indent="0">
              <a:buNone/>
            </a:pPr>
            <a:r>
              <a:rPr lang="en-US" sz="2300" b="1" dirty="0">
                <a:solidFill>
                  <a:schemeClr val="tx2"/>
                </a:solidFill>
                <a:latin typeface="Franklin Gothic Medium" panose="020B0603020102020204" pitchFamily="34" charset="0"/>
                <a:ea typeface="Cambria" pitchFamily="34" charset="-122"/>
                <a:cs typeface="Lucida Sans Unicode" panose="020B0602030504020204" pitchFamily="34" charset="0"/>
              </a:rPr>
              <a:t>Time Complexity</a:t>
            </a:r>
            <a:endParaRPr lang="en-US" sz="2300" dirty="0">
              <a:latin typeface="Franklin Gothic Medium" panose="020B0603020102020204" pitchFamily="34" charset="0"/>
              <a:cs typeface="Lucida Sans Unicode" panose="020B0602030504020204" pitchFamily="34" charset="0"/>
            </a:endParaRPr>
          </a:p>
        </p:txBody>
      </p:sp>
      <p:graphicFrame>
        <p:nvGraphicFramePr>
          <p:cNvPr id="134" name="Complexity table"/>
          <p:cNvGraphicFramePr>
            <a:graphicFrameLocks noGrp="1"/>
          </p:cNvGraphicFramePr>
          <p:nvPr>
            <p:extLst>
              <p:ext uri="{D42A27DB-BD31-4B8C-83A1-F6EECF244321}">
                <p14:modId xmlns:p14="http://schemas.microsoft.com/office/powerpoint/2010/main" val="1643098466"/>
              </p:ext>
            </p:extLst>
          </p:nvPr>
        </p:nvGraphicFramePr>
        <p:xfrm>
          <a:off x="14840712" y="10826531"/>
          <a:ext cx="6803136" cy="2268000"/>
        </p:xfrm>
        <a:graphic>
          <a:graphicData uri="http://schemas.openxmlformats.org/drawingml/2006/table">
            <a:tbl>
              <a:tblPr/>
              <a:tblGrid>
                <a:gridCol w="1791208">
                  <a:extLst>
                    <a:ext uri="{9D8B030D-6E8A-4147-A177-3AD203B41FA5}">
                      <a16:colId xmlns:a16="http://schemas.microsoft.com/office/drawing/2014/main" val="20000"/>
                    </a:ext>
                  </a:extLst>
                </a:gridCol>
                <a:gridCol w="2698862">
                  <a:extLst>
                    <a:ext uri="{9D8B030D-6E8A-4147-A177-3AD203B41FA5}">
                      <a16:colId xmlns:a16="http://schemas.microsoft.com/office/drawing/2014/main" val="20001"/>
                    </a:ext>
                  </a:extLst>
                </a:gridCol>
                <a:gridCol w="1156533">
                  <a:extLst>
                    <a:ext uri="{9D8B030D-6E8A-4147-A177-3AD203B41FA5}">
                      <a16:colId xmlns:a16="http://schemas.microsoft.com/office/drawing/2014/main" val="20002"/>
                    </a:ext>
                  </a:extLst>
                </a:gridCol>
                <a:gridCol w="1156533">
                  <a:extLst>
                    <a:ext uri="{9D8B030D-6E8A-4147-A177-3AD203B41FA5}">
                      <a16:colId xmlns:a16="http://schemas.microsoft.com/office/drawing/2014/main" val="20003"/>
                    </a:ext>
                  </a:extLst>
                </a:gridCol>
              </a:tblGrid>
              <a:tr h="324000">
                <a:tc>
                  <a:txBody>
                    <a:bodyPr/>
                    <a:lstStyle/>
                    <a:p>
                      <a:pPr marL="0" indent="0">
                        <a:buNone/>
                      </a:pPr>
                      <a:r>
                        <a:rPr lang="en-US" sz="1200" b="1" dirty="0">
                          <a:solidFill>
                            <a:schemeClr val="bg1"/>
                          </a:solidFill>
                          <a:latin typeface="+mn-lt"/>
                          <a:ea typeface="Calibri" pitchFamily="34" charset="-122"/>
                          <a:cs typeface="Calibri" pitchFamily="34" charset="-120"/>
                        </a:rPr>
                        <a:t>Operation</a:t>
                      </a:r>
                      <a:endParaRPr lang="en-US" sz="1200" dirty="0">
                        <a:latin typeface="+mn-lt"/>
                        <a:ea typeface="Calibri" charset="0"/>
                        <a:cs typeface="Calibri" charset="0"/>
                      </a:endParaRPr>
                    </a:p>
                  </a:txBody>
                  <a:tcPr marL="73152" marR="73152" marT="18288" marB="18288" anchor="ctr">
                    <a:lnL w="9525" cap="flat" cmpd="sng" algn="ctr">
                      <a:solidFill>
                        <a:srgbClr val="D5DAE0"/>
                      </a:solidFill>
                      <a:prstDash val="solid"/>
                      <a:round/>
                      <a:headEnd type="none" w="med" len="med"/>
                      <a:tailEnd type="none" w="med" len="med"/>
                    </a:lnL>
                    <a:lnR w="9525" cap="flat" cmpd="sng" algn="ctr">
                      <a:solidFill>
                        <a:srgbClr val="D5DAE0"/>
                      </a:solidFill>
                      <a:prstDash val="solid"/>
                      <a:round/>
                      <a:headEnd type="none" w="med" len="med"/>
                      <a:tailEnd type="none" w="med" len="med"/>
                    </a:lnR>
                    <a:lnT w="9525" cap="flat" cmpd="sng" algn="ctr">
                      <a:solidFill>
                        <a:srgbClr val="D5DAE0"/>
                      </a:solidFill>
                      <a:prstDash val="solid"/>
                      <a:round/>
                      <a:headEnd type="none" w="med" len="med"/>
                      <a:tailEnd type="none" w="med" len="med"/>
                    </a:lnT>
                    <a:lnB w="9525" cap="flat" cmpd="sng" algn="ctr">
                      <a:solidFill>
                        <a:srgbClr val="D5DAE0"/>
                      </a:solidFill>
                      <a:prstDash val="solid"/>
                      <a:round/>
                      <a:headEnd type="none" w="med" len="med"/>
                      <a:tailEnd type="none" w="med" len="med"/>
                    </a:lnB>
                    <a:solidFill>
                      <a:schemeClr val="tx2"/>
                    </a:solidFill>
                  </a:tcPr>
                </a:tc>
                <a:tc>
                  <a:txBody>
                    <a:bodyPr/>
                    <a:lstStyle/>
                    <a:p>
                      <a:pPr marL="0" indent="0">
                        <a:buNone/>
                      </a:pPr>
                      <a:r>
                        <a:rPr lang="en-US" sz="1200" b="1" dirty="0">
                          <a:solidFill>
                            <a:schemeClr val="bg1"/>
                          </a:solidFill>
                          <a:latin typeface="+mn-lt"/>
                          <a:ea typeface="Calibri" pitchFamily="34" charset="-122"/>
                          <a:cs typeface="Calibri" pitchFamily="34" charset="-120"/>
                        </a:rPr>
                        <a:t>Method</a:t>
                      </a:r>
                      <a:endParaRPr lang="en-US" sz="1200" dirty="0">
                        <a:latin typeface="+mn-lt"/>
                        <a:ea typeface="Calibri" charset="0"/>
                        <a:cs typeface="Calibri" charset="0"/>
                      </a:endParaRPr>
                    </a:p>
                  </a:txBody>
                  <a:tcPr marL="73152" marR="73152" marT="18288" marB="18288" anchor="ctr">
                    <a:lnL w="9525" cap="flat" cmpd="sng" algn="ctr">
                      <a:solidFill>
                        <a:srgbClr val="D5DAE0"/>
                      </a:solidFill>
                      <a:prstDash val="solid"/>
                      <a:round/>
                      <a:headEnd type="none" w="med" len="med"/>
                      <a:tailEnd type="none" w="med" len="med"/>
                    </a:lnL>
                    <a:lnR w="9525" cap="flat" cmpd="sng" algn="ctr">
                      <a:solidFill>
                        <a:srgbClr val="D5DAE0"/>
                      </a:solidFill>
                      <a:prstDash val="solid"/>
                      <a:round/>
                      <a:headEnd type="none" w="med" len="med"/>
                      <a:tailEnd type="none" w="med" len="med"/>
                    </a:lnR>
                    <a:lnT w="9525" cap="flat" cmpd="sng" algn="ctr">
                      <a:solidFill>
                        <a:srgbClr val="D5DAE0"/>
                      </a:solidFill>
                      <a:prstDash val="solid"/>
                      <a:round/>
                      <a:headEnd type="none" w="med" len="med"/>
                      <a:tailEnd type="none" w="med" len="med"/>
                    </a:lnT>
                    <a:lnB w="9525" cap="flat" cmpd="sng" algn="ctr">
                      <a:solidFill>
                        <a:srgbClr val="D5DAE0"/>
                      </a:solidFill>
                      <a:prstDash val="solid"/>
                      <a:round/>
                      <a:headEnd type="none" w="med" len="med"/>
                      <a:tailEnd type="none" w="med" len="med"/>
                    </a:lnB>
                    <a:solidFill>
                      <a:schemeClr val="tx2"/>
                    </a:solidFill>
                  </a:tcPr>
                </a:tc>
                <a:tc>
                  <a:txBody>
                    <a:bodyPr/>
                    <a:lstStyle/>
                    <a:p>
                      <a:pPr marL="0" indent="0" algn="ctr">
                        <a:buNone/>
                      </a:pPr>
                      <a:r>
                        <a:rPr lang="en-US" sz="1200" b="1" dirty="0">
                          <a:solidFill>
                            <a:schemeClr val="bg1"/>
                          </a:solidFill>
                          <a:latin typeface="+mn-lt"/>
                          <a:ea typeface="Calibri" pitchFamily="34" charset="-122"/>
                          <a:cs typeface="Calibri" pitchFamily="34" charset="-120"/>
                        </a:rPr>
                        <a:t>Best</a:t>
                      </a:r>
                      <a:endParaRPr lang="en-US" sz="1200" dirty="0">
                        <a:latin typeface="+mn-lt"/>
                        <a:ea typeface="Calibri" charset="0"/>
                        <a:cs typeface="Calibri" charset="0"/>
                      </a:endParaRPr>
                    </a:p>
                  </a:txBody>
                  <a:tcPr marL="73152" marR="73152" marT="18288" marB="18288" anchor="ctr">
                    <a:lnL w="9525" cap="flat" cmpd="sng" algn="ctr">
                      <a:solidFill>
                        <a:srgbClr val="D5DAE0"/>
                      </a:solidFill>
                      <a:prstDash val="solid"/>
                      <a:round/>
                      <a:headEnd type="none" w="med" len="med"/>
                      <a:tailEnd type="none" w="med" len="med"/>
                    </a:lnL>
                    <a:lnR w="9525" cap="flat" cmpd="sng" algn="ctr">
                      <a:solidFill>
                        <a:srgbClr val="D5DAE0"/>
                      </a:solidFill>
                      <a:prstDash val="solid"/>
                      <a:round/>
                      <a:headEnd type="none" w="med" len="med"/>
                      <a:tailEnd type="none" w="med" len="med"/>
                    </a:lnR>
                    <a:lnT w="9525" cap="flat" cmpd="sng" algn="ctr">
                      <a:solidFill>
                        <a:srgbClr val="D5DAE0"/>
                      </a:solidFill>
                      <a:prstDash val="solid"/>
                      <a:round/>
                      <a:headEnd type="none" w="med" len="med"/>
                      <a:tailEnd type="none" w="med" len="med"/>
                    </a:lnT>
                    <a:lnB w="9525" cap="flat" cmpd="sng" algn="ctr">
                      <a:solidFill>
                        <a:srgbClr val="D5DAE0"/>
                      </a:solidFill>
                      <a:prstDash val="solid"/>
                      <a:round/>
                      <a:headEnd type="none" w="med" len="med"/>
                      <a:tailEnd type="none" w="med" len="med"/>
                    </a:lnB>
                    <a:solidFill>
                      <a:schemeClr val="tx2"/>
                    </a:solidFill>
                  </a:tcPr>
                </a:tc>
                <a:tc>
                  <a:txBody>
                    <a:bodyPr/>
                    <a:lstStyle/>
                    <a:p>
                      <a:pPr marL="0" indent="0" algn="ctr">
                        <a:buNone/>
                      </a:pPr>
                      <a:r>
                        <a:rPr lang="en-US" sz="1200" b="1" dirty="0">
                          <a:solidFill>
                            <a:schemeClr val="bg1"/>
                          </a:solidFill>
                          <a:latin typeface="+mn-lt"/>
                          <a:ea typeface="Calibri" pitchFamily="34" charset="-122"/>
                          <a:cs typeface="Calibri" pitchFamily="34" charset="-120"/>
                        </a:rPr>
                        <a:t>Worst</a:t>
                      </a:r>
                      <a:endParaRPr lang="en-US" sz="1200" dirty="0">
                        <a:latin typeface="+mn-lt"/>
                        <a:ea typeface="Calibri" charset="0"/>
                        <a:cs typeface="Calibri" charset="0"/>
                      </a:endParaRPr>
                    </a:p>
                  </a:txBody>
                  <a:tcPr marL="73152" marR="73152" marT="18288" marB="18288" anchor="ctr">
                    <a:lnL w="9525" cap="flat" cmpd="sng" algn="ctr">
                      <a:solidFill>
                        <a:srgbClr val="D5DAE0"/>
                      </a:solidFill>
                      <a:prstDash val="solid"/>
                      <a:round/>
                      <a:headEnd type="none" w="med" len="med"/>
                      <a:tailEnd type="none" w="med" len="med"/>
                    </a:lnL>
                    <a:lnR w="9525" cap="flat" cmpd="sng" algn="ctr">
                      <a:solidFill>
                        <a:srgbClr val="D5DAE0"/>
                      </a:solidFill>
                      <a:prstDash val="solid"/>
                      <a:round/>
                      <a:headEnd type="none" w="med" len="med"/>
                      <a:tailEnd type="none" w="med" len="med"/>
                    </a:lnR>
                    <a:lnT w="9525" cap="flat" cmpd="sng" algn="ctr">
                      <a:solidFill>
                        <a:srgbClr val="D5DAE0"/>
                      </a:solidFill>
                      <a:prstDash val="solid"/>
                      <a:round/>
                      <a:headEnd type="none" w="med" len="med"/>
                      <a:tailEnd type="none" w="med" len="med"/>
                    </a:lnT>
                    <a:lnB w="9525" cap="flat" cmpd="sng" algn="ctr">
                      <a:solidFill>
                        <a:srgbClr val="D5DAE0"/>
                      </a:solidFill>
                      <a:prstDash val="solid"/>
                      <a:round/>
                      <a:headEnd type="none" w="med" len="med"/>
                      <a:tailEnd type="none" w="med" len="med"/>
                    </a:lnB>
                    <a:solidFill>
                      <a:schemeClr val="tx2"/>
                    </a:solidFill>
                  </a:tcPr>
                </a:tc>
                <a:extLst>
                  <a:ext uri="{0D108BD9-81ED-4DB2-BD59-A6C34878D82A}">
                    <a16:rowId xmlns:a16="http://schemas.microsoft.com/office/drawing/2014/main" val="10000"/>
                  </a:ext>
                </a:extLst>
              </a:tr>
              <a:tr h="324000">
                <a:tc>
                  <a:txBody>
                    <a:bodyPr/>
                    <a:lstStyle/>
                    <a:p>
                      <a:pPr marL="0" indent="0">
                        <a:buNone/>
                      </a:pPr>
                      <a:r>
                        <a:rPr lang="en-US" sz="1200" dirty="0">
                          <a:solidFill>
                            <a:schemeClr val="tx1"/>
                          </a:solidFill>
                          <a:latin typeface="+mn-lt"/>
                          <a:ea typeface="Calibri" pitchFamily="34" charset="-122"/>
                          <a:cs typeface="Calibri" pitchFamily="34" charset="-120"/>
                        </a:rPr>
                        <a:t>Add (enqueue)</a:t>
                      </a:r>
                      <a:endParaRPr lang="en-US" sz="1200" dirty="0">
                        <a:latin typeface="+mn-lt"/>
                        <a:ea typeface="Calibri" charset="0"/>
                        <a:cs typeface="Calibri" charset="0"/>
                      </a:endParaRPr>
                    </a:p>
                  </a:txBody>
                  <a:tcPr marL="73152" marR="73152" marT="18288" marB="18288" anchor="ctr">
                    <a:lnL w="9525" cap="flat" cmpd="sng" algn="ctr">
                      <a:solidFill>
                        <a:srgbClr val="D5DAE0"/>
                      </a:solidFill>
                      <a:prstDash val="solid"/>
                      <a:round/>
                      <a:headEnd type="none" w="med" len="med"/>
                      <a:tailEnd type="none" w="med" len="med"/>
                    </a:lnL>
                    <a:lnR w="9525" cap="flat" cmpd="sng" algn="ctr">
                      <a:solidFill>
                        <a:srgbClr val="D5DAE0"/>
                      </a:solidFill>
                      <a:prstDash val="solid"/>
                      <a:round/>
                      <a:headEnd type="none" w="med" len="med"/>
                      <a:tailEnd type="none" w="med" len="med"/>
                    </a:lnR>
                    <a:lnT w="9525" cap="flat" cmpd="sng" algn="ctr">
                      <a:solidFill>
                        <a:srgbClr val="D5DAE0"/>
                      </a:solidFill>
                      <a:prstDash val="solid"/>
                      <a:round/>
                      <a:headEnd type="none" w="med" len="med"/>
                      <a:tailEnd type="none" w="med" len="med"/>
                    </a:lnT>
                    <a:lnB w="9525" cap="flat" cmpd="sng" algn="ctr">
                      <a:solidFill>
                        <a:srgbClr val="D5DAE0"/>
                      </a:solidFill>
                      <a:prstDash val="solid"/>
                      <a:round/>
                      <a:headEnd type="none" w="med" len="med"/>
                      <a:tailEnd type="none" w="med" len="med"/>
                    </a:lnB>
                    <a:solidFill>
                      <a:schemeClr val="bg1"/>
                    </a:solidFill>
                  </a:tcPr>
                </a:tc>
                <a:tc>
                  <a:txBody>
                    <a:bodyPr/>
                    <a:lstStyle/>
                    <a:p>
                      <a:pPr marL="0" indent="0">
                        <a:buNone/>
                      </a:pPr>
                      <a:r>
                        <a:rPr lang="en-US" sz="1200" dirty="0">
                          <a:solidFill>
                            <a:schemeClr val="tx1"/>
                          </a:solidFill>
                          <a:latin typeface="Cascadia Mono SemiLight" panose="020B0609020000020004" pitchFamily="49" charset="0"/>
                          <a:ea typeface="Calibri" pitchFamily="34" charset="-122"/>
                          <a:cs typeface="Cascadia Mono SemiLight" panose="020B0609020000020004" pitchFamily="49" charset="0"/>
                        </a:rPr>
                        <a:t>add()</a:t>
                      </a:r>
                      <a:endParaRPr lang="en-US" sz="1200" dirty="0">
                        <a:latin typeface="Cascadia Mono SemiLight" panose="020B0609020000020004" pitchFamily="49" charset="0"/>
                        <a:ea typeface="Calibri" charset="0"/>
                        <a:cs typeface="Cascadia Mono SemiLight" panose="020B0609020000020004" pitchFamily="49" charset="0"/>
                      </a:endParaRPr>
                    </a:p>
                  </a:txBody>
                  <a:tcPr marL="73152" marR="73152" marT="18288" marB="18288" anchor="ctr">
                    <a:lnL w="9525" cap="flat" cmpd="sng" algn="ctr">
                      <a:solidFill>
                        <a:srgbClr val="D5DAE0"/>
                      </a:solidFill>
                      <a:prstDash val="solid"/>
                      <a:round/>
                      <a:headEnd type="none" w="med" len="med"/>
                      <a:tailEnd type="none" w="med" len="med"/>
                    </a:lnL>
                    <a:lnR w="9525" cap="flat" cmpd="sng" algn="ctr">
                      <a:solidFill>
                        <a:srgbClr val="D5DAE0"/>
                      </a:solidFill>
                      <a:prstDash val="solid"/>
                      <a:round/>
                      <a:headEnd type="none" w="med" len="med"/>
                      <a:tailEnd type="none" w="med" len="med"/>
                    </a:lnR>
                    <a:lnT w="9525" cap="flat" cmpd="sng" algn="ctr">
                      <a:solidFill>
                        <a:srgbClr val="D5DAE0"/>
                      </a:solidFill>
                      <a:prstDash val="solid"/>
                      <a:round/>
                      <a:headEnd type="none" w="med" len="med"/>
                      <a:tailEnd type="none" w="med" len="med"/>
                    </a:lnT>
                    <a:lnB w="9525" cap="flat" cmpd="sng" algn="ctr">
                      <a:solidFill>
                        <a:srgbClr val="D5DAE0"/>
                      </a:solidFill>
                      <a:prstDash val="solid"/>
                      <a:round/>
                      <a:headEnd type="none" w="med" len="med"/>
                      <a:tailEnd type="none" w="med" len="med"/>
                    </a:lnB>
                    <a:solidFill>
                      <a:schemeClr val="bg1"/>
                    </a:solidFill>
                  </a:tcPr>
                </a:tc>
                <a:tc>
                  <a:txBody>
                    <a:bodyPr/>
                    <a:lstStyle/>
                    <a:p>
                      <a:pPr marL="0" indent="0" algn="ctr">
                        <a:buNone/>
                      </a:pPr>
                      <a:r>
                        <a:rPr lang="en-US" sz="1200" b="1" dirty="0">
                          <a:solidFill>
                            <a:schemeClr val="accent3"/>
                          </a:solidFill>
                          <a:latin typeface="+mn-lt"/>
                          <a:ea typeface="Calibri" pitchFamily="34" charset="-122"/>
                          <a:cs typeface="Calibri" pitchFamily="34" charset="-120"/>
                        </a:rPr>
                        <a:t>O(1)</a:t>
                      </a:r>
                      <a:endParaRPr lang="en-US" sz="1200" dirty="0">
                        <a:latin typeface="+mn-lt"/>
                        <a:ea typeface="Calibri" charset="0"/>
                        <a:cs typeface="Calibri" charset="0"/>
                      </a:endParaRPr>
                    </a:p>
                  </a:txBody>
                  <a:tcPr marL="73152" marR="73152" marT="18288" marB="18288" anchor="ctr">
                    <a:lnL w="9525" cap="flat" cmpd="sng" algn="ctr">
                      <a:solidFill>
                        <a:srgbClr val="D5DAE0"/>
                      </a:solidFill>
                      <a:prstDash val="solid"/>
                      <a:round/>
                      <a:headEnd type="none" w="med" len="med"/>
                      <a:tailEnd type="none" w="med" len="med"/>
                    </a:lnL>
                    <a:lnR w="9525" cap="flat" cmpd="sng" algn="ctr">
                      <a:solidFill>
                        <a:srgbClr val="D5DAE0"/>
                      </a:solidFill>
                      <a:prstDash val="solid"/>
                      <a:round/>
                      <a:headEnd type="none" w="med" len="med"/>
                      <a:tailEnd type="none" w="med" len="med"/>
                    </a:lnR>
                    <a:lnT w="9525" cap="flat" cmpd="sng" algn="ctr">
                      <a:solidFill>
                        <a:srgbClr val="D5DAE0"/>
                      </a:solidFill>
                      <a:prstDash val="solid"/>
                      <a:round/>
                      <a:headEnd type="none" w="med" len="med"/>
                      <a:tailEnd type="none" w="med" len="med"/>
                    </a:lnT>
                    <a:lnB w="9525" cap="flat" cmpd="sng" algn="ctr">
                      <a:solidFill>
                        <a:srgbClr val="D5DAE0"/>
                      </a:solidFill>
                      <a:prstDash val="solid"/>
                      <a:round/>
                      <a:headEnd type="none" w="med" len="med"/>
                      <a:tailEnd type="none" w="med" len="med"/>
                    </a:lnB>
                    <a:solidFill>
                      <a:schemeClr val="bg1"/>
                    </a:solidFill>
                  </a:tcPr>
                </a:tc>
                <a:tc>
                  <a:txBody>
                    <a:bodyPr/>
                    <a:lstStyle/>
                    <a:p>
                      <a:pPr marL="0" indent="0" algn="ctr">
                        <a:buNone/>
                      </a:pPr>
                      <a:r>
                        <a:rPr lang="en-US" sz="1200" b="1" dirty="0">
                          <a:solidFill>
                            <a:schemeClr val="accent3"/>
                          </a:solidFill>
                          <a:latin typeface="+mn-lt"/>
                          <a:ea typeface="Calibri" pitchFamily="34" charset="-122"/>
                          <a:cs typeface="Calibri" pitchFamily="34" charset="-120"/>
                        </a:rPr>
                        <a:t>O(1)</a:t>
                      </a:r>
                      <a:endParaRPr lang="en-US" sz="1200" dirty="0">
                        <a:latin typeface="+mn-lt"/>
                        <a:ea typeface="Calibri" charset="0"/>
                        <a:cs typeface="Calibri" charset="0"/>
                      </a:endParaRPr>
                    </a:p>
                  </a:txBody>
                  <a:tcPr marL="73152" marR="73152" marT="18288" marB="18288" anchor="ctr">
                    <a:lnL w="9525" cap="flat" cmpd="sng" algn="ctr">
                      <a:solidFill>
                        <a:srgbClr val="D5DAE0"/>
                      </a:solidFill>
                      <a:prstDash val="solid"/>
                      <a:round/>
                      <a:headEnd type="none" w="med" len="med"/>
                      <a:tailEnd type="none" w="med" len="med"/>
                    </a:lnL>
                    <a:lnR w="9525" cap="flat" cmpd="sng" algn="ctr">
                      <a:solidFill>
                        <a:srgbClr val="D5DAE0"/>
                      </a:solidFill>
                      <a:prstDash val="solid"/>
                      <a:round/>
                      <a:headEnd type="none" w="med" len="med"/>
                      <a:tailEnd type="none" w="med" len="med"/>
                    </a:lnR>
                    <a:lnT w="9525" cap="flat" cmpd="sng" algn="ctr">
                      <a:solidFill>
                        <a:srgbClr val="D5DAE0"/>
                      </a:solidFill>
                      <a:prstDash val="solid"/>
                      <a:round/>
                      <a:headEnd type="none" w="med" len="med"/>
                      <a:tailEnd type="none" w="med" len="med"/>
                    </a:lnT>
                    <a:lnB w="9525" cap="flat" cmpd="sng" algn="ctr">
                      <a:solidFill>
                        <a:srgbClr val="D5DAE0"/>
                      </a:solidFill>
                      <a:prstDash val="solid"/>
                      <a:round/>
                      <a:headEnd type="none" w="med" len="med"/>
                      <a:tailEnd type="none" w="med" len="med"/>
                    </a:lnB>
                    <a:solidFill>
                      <a:schemeClr val="bg1"/>
                    </a:solidFill>
                  </a:tcPr>
                </a:tc>
                <a:extLst>
                  <a:ext uri="{0D108BD9-81ED-4DB2-BD59-A6C34878D82A}">
                    <a16:rowId xmlns:a16="http://schemas.microsoft.com/office/drawing/2014/main" val="10001"/>
                  </a:ext>
                </a:extLst>
              </a:tr>
              <a:tr h="324000">
                <a:tc>
                  <a:txBody>
                    <a:bodyPr/>
                    <a:lstStyle/>
                    <a:p>
                      <a:pPr marL="0" indent="0">
                        <a:buNone/>
                      </a:pPr>
                      <a:r>
                        <a:rPr lang="en-US" sz="1200" dirty="0">
                          <a:solidFill>
                            <a:schemeClr val="tx1"/>
                          </a:solidFill>
                          <a:latin typeface="+mn-lt"/>
                          <a:ea typeface="Calibri" pitchFamily="34" charset="-122"/>
                          <a:cs typeface="Calibri" pitchFamily="34" charset="-120"/>
                        </a:rPr>
                        <a:t>Remove (dequeue)</a:t>
                      </a:r>
                      <a:endParaRPr lang="en-US" sz="1200" dirty="0">
                        <a:latin typeface="+mn-lt"/>
                        <a:ea typeface="Calibri" charset="0"/>
                        <a:cs typeface="Calibri" charset="0"/>
                      </a:endParaRPr>
                    </a:p>
                  </a:txBody>
                  <a:tcPr marL="73152" marR="73152" marT="18288" marB="18288" anchor="ctr">
                    <a:lnL w="9525" cap="flat" cmpd="sng" algn="ctr">
                      <a:solidFill>
                        <a:srgbClr val="D5DAE0"/>
                      </a:solidFill>
                      <a:prstDash val="solid"/>
                      <a:round/>
                      <a:headEnd type="none" w="med" len="med"/>
                      <a:tailEnd type="none" w="med" len="med"/>
                    </a:lnL>
                    <a:lnR w="9525" cap="flat" cmpd="sng" algn="ctr">
                      <a:solidFill>
                        <a:srgbClr val="D5DAE0"/>
                      </a:solidFill>
                      <a:prstDash val="solid"/>
                      <a:round/>
                      <a:headEnd type="none" w="med" len="med"/>
                      <a:tailEnd type="none" w="med" len="med"/>
                    </a:lnR>
                    <a:lnT w="9525" cap="flat" cmpd="sng" algn="ctr">
                      <a:solidFill>
                        <a:srgbClr val="D5DAE0"/>
                      </a:solidFill>
                      <a:prstDash val="solid"/>
                      <a:round/>
                      <a:headEnd type="none" w="med" len="med"/>
                      <a:tailEnd type="none" w="med" len="med"/>
                    </a:lnT>
                    <a:lnB w="9525" cap="flat" cmpd="sng" algn="ctr">
                      <a:solidFill>
                        <a:srgbClr val="D5DAE0"/>
                      </a:solidFill>
                      <a:prstDash val="solid"/>
                      <a:round/>
                      <a:headEnd type="none" w="med" len="med"/>
                      <a:tailEnd type="none" w="med" len="med"/>
                    </a:lnB>
                    <a:solidFill>
                      <a:schemeClr val="bg1"/>
                    </a:solidFill>
                  </a:tcPr>
                </a:tc>
                <a:tc>
                  <a:txBody>
                    <a:bodyPr/>
                    <a:lstStyle/>
                    <a:p>
                      <a:pPr marL="0" indent="0">
                        <a:buNone/>
                      </a:pPr>
                      <a:r>
                        <a:rPr lang="en-US" sz="1200" dirty="0">
                          <a:solidFill>
                            <a:schemeClr val="tx1"/>
                          </a:solidFill>
                          <a:latin typeface="Cascadia Mono SemiLight" panose="020B0609020000020004" pitchFamily="49" charset="0"/>
                          <a:ea typeface="Calibri" pitchFamily="34" charset="-122"/>
                          <a:cs typeface="Cascadia Mono SemiLight" panose="020B0609020000020004" pitchFamily="49" charset="0"/>
                        </a:rPr>
                        <a:t>remove()</a:t>
                      </a:r>
                      <a:endParaRPr lang="en-US" sz="1200" dirty="0">
                        <a:latin typeface="Cascadia Mono SemiLight" panose="020B0609020000020004" pitchFamily="49" charset="0"/>
                        <a:ea typeface="Calibri" charset="0"/>
                        <a:cs typeface="Cascadia Mono SemiLight" panose="020B0609020000020004" pitchFamily="49" charset="0"/>
                      </a:endParaRPr>
                    </a:p>
                  </a:txBody>
                  <a:tcPr marL="73152" marR="73152" marT="18288" marB="18288" anchor="ctr">
                    <a:lnL w="9525" cap="flat" cmpd="sng" algn="ctr">
                      <a:solidFill>
                        <a:srgbClr val="D5DAE0"/>
                      </a:solidFill>
                      <a:prstDash val="solid"/>
                      <a:round/>
                      <a:headEnd type="none" w="med" len="med"/>
                      <a:tailEnd type="none" w="med" len="med"/>
                    </a:lnL>
                    <a:lnR w="9525" cap="flat" cmpd="sng" algn="ctr">
                      <a:solidFill>
                        <a:srgbClr val="D5DAE0"/>
                      </a:solidFill>
                      <a:prstDash val="solid"/>
                      <a:round/>
                      <a:headEnd type="none" w="med" len="med"/>
                      <a:tailEnd type="none" w="med" len="med"/>
                    </a:lnR>
                    <a:lnT w="9525" cap="flat" cmpd="sng" algn="ctr">
                      <a:solidFill>
                        <a:srgbClr val="D5DAE0"/>
                      </a:solidFill>
                      <a:prstDash val="solid"/>
                      <a:round/>
                      <a:headEnd type="none" w="med" len="med"/>
                      <a:tailEnd type="none" w="med" len="med"/>
                    </a:lnT>
                    <a:lnB w="9525" cap="flat" cmpd="sng" algn="ctr">
                      <a:solidFill>
                        <a:srgbClr val="D5DAE0"/>
                      </a:solidFill>
                      <a:prstDash val="solid"/>
                      <a:round/>
                      <a:headEnd type="none" w="med" len="med"/>
                      <a:tailEnd type="none" w="med" len="med"/>
                    </a:lnB>
                    <a:solidFill>
                      <a:schemeClr val="bg1"/>
                    </a:solidFill>
                  </a:tcPr>
                </a:tc>
                <a:tc>
                  <a:txBody>
                    <a:bodyPr/>
                    <a:lstStyle/>
                    <a:p>
                      <a:pPr marL="0" indent="0" algn="ctr">
                        <a:buNone/>
                      </a:pPr>
                      <a:r>
                        <a:rPr lang="en-US" sz="1200" b="1" dirty="0">
                          <a:solidFill>
                            <a:schemeClr val="accent3"/>
                          </a:solidFill>
                          <a:latin typeface="+mn-lt"/>
                          <a:ea typeface="Calibri" pitchFamily="34" charset="-122"/>
                          <a:cs typeface="Calibri" pitchFamily="34" charset="-120"/>
                        </a:rPr>
                        <a:t>O(1)</a:t>
                      </a:r>
                      <a:endParaRPr lang="en-US" sz="1200" dirty="0">
                        <a:latin typeface="+mn-lt"/>
                        <a:ea typeface="Calibri" charset="0"/>
                        <a:cs typeface="Calibri" charset="0"/>
                      </a:endParaRPr>
                    </a:p>
                  </a:txBody>
                  <a:tcPr marL="73152" marR="73152" marT="18288" marB="18288" anchor="ctr">
                    <a:lnL w="9525" cap="flat" cmpd="sng" algn="ctr">
                      <a:solidFill>
                        <a:srgbClr val="D5DAE0"/>
                      </a:solidFill>
                      <a:prstDash val="solid"/>
                      <a:round/>
                      <a:headEnd type="none" w="med" len="med"/>
                      <a:tailEnd type="none" w="med" len="med"/>
                    </a:lnL>
                    <a:lnR w="9525" cap="flat" cmpd="sng" algn="ctr">
                      <a:solidFill>
                        <a:srgbClr val="D5DAE0"/>
                      </a:solidFill>
                      <a:prstDash val="solid"/>
                      <a:round/>
                      <a:headEnd type="none" w="med" len="med"/>
                      <a:tailEnd type="none" w="med" len="med"/>
                    </a:lnR>
                    <a:lnT w="9525" cap="flat" cmpd="sng" algn="ctr">
                      <a:solidFill>
                        <a:srgbClr val="D5DAE0"/>
                      </a:solidFill>
                      <a:prstDash val="solid"/>
                      <a:round/>
                      <a:headEnd type="none" w="med" len="med"/>
                      <a:tailEnd type="none" w="med" len="med"/>
                    </a:lnT>
                    <a:lnB w="9525" cap="flat" cmpd="sng" algn="ctr">
                      <a:solidFill>
                        <a:srgbClr val="D5DAE0"/>
                      </a:solidFill>
                      <a:prstDash val="solid"/>
                      <a:round/>
                      <a:headEnd type="none" w="med" len="med"/>
                      <a:tailEnd type="none" w="med" len="med"/>
                    </a:lnB>
                    <a:solidFill>
                      <a:schemeClr val="bg1"/>
                    </a:solidFill>
                  </a:tcPr>
                </a:tc>
                <a:tc>
                  <a:txBody>
                    <a:bodyPr/>
                    <a:lstStyle/>
                    <a:p>
                      <a:pPr marL="0" indent="0" algn="ctr">
                        <a:buNone/>
                      </a:pPr>
                      <a:r>
                        <a:rPr lang="en-US" sz="1200" b="1" dirty="0">
                          <a:solidFill>
                            <a:schemeClr val="accent3"/>
                          </a:solidFill>
                          <a:latin typeface="+mn-lt"/>
                          <a:ea typeface="Calibri" pitchFamily="34" charset="-122"/>
                          <a:cs typeface="Calibri" pitchFamily="34" charset="-120"/>
                        </a:rPr>
                        <a:t>O(1)</a:t>
                      </a:r>
                      <a:endParaRPr lang="en-US" sz="1200" dirty="0">
                        <a:latin typeface="+mn-lt"/>
                        <a:ea typeface="Calibri" charset="0"/>
                        <a:cs typeface="Calibri" charset="0"/>
                      </a:endParaRPr>
                    </a:p>
                  </a:txBody>
                  <a:tcPr marL="73152" marR="73152" marT="18288" marB="18288" anchor="ctr">
                    <a:lnL w="9525" cap="flat" cmpd="sng" algn="ctr">
                      <a:solidFill>
                        <a:srgbClr val="D5DAE0"/>
                      </a:solidFill>
                      <a:prstDash val="solid"/>
                      <a:round/>
                      <a:headEnd type="none" w="med" len="med"/>
                      <a:tailEnd type="none" w="med" len="med"/>
                    </a:lnL>
                    <a:lnR w="9525" cap="flat" cmpd="sng" algn="ctr">
                      <a:solidFill>
                        <a:srgbClr val="D5DAE0"/>
                      </a:solidFill>
                      <a:prstDash val="solid"/>
                      <a:round/>
                      <a:headEnd type="none" w="med" len="med"/>
                      <a:tailEnd type="none" w="med" len="med"/>
                    </a:lnR>
                    <a:lnT w="9525" cap="flat" cmpd="sng" algn="ctr">
                      <a:solidFill>
                        <a:srgbClr val="D5DAE0"/>
                      </a:solidFill>
                      <a:prstDash val="solid"/>
                      <a:round/>
                      <a:headEnd type="none" w="med" len="med"/>
                      <a:tailEnd type="none" w="med" len="med"/>
                    </a:lnT>
                    <a:lnB w="9525" cap="flat" cmpd="sng" algn="ctr">
                      <a:solidFill>
                        <a:srgbClr val="D5DAE0"/>
                      </a:solidFill>
                      <a:prstDash val="solid"/>
                      <a:round/>
                      <a:headEnd type="none" w="med" len="med"/>
                      <a:tailEnd type="none" w="med" len="med"/>
                    </a:lnB>
                    <a:solidFill>
                      <a:schemeClr val="bg1"/>
                    </a:solidFill>
                  </a:tcPr>
                </a:tc>
                <a:extLst>
                  <a:ext uri="{0D108BD9-81ED-4DB2-BD59-A6C34878D82A}">
                    <a16:rowId xmlns:a16="http://schemas.microsoft.com/office/drawing/2014/main" val="10002"/>
                  </a:ext>
                </a:extLst>
              </a:tr>
              <a:tr h="324000">
                <a:tc>
                  <a:txBody>
                    <a:bodyPr/>
                    <a:lstStyle/>
                    <a:p>
                      <a:pPr marL="0" indent="0">
                        <a:buNone/>
                      </a:pPr>
                      <a:r>
                        <a:rPr lang="en-US" sz="1200" dirty="0">
                          <a:solidFill>
                            <a:schemeClr val="tx1"/>
                          </a:solidFill>
                          <a:latin typeface="+mn-lt"/>
                          <a:ea typeface="Calibri" pitchFamily="34" charset="-122"/>
                          <a:cs typeface="Calibri" pitchFamily="34" charset="-120"/>
                        </a:rPr>
                        <a:t>Peek</a:t>
                      </a:r>
                      <a:endParaRPr lang="en-US" sz="1200" dirty="0">
                        <a:latin typeface="+mn-lt"/>
                        <a:ea typeface="Calibri" charset="0"/>
                        <a:cs typeface="Calibri" charset="0"/>
                      </a:endParaRPr>
                    </a:p>
                  </a:txBody>
                  <a:tcPr marL="73152" marR="73152" marT="18288" marB="18288" anchor="ctr">
                    <a:lnL w="9525" cap="flat" cmpd="sng" algn="ctr">
                      <a:solidFill>
                        <a:srgbClr val="D5DAE0"/>
                      </a:solidFill>
                      <a:prstDash val="solid"/>
                      <a:round/>
                      <a:headEnd type="none" w="med" len="med"/>
                      <a:tailEnd type="none" w="med" len="med"/>
                    </a:lnL>
                    <a:lnR w="9525" cap="flat" cmpd="sng" algn="ctr">
                      <a:solidFill>
                        <a:srgbClr val="D5DAE0"/>
                      </a:solidFill>
                      <a:prstDash val="solid"/>
                      <a:round/>
                      <a:headEnd type="none" w="med" len="med"/>
                      <a:tailEnd type="none" w="med" len="med"/>
                    </a:lnR>
                    <a:lnT w="9525" cap="flat" cmpd="sng" algn="ctr">
                      <a:solidFill>
                        <a:srgbClr val="D5DAE0"/>
                      </a:solidFill>
                      <a:prstDash val="solid"/>
                      <a:round/>
                      <a:headEnd type="none" w="med" len="med"/>
                      <a:tailEnd type="none" w="med" len="med"/>
                    </a:lnT>
                    <a:lnB w="9525" cap="flat" cmpd="sng" algn="ctr">
                      <a:solidFill>
                        <a:srgbClr val="D5DAE0"/>
                      </a:solidFill>
                      <a:prstDash val="solid"/>
                      <a:round/>
                      <a:headEnd type="none" w="med" len="med"/>
                      <a:tailEnd type="none" w="med" len="med"/>
                    </a:lnB>
                    <a:solidFill>
                      <a:schemeClr val="bg1"/>
                    </a:solidFill>
                  </a:tcPr>
                </a:tc>
                <a:tc>
                  <a:txBody>
                    <a:bodyPr/>
                    <a:lstStyle/>
                    <a:p>
                      <a:pPr marL="0" indent="0">
                        <a:buNone/>
                      </a:pPr>
                      <a:r>
                        <a:rPr lang="en-US" sz="1200" dirty="0">
                          <a:solidFill>
                            <a:schemeClr val="tx1"/>
                          </a:solidFill>
                          <a:latin typeface="Cascadia Mono SemiLight" panose="020B0609020000020004" pitchFamily="49" charset="0"/>
                          <a:ea typeface="Calibri" pitchFamily="34" charset="-122"/>
                          <a:cs typeface="Cascadia Mono SemiLight" panose="020B0609020000020004" pitchFamily="49" charset="0"/>
                        </a:rPr>
                        <a:t>peek()</a:t>
                      </a:r>
                      <a:endParaRPr lang="en-US" sz="1200" dirty="0">
                        <a:latin typeface="Cascadia Mono SemiLight" panose="020B0609020000020004" pitchFamily="49" charset="0"/>
                        <a:ea typeface="Calibri" charset="0"/>
                        <a:cs typeface="Cascadia Mono SemiLight" panose="020B0609020000020004" pitchFamily="49" charset="0"/>
                      </a:endParaRPr>
                    </a:p>
                  </a:txBody>
                  <a:tcPr marL="73152" marR="73152" marT="18288" marB="18288" anchor="ctr">
                    <a:lnL w="9525" cap="flat" cmpd="sng" algn="ctr">
                      <a:solidFill>
                        <a:srgbClr val="D5DAE0"/>
                      </a:solidFill>
                      <a:prstDash val="solid"/>
                      <a:round/>
                      <a:headEnd type="none" w="med" len="med"/>
                      <a:tailEnd type="none" w="med" len="med"/>
                    </a:lnL>
                    <a:lnR w="9525" cap="flat" cmpd="sng" algn="ctr">
                      <a:solidFill>
                        <a:srgbClr val="D5DAE0"/>
                      </a:solidFill>
                      <a:prstDash val="solid"/>
                      <a:round/>
                      <a:headEnd type="none" w="med" len="med"/>
                      <a:tailEnd type="none" w="med" len="med"/>
                    </a:lnR>
                    <a:lnT w="9525" cap="flat" cmpd="sng" algn="ctr">
                      <a:solidFill>
                        <a:srgbClr val="D5DAE0"/>
                      </a:solidFill>
                      <a:prstDash val="solid"/>
                      <a:round/>
                      <a:headEnd type="none" w="med" len="med"/>
                      <a:tailEnd type="none" w="med" len="med"/>
                    </a:lnT>
                    <a:lnB w="9525" cap="flat" cmpd="sng" algn="ctr">
                      <a:solidFill>
                        <a:srgbClr val="D5DAE0"/>
                      </a:solidFill>
                      <a:prstDash val="solid"/>
                      <a:round/>
                      <a:headEnd type="none" w="med" len="med"/>
                      <a:tailEnd type="none" w="med" len="med"/>
                    </a:lnB>
                    <a:solidFill>
                      <a:schemeClr val="bg1"/>
                    </a:solidFill>
                  </a:tcPr>
                </a:tc>
                <a:tc>
                  <a:txBody>
                    <a:bodyPr/>
                    <a:lstStyle/>
                    <a:p>
                      <a:pPr marL="0" indent="0" algn="ctr">
                        <a:buNone/>
                      </a:pPr>
                      <a:r>
                        <a:rPr lang="en-US" sz="1200" b="1" dirty="0">
                          <a:solidFill>
                            <a:schemeClr val="accent3"/>
                          </a:solidFill>
                          <a:latin typeface="+mn-lt"/>
                          <a:ea typeface="Calibri" pitchFamily="34" charset="-122"/>
                          <a:cs typeface="Calibri" pitchFamily="34" charset="-120"/>
                        </a:rPr>
                        <a:t>O(1)</a:t>
                      </a:r>
                      <a:endParaRPr lang="en-US" sz="1200" dirty="0">
                        <a:latin typeface="+mn-lt"/>
                        <a:ea typeface="Calibri" charset="0"/>
                        <a:cs typeface="Calibri" charset="0"/>
                      </a:endParaRPr>
                    </a:p>
                  </a:txBody>
                  <a:tcPr marL="73152" marR="73152" marT="18288" marB="18288" anchor="ctr">
                    <a:lnL w="9525" cap="flat" cmpd="sng" algn="ctr">
                      <a:solidFill>
                        <a:srgbClr val="D5DAE0"/>
                      </a:solidFill>
                      <a:prstDash val="solid"/>
                      <a:round/>
                      <a:headEnd type="none" w="med" len="med"/>
                      <a:tailEnd type="none" w="med" len="med"/>
                    </a:lnL>
                    <a:lnR w="9525" cap="flat" cmpd="sng" algn="ctr">
                      <a:solidFill>
                        <a:srgbClr val="D5DAE0"/>
                      </a:solidFill>
                      <a:prstDash val="solid"/>
                      <a:round/>
                      <a:headEnd type="none" w="med" len="med"/>
                      <a:tailEnd type="none" w="med" len="med"/>
                    </a:lnR>
                    <a:lnT w="9525" cap="flat" cmpd="sng" algn="ctr">
                      <a:solidFill>
                        <a:srgbClr val="D5DAE0"/>
                      </a:solidFill>
                      <a:prstDash val="solid"/>
                      <a:round/>
                      <a:headEnd type="none" w="med" len="med"/>
                      <a:tailEnd type="none" w="med" len="med"/>
                    </a:lnT>
                    <a:lnB w="9525" cap="flat" cmpd="sng" algn="ctr">
                      <a:solidFill>
                        <a:srgbClr val="D5DAE0"/>
                      </a:solidFill>
                      <a:prstDash val="solid"/>
                      <a:round/>
                      <a:headEnd type="none" w="med" len="med"/>
                      <a:tailEnd type="none" w="med" len="med"/>
                    </a:lnB>
                    <a:solidFill>
                      <a:schemeClr val="bg1"/>
                    </a:solidFill>
                  </a:tcPr>
                </a:tc>
                <a:tc>
                  <a:txBody>
                    <a:bodyPr/>
                    <a:lstStyle/>
                    <a:p>
                      <a:pPr marL="0" indent="0" algn="ctr">
                        <a:buNone/>
                      </a:pPr>
                      <a:r>
                        <a:rPr lang="en-US" sz="1200" b="1" dirty="0">
                          <a:solidFill>
                            <a:schemeClr val="accent3"/>
                          </a:solidFill>
                          <a:latin typeface="+mn-lt"/>
                          <a:ea typeface="Calibri" pitchFamily="34" charset="-122"/>
                          <a:cs typeface="Calibri" pitchFamily="34" charset="-120"/>
                        </a:rPr>
                        <a:t>O(1)</a:t>
                      </a:r>
                      <a:endParaRPr lang="en-US" sz="1200" dirty="0">
                        <a:latin typeface="+mn-lt"/>
                        <a:ea typeface="Calibri" charset="0"/>
                        <a:cs typeface="Calibri" charset="0"/>
                      </a:endParaRPr>
                    </a:p>
                  </a:txBody>
                  <a:tcPr marL="73152" marR="73152" marT="18288" marB="18288" anchor="ctr">
                    <a:lnL w="9525" cap="flat" cmpd="sng" algn="ctr">
                      <a:solidFill>
                        <a:srgbClr val="D5DAE0"/>
                      </a:solidFill>
                      <a:prstDash val="solid"/>
                      <a:round/>
                      <a:headEnd type="none" w="med" len="med"/>
                      <a:tailEnd type="none" w="med" len="med"/>
                    </a:lnL>
                    <a:lnR w="9525" cap="flat" cmpd="sng" algn="ctr">
                      <a:solidFill>
                        <a:srgbClr val="D5DAE0"/>
                      </a:solidFill>
                      <a:prstDash val="solid"/>
                      <a:round/>
                      <a:headEnd type="none" w="med" len="med"/>
                      <a:tailEnd type="none" w="med" len="med"/>
                    </a:lnR>
                    <a:lnT w="9525" cap="flat" cmpd="sng" algn="ctr">
                      <a:solidFill>
                        <a:srgbClr val="D5DAE0"/>
                      </a:solidFill>
                      <a:prstDash val="solid"/>
                      <a:round/>
                      <a:headEnd type="none" w="med" len="med"/>
                      <a:tailEnd type="none" w="med" len="med"/>
                    </a:lnT>
                    <a:lnB w="9525" cap="flat" cmpd="sng" algn="ctr">
                      <a:solidFill>
                        <a:srgbClr val="D5DAE0"/>
                      </a:solidFill>
                      <a:prstDash val="solid"/>
                      <a:round/>
                      <a:headEnd type="none" w="med" len="med"/>
                      <a:tailEnd type="none" w="med" len="med"/>
                    </a:lnB>
                    <a:solidFill>
                      <a:schemeClr val="bg1"/>
                    </a:solidFill>
                  </a:tcPr>
                </a:tc>
                <a:extLst>
                  <a:ext uri="{0D108BD9-81ED-4DB2-BD59-A6C34878D82A}">
                    <a16:rowId xmlns:a16="http://schemas.microsoft.com/office/drawing/2014/main" val="10003"/>
                  </a:ext>
                </a:extLst>
              </a:tr>
              <a:tr h="324000">
                <a:tc>
                  <a:txBody>
                    <a:bodyPr/>
                    <a:lstStyle/>
                    <a:p>
                      <a:pPr marL="0" indent="0">
                        <a:buNone/>
                      </a:pPr>
                      <a:r>
                        <a:rPr lang="en-US" sz="1200" dirty="0">
                          <a:solidFill>
                            <a:schemeClr val="tx1"/>
                          </a:solidFill>
                          <a:latin typeface="+mn-lt"/>
                          <a:ea typeface="Calibri" pitchFamily="34" charset="-122"/>
                          <a:cs typeface="Calibri" pitchFamily="34" charset="-120"/>
                        </a:rPr>
                        <a:t>Display</a:t>
                      </a:r>
                      <a:endParaRPr lang="en-US" sz="1200" dirty="0">
                        <a:latin typeface="+mn-lt"/>
                        <a:ea typeface="Calibri" charset="0"/>
                        <a:cs typeface="Calibri" charset="0"/>
                      </a:endParaRPr>
                    </a:p>
                  </a:txBody>
                  <a:tcPr marL="73152" marR="73152" marT="18288" marB="18288" anchor="ctr">
                    <a:lnL w="9525" cap="flat" cmpd="sng" algn="ctr">
                      <a:solidFill>
                        <a:srgbClr val="D5DAE0"/>
                      </a:solidFill>
                      <a:prstDash val="solid"/>
                      <a:round/>
                      <a:headEnd type="none" w="med" len="med"/>
                      <a:tailEnd type="none" w="med" len="med"/>
                    </a:lnL>
                    <a:lnR w="9525" cap="flat" cmpd="sng" algn="ctr">
                      <a:solidFill>
                        <a:srgbClr val="D5DAE0"/>
                      </a:solidFill>
                      <a:prstDash val="solid"/>
                      <a:round/>
                      <a:headEnd type="none" w="med" len="med"/>
                      <a:tailEnd type="none" w="med" len="med"/>
                    </a:lnR>
                    <a:lnT w="9525" cap="flat" cmpd="sng" algn="ctr">
                      <a:solidFill>
                        <a:srgbClr val="D5DAE0"/>
                      </a:solidFill>
                      <a:prstDash val="solid"/>
                      <a:round/>
                      <a:headEnd type="none" w="med" len="med"/>
                      <a:tailEnd type="none" w="med" len="med"/>
                    </a:lnT>
                    <a:lnB w="9525" cap="flat" cmpd="sng" algn="ctr">
                      <a:solidFill>
                        <a:srgbClr val="D5DAE0"/>
                      </a:solidFill>
                      <a:prstDash val="solid"/>
                      <a:round/>
                      <a:headEnd type="none" w="med" len="med"/>
                      <a:tailEnd type="none" w="med" len="med"/>
                    </a:lnB>
                    <a:solidFill>
                      <a:schemeClr val="bg1"/>
                    </a:solidFill>
                  </a:tcPr>
                </a:tc>
                <a:tc>
                  <a:txBody>
                    <a:bodyPr/>
                    <a:lstStyle/>
                    <a:p>
                      <a:pPr marL="0" indent="0">
                        <a:buNone/>
                      </a:pPr>
                      <a:r>
                        <a:rPr lang="en-US" sz="1200" dirty="0">
                          <a:solidFill>
                            <a:schemeClr val="tx1"/>
                          </a:solidFill>
                          <a:latin typeface="Cascadia Mono SemiLight" panose="020B0609020000020004" pitchFamily="49" charset="0"/>
                          <a:ea typeface="Calibri" pitchFamily="34" charset="-122"/>
                          <a:cs typeface="Cascadia Mono SemiLight" panose="020B0609020000020004" pitchFamily="49" charset="0"/>
                        </a:rPr>
                        <a:t>display()</a:t>
                      </a:r>
                      <a:endParaRPr lang="en-US" sz="1200" dirty="0">
                        <a:latin typeface="Cascadia Mono SemiLight" panose="020B0609020000020004" pitchFamily="49" charset="0"/>
                        <a:ea typeface="Calibri" charset="0"/>
                        <a:cs typeface="Cascadia Mono SemiLight" panose="020B0609020000020004" pitchFamily="49" charset="0"/>
                      </a:endParaRPr>
                    </a:p>
                  </a:txBody>
                  <a:tcPr marL="73152" marR="73152" marT="18288" marB="18288" anchor="ctr">
                    <a:lnL w="9525" cap="flat" cmpd="sng" algn="ctr">
                      <a:solidFill>
                        <a:srgbClr val="D5DAE0"/>
                      </a:solidFill>
                      <a:prstDash val="solid"/>
                      <a:round/>
                      <a:headEnd type="none" w="med" len="med"/>
                      <a:tailEnd type="none" w="med" len="med"/>
                    </a:lnL>
                    <a:lnR w="9525" cap="flat" cmpd="sng" algn="ctr">
                      <a:solidFill>
                        <a:srgbClr val="D5DAE0"/>
                      </a:solidFill>
                      <a:prstDash val="solid"/>
                      <a:round/>
                      <a:headEnd type="none" w="med" len="med"/>
                      <a:tailEnd type="none" w="med" len="med"/>
                    </a:lnR>
                    <a:lnT w="9525" cap="flat" cmpd="sng" algn="ctr">
                      <a:solidFill>
                        <a:srgbClr val="D5DAE0"/>
                      </a:solidFill>
                      <a:prstDash val="solid"/>
                      <a:round/>
                      <a:headEnd type="none" w="med" len="med"/>
                      <a:tailEnd type="none" w="med" len="med"/>
                    </a:lnT>
                    <a:lnB w="9525" cap="flat" cmpd="sng" algn="ctr">
                      <a:solidFill>
                        <a:srgbClr val="D5DAE0"/>
                      </a:solidFill>
                      <a:prstDash val="solid"/>
                      <a:round/>
                      <a:headEnd type="none" w="med" len="med"/>
                      <a:tailEnd type="none" w="med" len="med"/>
                    </a:lnB>
                    <a:solidFill>
                      <a:schemeClr val="bg1"/>
                    </a:solidFill>
                  </a:tcPr>
                </a:tc>
                <a:tc>
                  <a:txBody>
                    <a:bodyPr/>
                    <a:lstStyle/>
                    <a:p>
                      <a:pPr marL="0" indent="0" algn="ctr">
                        <a:buNone/>
                      </a:pPr>
                      <a:r>
                        <a:rPr lang="en-US" sz="1200" b="1" dirty="0">
                          <a:solidFill>
                            <a:schemeClr val="accent2">
                              <a:lumMod val="75000"/>
                            </a:schemeClr>
                          </a:solidFill>
                          <a:latin typeface="+mn-lt"/>
                          <a:ea typeface="Calibri" pitchFamily="34" charset="-122"/>
                          <a:cs typeface="Calibri" pitchFamily="34" charset="-120"/>
                        </a:rPr>
                        <a:t>O(n)</a:t>
                      </a:r>
                      <a:r>
                        <a:rPr lang="en-DE" sz="1200" b="1" dirty="0">
                          <a:solidFill>
                            <a:schemeClr val="accent2">
                              <a:lumMod val="75000"/>
                            </a:schemeClr>
                          </a:solidFill>
                          <a:latin typeface="+mn-lt"/>
                          <a:ea typeface="Calibri" pitchFamily="34" charset="-122"/>
                          <a:cs typeface="Calibri" pitchFamily="34" charset="-120"/>
                        </a:rPr>
                        <a:t>*</a:t>
                      </a:r>
                      <a:endParaRPr lang="en-US" sz="1200" dirty="0">
                        <a:solidFill>
                          <a:schemeClr val="accent2">
                            <a:lumMod val="75000"/>
                          </a:schemeClr>
                        </a:solidFill>
                        <a:latin typeface="+mn-lt"/>
                        <a:ea typeface="Calibri" charset="0"/>
                        <a:cs typeface="Calibri" charset="0"/>
                      </a:endParaRPr>
                    </a:p>
                  </a:txBody>
                  <a:tcPr marL="73152" marR="73152" marT="18288" marB="18288" anchor="ctr">
                    <a:lnL w="9525" cap="flat" cmpd="sng" algn="ctr">
                      <a:solidFill>
                        <a:srgbClr val="D5DAE0"/>
                      </a:solidFill>
                      <a:prstDash val="solid"/>
                      <a:round/>
                      <a:headEnd type="none" w="med" len="med"/>
                      <a:tailEnd type="none" w="med" len="med"/>
                    </a:lnL>
                    <a:lnR w="9525" cap="flat" cmpd="sng" algn="ctr">
                      <a:solidFill>
                        <a:srgbClr val="D5DAE0"/>
                      </a:solidFill>
                      <a:prstDash val="solid"/>
                      <a:round/>
                      <a:headEnd type="none" w="med" len="med"/>
                      <a:tailEnd type="none" w="med" len="med"/>
                    </a:lnR>
                    <a:lnT w="9525" cap="flat" cmpd="sng" algn="ctr">
                      <a:solidFill>
                        <a:srgbClr val="D5DAE0"/>
                      </a:solidFill>
                      <a:prstDash val="solid"/>
                      <a:round/>
                      <a:headEnd type="none" w="med" len="med"/>
                      <a:tailEnd type="none" w="med" len="med"/>
                    </a:lnT>
                    <a:lnB w="9525" cap="flat" cmpd="sng" algn="ctr">
                      <a:solidFill>
                        <a:srgbClr val="D5DAE0"/>
                      </a:solidFill>
                      <a:prstDash val="solid"/>
                      <a:round/>
                      <a:headEnd type="none" w="med" len="med"/>
                      <a:tailEnd type="none" w="med" len="med"/>
                    </a:lnB>
                    <a:solidFill>
                      <a:schemeClr val="bg1"/>
                    </a:solidFill>
                  </a:tcPr>
                </a:tc>
                <a:tc>
                  <a:txBody>
                    <a:bodyPr/>
                    <a:lstStyle/>
                    <a:p>
                      <a:pPr marL="0" indent="0" algn="ctr">
                        <a:buNone/>
                      </a:pPr>
                      <a:r>
                        <a:rPr lang="en-US" sz="1200" b="1" dirty="0">
                          <a:solidFill>
                            <a:schemeClr val="accent2">
                              <a:lumMod val="75000"/>
                            </a:schemeClr>
                          </a:solidFill>
                          <a:latin typeface="+mn-lt"/>
                          <a:ea typeface="Calibri" pitchFamily="34" charset="-122"/>
                          <a:cs typeface="Calibri" pitchFamily="34" charset="-120"/>
                        </a:rPr>
                        <a:t>O(n)</a:t>
                      </a:r>
                      <a:endParaRPr lang="en-US" sz="1200" dirty="0">
                        <a:solidFill>
                          <a:schemeClr val="accent2">
                            <a:lumMod val="75000"/>
                          </a:schemeClr>
                        </a:solidFill>
                        <a:latin typeface="+mn-lt"/>
                        <a:ea typeface="Calibri" charset="0"/>
                        <a:cs typeface="Calibri" charset="0"/>
                      </a:endParaRPr>
                    </a:p>
                  </a:txBody>
                  <a:tcPr marL="73152" marR="73152" marT="18288" marB="18288" anchor="ctr">
                    <a:lnL w="9525" cap="flat" cmpd="sng" algn="ctr">
                      <a:solidFill>
                        <a:srgbClr val="D5DAE0"/>
                      </a:solidFill>
                      <a:prstDash val="solid"/>
                      <a:round/>
                      <a:headEnd type="none" w="med" len="med"/>
                      <a:tailEnd type="none" w="med" len="med"/>
                    </a:lnL>
                    <a:lnR w="9525" cap="flat" cmpd="sng" algn="ctr">
                      <a:solidFill>
                        <a:srgbClr val="D5DAE0"/>
                      </a:solidFill>
                      <a:prstDash val="solid"/>
                      <a:round/>
                      <a:headEnd type="none" w="med" len="med"/>
                      <a:tailEnd type="none" w="med" len="med"/>
                    </a:lnR>
                    <a:lnT w="9525" cap="flat" cmpd="sng" algn="ctr">
                      <a:solidFill>
                        <a:srgbClr val="D5DAE0"/>
                      </a:solidFill>
                      <a:prstDash val="solid"/>
                      <a:round/>
                      <a:headEnd type="none" w="med" len="med"/>
                      <a:tailEnd type="none" w="med" len="med"/>
                    </a:lnT>
                    <a:lnB w="9525" cap="flat" cmpd="sng" algn="ctr">
                      <a:solidFill>
                        <a:srgbClr val="D5DAE0"/>
                      </a:solidFill>
                      <a:prstDash val="solid"/>
                      <a:round/>
                      <a:headEnd type="none" w="med" len="med"/>
                      <a:tailEnd type="none" w="med" len="med"/>
                    </a:lnB>
                    <a:solidFill>
                      <a:schemeClr val="bg1"/>
                    </a:solidFill>
                  </a:tcPr>
                </a:tc>
                <a:extLst>
                  <a:ext uri="{0D108BD9-81ED-4DB2-BD59-A6C34878D82A}">
                    <a16:rowId xmlns:a16="http://schemas.microsoft.com/office/drawing/2014/main" val="10004"/>
                  </a:ext>
                </a:extLst>
              </a:tr>
              <a:tr h="324000">
                <a:tc>
                  <a:txBody>
                    <a:bodyPr/>
                    <a:lstStyle/>
                    <a:p>
                      <a:pPr marL="0" indent="0">
                        <a:buNone/>
                      </a:pPr>
                      <a:r>
                        <a:rPr lang="en-US" sz="1200" dirty="0">
                          <a:solidFill>
                            <a:schemeClr val="tx1"/>
                          </a:solidFill>
                          <a:latin typeface="+mn-lt"/>
                          <a:ea typeface="Calibri" pitchFamily="34" charset="-122"/>
                          <a:cs typeface="Calibri" pitchFamily="34" charset="-120"/>
                        </a:rPr>
                        <a:t>Search</a:t>
                      </a:r>
                      <a:endParaRPr lang="en-US" sz="1200" dirty="0">
                        <a:latin typeface="+mn-lt"/>
                        <a:ea typeface="Calibri" charset="0"/>
                        <a:cs typeface="Calibri" charset="0"/>
                      </a:endParaRPr>
                    </a:p>
                  </a:txBody>
                  <a:tcPr marL="73152" marR="73152" marT="18288" marB="18288" anchor="ctr">
                    <a:lnL w="9525" cap="flat" cmpd="sng" algn="ctr">
                      <a:solidFill>
                        <a:srgbClr val="D5DAE0"/>
                      </a:solidFill>
                      <a:prstDash val="solid"/>
                      <a:round/>
                      <a:headEnd type="none" w="med" len="med"/>
                      <a:tailEnd type="none" w="med" len="med"/>
                    </a:lnL>
                    <a:lnR w="9525" cap="flat" cmpd="sng" algn="ctr">
                      <a:solidFill>
                        <a:srgbClr val="D5DAE0"/>
                      </a:solidFill>
                      <a:prstDash val="solid"/>
                      <a:round/>
                      <a:headEnd type="none" w="med" len="med"/>
                      <a:tailEnd type="none" w="med" len="med"/>
                    </a:lnR>
                    <a:lnT w="9525" cap="flat" cmpd="sng" algn="ctr">
                      <a:solidFill>
                        <a:srgbClr val="D5DAE0"/>
                      </a:solidFill>
                      <a:prstDash val="solid"/>
                      <a:round/>
                      <a:headEnd type="none" w="med" len="med"/>
                      <a:tailEnd type="none" w="med" len="med"/>
                    </a:lnT>
                    <a:lnB w="9525" cap="flat" cmpd="sng" algn="ctr">
                      <a:solidFill>
                        <a:srgbClr val="D5DAE0"/>
                      </a:solidFill>
                      <a:prstDash val="solid"/>
                      <a:round/>
                      <a:headEnd type="none" w="med" len="med"/>
                      <a:tailEnd type="none" w="med" len="med"/>
                    </a:lnB>
                    <a:solidFill>
                      <a:schemeClr val="bg1"/>
                    </a:solidFill>
                  </a:tcPr>
                </a:tc>
                <a:tc>
                  <a:txBody>
                    <a:bodyPr/>
                    <a:lstStyle/>
                    <a:p>
                      <a:pPr marL="0" indent="0">
                        <a:buNone/>
                      </a:pPr>
                      <a:r>
                        <a:rPr lang="en-US" sz="1200" dirty="0">
                          <a:solidFill>
                            <a:schemeClr val="tx1"/>
                          </a:solidFill>
                          <a:latin typeface="Cascadia Mono SemiLight" panose="020B0609020000020004" pitchFamily="49" charset="0"/>
                          <a:ea typeface="Calibri" pitchFamily="34" charset="-122"/>
                          <a:cs typeface="Cascadia Mono SemiLight" panose="020B0609020000020004" pitchFamily="49" charset="0"/>
                        </a:rPr>
                        <a:t>search()</a:t>
                      </a:r>
                      <a:endParaRPr lang="en-US" sz="1200" dirty="0">
                        <a:latin typeface="Cascadia Mono SemiLight" panose="020B0609020000020004" pitchFamily="49" charset="0"/>
                        <a:ea typeface="Calibri" charset="0"/>
                        <a:cs typeface="Cascadia Mono SemiLight" panose="020B0609020000020004" pitchFamily="49" charset="0"/>
                      </a:endParaRPr>
                    </a:p>
                  </a:txBody>
                  <a:tcPr marL="73152" marR="73152" marT="18288" marB="18288" anchor="ctr">
                    <a:lnL w="9525" cap="flat" cmpd="sng" algn="ctr">
                      <a:solidFill>
                        <a:srgbClr val="D5DAE0"/>
                      </a:solidFill>
                      <a:prstDash val="solid"/>
                      <a:round/>
                      <a:headEnd type="none" w="med" len="med"/>
                      <a:tailEnd type="none" w="med" len="med"/>
                    </a:lnL>
                    <a:lnR w="9525" cap="flat" cmpd="sng" algn="ctr">
                      <a:solidFill>
                        <a:srgbClr val="D5DAE0"/>
                      </a:solidFill>
                      <a:prstDash val="solid"/>
                      <a:round/>
                      <a:headEnd type="none" w="med" len="med"/>
                      <a:tailEnd type="none" w="med" len="med"/>
                    </a:lnR>
                    <a:lnT w="9525" cap="flat" cmpd="sng" algn="ctr">
                      <a:solidFill>
                        <a:srgbClr val="D5DAE0"/>
                      </a:solidFill>
                      <a:prstDash val="solid"/>
                      <a:round/>
                      <a:headEnd type="none" w="med" len="med"/>
                      <a:tailEnd type="none" w="med" len="med"/>
                    </a:lnT>
                    <a:lnB w="9525" cap="flat" cmpd="sng" algn="ctr">
                      <a:solidFill>
                        <a:srgbClr val="D5DAE0"/>
                      </a:solidFill>
                      <a:prstDash val="solid"/>
                      <a:round/>
                      <a:headEnd type="none" w="med" len="med"/>
                      <a:tailEnd type="none" w="med" len="med"/>
                    </a:lnB>
                    <a:solidFill>
                      <a:schemeClr val="bg1"/>
                    </a:solidFill>
                  </a:tcPr>
                </a:tc>
                <a:tc>
                  <a:txBody>
                    <a:bodyPr/>
                    <a:lstStyle/>
                    <a:p>
                      <a:pPr marL="0" indent="0" algn="ctr">
                        <a:buNone/>
                      </a:pPr>
                      <a:r>
                        <a:rPr lang="en-US" sz="1200" b="1" dirty="0">
                          <a:solidFill>
                            <a:schemeClr val="accent3"/>
                          </a:solidFill>
                          <a:latin typeface="+mn-lt"/>
                          <a:ea typeface="Calibri" pitchFamily="34" charset="-122"/>
                          <a:cs typeface="Calibri" pitchFamily="34" charset="-120"/>
                        </a:rPr>
                        <a:t>O(1)</a:t>
                      </a:r>
                      <a:endParaRPr lang="en-US" sz="1200" dirty="0">
                        <a:latin typeface="+mn-lt"/>
                        <a:ea typeface="Calibri" charset="0"/>
                        <a:cs typeface="Calibri" charset="0"/>
                      </a:endParaRPr>
                    </a:p>
                  </a:txBody>
                  <a:tcPr marL="73152" marR="73152" marT="18288" marB="18288" anchor="ctr">
                    <a:lnL w="9525" cap="flat" cmpd="sng" algn="ctr">
                      <a:solidFill>
                        <a:srgbClr val="D5DAE0"/>
                      </a:solidFill>
                      <a:prstDash val="solid"/>
                      <a:round/>
                      <a:headEnd type="none" w="med" len="med"/>
                      <a:tailEnd type="none" w="med" len="med"/>
                    </a:lnL>
                    <a:lnR w="9525" cap="flat" cmpd="sng" algn="ctr">
                      <a:solidFill>
                        <a:srgbClr val="D5DAE0"/>
                      </a:solidFill>
                      <a:prstDash val="solid"/>
                      <a:round/>
                      <a:headEnd type="none" w="med" len="med"/>
                      <a:tailEnd type="none" w="med" len="med"/>
                    </a:lnR>
                    <a:lnT w="9525" cap="flat" cmpd="sng" algn="ctr">
                      <a:solidFill>
                        <a:srgbClr val="D5DAE0"/>
                      </a:solidFill>
                      <a:prstDash val="solid"/>
                      <a:round/>
                      <a:headEnd type="none" w="med" len="med"/>
                      <a:tailEnd type="none" w="med" len="med"/>
                    </a:lnT>
                    <a:lnB w="9525" cap="flat" cmpd="sng" algn="ctr">
                      <a:solidFill>
                        <a:srgbClr val="D5DAE0"/>
                      </a:solidFill>
                      <a:prstDash val="solid"/>
                      <a:round/>
                      <a:headEnd type="none" w="med" len="med"/>
                      <a:tailEnd type="none" w="med" len="med"/>
                    </a:lnB>
                    <a:solidFill>
                      <a:schemeClr val="bg1"/>
                    </a:solidFill>
                  </a:tcPr>
                </a:tc>
                <a:tc>
                  <a:txBody>
                    <a:bodyPr/>
                    <a:lstStyle/>
                    <a:p>
                      <a:pPr marL="0" indent="0" algn="ctr">
                        <a:buNone/>
                      </a:pPr>
                      <a:r>
                        <a:rPr lang="en-US" sz="1200" b="1" dirty="0">
                          <a:solidFill>
                            <a:schemeClr val="accent2">
                              <a:lumMod val="75000"/>
                            </a:schemeClr>
                          </a:solidFill>
                          <a:latin typeface="+mn-lt"/>
                          <a:ea typeface="Calibri" pitchFamily="34" charset="-122"/>
                          <a:cs typeface="Calibri" pitchFamily="34" charset="-120"/>
                        </a:rPr>
                        <a:t>O(n)</a:t>
                      </a:r>
                      <a:endParaRPr lang="en-US" sz="1200" dirty="0">
                        <a:solidFill>
                          <a:schemeClr val="accent2">
                            <a:lumMod val="75000"/>
                          </a:schemeClr>
                        </a:solidFill>
                        <a:latin typeface="+mn-lt"/>
                        <a:ea typeface="Calibri" charset="0"/>
                        <a:cs typeface="Calibri" charset="0"/>
                      </a:endParaRPr>
                    </a:p>
                  </a:txBody>
                  <a:tcPr marL="73152" marR="73152" marT="18288" marB="18288" anchor="ctr">
                    <a:lnL w="9525" cap="flat" cmpd="sng" algn="ctr">
                      <a:solidFill>
                        <a:srgbClr val="D5DAE0"/>
                      </a:solidFill>
                      <a:prstDash val="solid"/>
                      <a:round/>
                      <a:headEnd type="none" w="med" len="med"/>
                      <a:tailEnd type="none" w="med" len="med"/>
                    </a:lnL>
                    <a:lnR w="9525" cap="flat" cmpd="sng" algn="ctr">
                      <a:solidFill>
                        <a:srgbClr val="D5DAE0"/>
                      </a:solidFill>
                      <a:prstDash val="solid"/>
                      <a:round/>
                      <a:headEnd type="none" w="med" len="med"/>
                      <a:tailEnd type="none" w="med" len="med"/>
                    </a:lnR>
                    <a:lnT w="9525" cap="flat" cmpd="sng" algn="ctr">
                      <a:solidFill>
                        <a:srgbClr val="D5DAE0"/>
                      </a:solidFill>
                      <a:prstDash val="solid"/>
                      <a:round/>
                      <a:headEnd type="none" w="med" len="med"/>
                      <a:tailEnd type="none" w="med" len="med"/>
                    </a:lnT>
                    <a:lnB w="9525" cap="flat" cmpd="sng" algn="ctr">
                      <a:solidFill>
                        <a:srgbClr val="D5DAE0"/>
                      </a:solidFill>
                      <a:prstDash val="solid"/>
                      <a:round/>
                      <a:headEnd type="none" w="med" len="med"/>
                      <a:tailEnd type="none" w="med" len="med"/>
                    </a:lnB>
                    <a:solidFill>
                      <a:schemeClr val="bg1"/>
                    </a:solidFill>
                  </a:tcPr>
                </a:tc>
                <a:extLst>
                  <a:ext uri="{0D108BD9-81ED-4DB2-BD59-A6C34878D82A}">
                    <a16:rowId xmlns:a16="http://schemas.microsoft.com/office/drawing/2014/main" val="10005"/>
                  </a:ext>
                </a:extLst>
              </a:tr>
              <a:tr h="324000">
                <a:tc>
                  <a:txBody>
                    <a:bodyPr/>
                    <a:lstStyle/>
                    <a:p>
                      <a:pPr marL="0" indent="0">
                        <a:buNone/>
                      </a:pPr>
                      <a:r>
                        <a:rPr lang="en-US" sz="1200" dirty="0">
                          <a:solidFill>
                            <a:schemeClr val="tx1"/>
                          </a:solidFill>
                          <a:latin typeface="+mn-lt"/>
                          <a:ea typeface="Calibri" pitchFamily="34" charset="-122"/>
                          <a:cs typeface="Calibri" pitchFamily="34" charset="-120"/>
                        </a:rPr>
                        <a:t>Check empty/full/size</a:t>
                      </a:r>
                      <a:endParaRPr lang="en-US" sz="1200" dirty="0">
                        <a:latin typeface="+mn-lt"/>
                        <a:ea typeface="Calibri" charset="0"/>
                        <a:cs typeface="Calibri" charset="0"/>
                      </a:endParaRPr>
                    </a:p>
                  </a:txBody>
                  <a:tcPr marL="73152" marR="73152" marT="18288" marB="18288" anchor="ctr">
                    <a:lnL w="9525" cap="flat" cmpd="sng" algn="ctr">
                      <a:solidFill>
                        <a:srgbClr val="D5DAE0"/>
                      </a:solidFill>
                      <a:prstDash val="solid"/>
                      <a:round/>
                      <a:headEnd type="none" w="med" len="med"/>
                      <a:tailEnd type="none" w="med" len="med"/>
                    </a:lnL>
                    <a:lnR w="9525" cap="flat" cmpd="sng" algn="ctr">
                      <a:solidFill>
                        <a:srgbClr val="D5DAE0"/>
                      </a:solidFill>
                      <a:prstDash val="solid"/>
                      <a:round/>
                      <a:headEnd type="none" w="med" len="med"/>
                      <a:tailEnd type="none" w="med" len="med"/>
                    </a:lnR>
                    <a:lnT w="9525" cap="flat" cmpd="sng" algn="ctr">
                      <a:solidFill>
                        <a:srgbClr val="D5DAE0"/>
                      </a:solidFill>
                      <a:prstDash val="solid"/>
                      <a:round/>
                      <a:headEnd type="none" w="med" len="med"/>
                      <a:tailEnd type="none" w="med" len="med"/>
                    </a:lnT>
                    <a:lnB w="9525" cap="flat" cmpd="sng" algn="ctr">
                      <a:solidFill>
                        <a:srgbClr val="D5DAE0"/>
                      </a:solidFill>
                      <a:prstDash val="solid"/>
                      <a:round/>
                      <a:headEnd type="none" w="med" len="med"/>
                      <a:tailEnd type="none" w="med" len="med"/>
                    </a:lnB>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dirty="0" err="1">
                          <a:solidFill>
                            <a:schemeClr val="tx1"/>
                          </a:solidFill>
                          <a:latin typeface="Cascadia Mono SemiLight" panose="020B0609020000020004" pitchFamily="49" charset="0"/>
                          <a:ea typeface="Calibri" pitchFamily="34" charset="-122"/>
                          <a:cs typeface="Cascadia Mono SemiLight" panose="020B0609020000020004" pitchFamily="49" charset="0"/>
                        </a:rPr>
                        <a:t>isEmpty</a:t>
                      </a:r>
                      <a:r>
                        <a:rPr lang="en-US" sz="1200" dirty="0">
                          <a:solidFill>
                            <a:schemeClr val="tx1"/>
                          </a:solidFill>
                          <a:latin typeface="Cascadia Mono SemiLight" panose="020B0609020000020004" pitchFamily="49" charset="0"/>
                          <a:ea typeface="Calibri" pitchFamily="34" charset="-122"/>
                          <a:cs typeface="Cascadia Mono SemiLight" panose="020B0609020000020004" pitchFamily="49" charset="0"/>
                        </a:rPr>
                        <a:t> / </a:t>
                      </a:r>
                      <a:r>
                        <a:rPr lang="en-US" sz="1200" dirty="0" err="1">
                          <a:solidFill>
                            <a:schemeClr val="tx1"/>
                          </a:solidFill>
                          <a:latin typeface="Cascadia Mono SemiLight" panose="020B0609020000020004" pitchFamily="49" charset="0"/>
                          <a:ea typeface="Calibri" pitchFamily="34" charset="-122"/>
                          <a:cs typeface="Cascadia Mono SemiLight" panose="020B0609020000020004" pitchFamily="49" charset="0"/>
                        </a:rPr>
                        <a:t>isFull</a:t>
                      </a:r>
                      <a:r>
                        <a:rPr lang="en-US" sz="1200" dirty="0">
                          <a:solidFill>
                            <a:schemeClr val="tx1"/>
                          </a:solidFill>
                          <a:latin typeface="Cascadia Mono SemiLight" panose="020B0609020000020004" pitchFamily="49" charset="0"/>
                          <a:ea typeface="Calibri" pitchFamily="34" charset="-122"/>
                          <a:cs typeface="Cascadia Mono SemiLight" panose="020B0609020000020004" pitchFamily="49" charset="0"/>
                        </a:rPr>
                        <a:t> / size</a:t>
                      </a:r>
                      <a:endParaRPr lang="en-US" sz="1200" dirty="0">
                        <a:latin typeface="Cascadia Mono SemiLight" panose="020B0609020000020004" pitchFamily="49" charset="0"/>
                        <a:ea typeface="Calibri" charset="0"/>
                        <a:cs typeface="Cascadia Mono SemiLight" panose="020B0609020000020004" pitchFamily="49" charset="0"/>
                      </a:endParaRPr>
                    </a:p>
                  </a:txBody>
                  <a:tcPr marL="73152" marR="73152" marT="18288" marB="18288" anchor="ctr">
                    <a:lnL w="9525" cap="flat" cmpd="sng" algn="ctr">
                      <a:solidFill>
                        <a:srgbClr val="D5DAE0"/>
                      </a:solidFill>
                      <a:prstDash val="solid"/>
                      <a:round/>
                      <a:headEnd type="none" w="med" len="med"/>
                      <a:tailEnd type="none" w="med" len="med"/>
                    </a:lnL>
                    <a:lnR w="9525" cap="flat" cmpd="sng" algn="ctr">
                      <a:solidFill>
                        <a:srgbClr val="D5DAE0"/>
                      </a:solidFill>
                      <a:prstDash val="solid"/>
                      <a:round/>
                      <a:headEnd type="none" w="med" len="med"/>
                      <a:tailEnd type="none" w="med" len="med"/>
                    </a:lnR>
                    <a:lnT w="9525" cap="flat" cmpd="sng" algn="ctr">
                      <a:solidFill>
                        <a:srgbClr val="D5DAE0"/>
                      </a:solidFill>
                      <a:prstDash val="solid"/>
                      <a:round/>
                      <a:headEnd type="none" w="med" len="med"/>
                      <a:tailEnd type="none" w="med" len="med"/>
                    </a:lnT>
                    <a:lnB w="9525" cap="flat" cmpd="sng" algn="ctr">
                      <a:solidFill>
                        <a:srgbClr val="D5DAE0"/>
                      </a:solidFill>
                      <a:prstDash val="solid"/>
                      <a:round/>
                      <a:headEnd type="none" w="med" len="med"/>
                      <a:tailEnd type="none" w="med" len="med"/>
                    </a:lnB>
                    <a:solidFill>
                      <a:schemeClr val="bg1"/>
                    </a:solidFill>
                  </a:tcPr>
                </a:tc>
                <a:tc>
                  <a:txBody>
                    <a:bodyPr/>
                    <a:lstStyle/>
                    <a:p>
                      <a:pPr marL="0" indent="0" algn="ctr">
                        <a:buNone/>
                      </a:pPr>
                      <a:r>
                        <a:rPr lang="en-US" sz="1200" b="1" dirty="0">
                          <a:solidFill>
                            <a:schemeClr val="accent3"/>
                          </a:solidFill>
                          <a:latin typeface="+mn-lt"/>
                          <a:ea typeface="Calibri" pitchFamily="34" charset="-122"/>
                          <a:cs typeface="Calibri" pitchFamily="34" charset="-120"/>
                        </a:rPr>
                        <a:t>O(1)</a:t>
                      </a:r>
                      <a:endParaRPr lang="en-US" sz="1200" dirty="0">
                        <a:latin typeface="+mn-lt"/>
                        <a:ea typeface="Calibri" charset="0"/>
                        <a:cs typeface="Calibri" charset="0"/>
                      </a:endParaRPr>
                    </a:p>
                  </a:txBody>
                  <a:tcPr marL="73152" marR="73152" marT="18288" marB="18288" anchor="ctr">
                    <a:lnL w="9525" cap="flat" cmpd="sng" algn="ctr">
                      <a:solidFill>
                        <a:srgbClr val="D5DAE0"/>
                      </a:solidFill>
                      <a:prstDash val="solid"/>
                      <a:round/>
                      <a:headEnd type="none" w="med" len="med"/>
                      <a:tailEnd type="none" w="med" len="med"/>
                    </a:lnL>
                    <a:lnR w="9525" cap="flat" cmpd="sng" algn="ctr">
                      <a:solidFill>
                        <a:srgbClr val="D5DAE0"/>
                      </a:solidFill>
                      <a:prstDash val="solid"/>
                      <a:round/>
                      <a:headEnd type="none" w="med" len="med"/>
                      <a:tailEnd type="none" w="med" len="med"/>
                    </a:lnR>
                    <a:lnT w="9525" cap="flat" cmpd="sng" algn="ctr">
                      <a:solidFill>
                        <a:srgbClr val="D5DAE0"/>
                      </a:solidFill>
                      <a:prstDash val="solid"/>
                      <a:round/>
                      <a:headEnd type="none" w="med" len="med"/>
                      <a:tailEnd type="none" w="med" len="med"/>
                    </a:lnT>
                    <a:lnB w="9525" cap="flat" cmpd="sng" algn="ctr">
                      <a:solidFill>
                        <a:srgbClr val="D5DAE0"/>
                      </a:solidFill>
                      <a:prstDash val="solid"/>
                      <a:round/>
                      <a:headEnd type="none" w="med" len="med"/>
                      <a:tailEnd type="none" w="med" len="med"/>
                    </a:lnB>
                    <a:solidFill>
                      <a:schemeClr val="bg1"/>
                    </a:solidFill>
                  </a:tcPr>
                </a:tc>
                <a:tc>
                  <a:txBody>
                    <a:bodyPr/>
                    <a:lstStyle/>
                    <a:p>
                      <a:pPr marL="0" indent="0" algn="ctr">
                        <a:buNone/>
                      </a:pPr>
                      <a:r>
                        <a:rPr lang="en-US" sz="1200" b="1" dirty="0">
                          <a:solidFill>
                            <a:schemeClr val="accent3"/>
                          </a:solidFill>
                          <a:latin typeface="+mn-lt"/>
                          <a:ea typeface="Calibri" pitchFamily="34" charset="-122"/>
                          <a:cs typeface="Calibri" pitchFamily="34" charset="-120"/>
                        </a:rPr>
                        <a:t>O(1)</a:t>
                      </a:r>
                      <a:endParaRPr lang="en-US" sz="1200" dirty="0">
                        <a:latin typeface="+mn-lt"/>
                        <a:ea typeface="Calibri" charset="0"/>
                        <a:cs typeface="Calibri" charset="0"/>
                      </a:endParaRPr>
                    </a:p>
                  </a:txBody>
                  <a:tcPr marL="73152" marR="73152" marT="18288" marB="18288" anchor="ctr">
                    <a:lnL w="9525" cap="flat" cmpd="sng" algn="ctr">
                      <a:solidFill>
                        <a:srgbClr val="D5DAE0"/>
                      </a:solidFill>
                      <a:prstDash val="solid"/>
                      <a:round/>
                      <a:headEnd type="none" w="med" len="med"/>
                      <a:tailEnd type="none" w="med" len="med"/>
                    </a:lnL>
                    <a:lnR w="9525" cap="flat" cmpd="sng" algn="ctr">
                      <a:solidFill>
                        <a:srgbClr val="D5DAE0"/>
                      </a:solidFill>
                      <a:prstDash val="solid"/>
                      <a:round/>
                      <a:headEnd type="none" w="med" len="med"/>
                      <a:tailEnd type="none" w="med" len="med"/>
                    </a:lnR>
                    <a:lnT w="9525" cap="flat" cmpd="sng" algn="ctr">
                      <a:solidFill>
                        <a:srgbClr val="D5DAE0"/>
                      </a:solidFill>
                      <a:prstDash val="solid"/>
                      <a:round/>
                      <a:headEnd type="none" w="med" len="med"/>
                      <a:tailEnd type="none" w="med" len="med"/>
                    </a:lnT>
                    <a:lnB w="9525" cap="flat" cmpd="sng" algn="ctr">
                      <a:solidFill>
                        <a:srgbClr val="D5DAE0"/>
                      </a:solidFill>
                      <a:prstDash val="solid"/>
                      <a:round/>
                      <a:headEnd type="none" w="med" len="med"/>
                      <a:tailEnd type="none" w="med" len="med"/>
                    </a:lnB>
                    <a:solidFill>
                      <a:schemeClr val="bg1"/>
                    </a:solidFill>
                  </a:tcPr>
                </a:tc>
                <a:extLst>
                  <a:ext uri="{0D108BD9-81ED-4DB2-BD59-A6C34878D82A}">
                    <a16:rowId xmlns:a16="http://schemas.microsoft.com/office/drawing/2014/main" val="10006"/>
                  </a:ext>
                </a:extLst>
              </a:tr>
            </a:tbl>
          </a:graphicData>
        </a:graphic>
      </p:graphicFrame>
      <p:sp>
        <p:nvSpPr>
          <p:cNvPr id="135" name="Complexity notes"/>
          <p:cNvSpPr txBox="1"/>
          <p:nvPr/>
        </p:nvSpPr>
        <p:spPr>
          <a:xfrm>
            <a:off x="14840712" y="13146855"/>
            <a:ext cx="6803136" cy="1247140"/>
          </a:xfrm>
          <a:prstGeom prst="rect">
            <a:avLst/>
          </a:prstGeom>
          <a:noFill/>
          <a:ln/>
        </p:spPr>
        <p:txBody>
          <a:bodyPr wrap="square" lIns="0" tIns="0" rIns="0" bIns="0" rtlCol="0" anchor="t"/>
          <a:lstStyle/>
          <a:p>
            <a:pPr marL="0" indent="0" algn="r">
              <a:buNone/>
            </a:pPr>
            <a:r>
              <a:rPr lang="en-GB" sz="1200" dirty="0"/>
              <a:t>*Display is O(1) when storage is empty; otherwise it iterates through all n stored items.</a:t>
            </a:r>
            <a:endParaRPr lang="en-DE" sz="1200" dirty="0"/>
          </a:p>
          <a:p>
            <a:pPr marL="0" indent="0">
              <a:lnSpc>
                <a:spcPct val="150000"/>
              </a:lnSpc>
              <a:buNone/>
            </a:pPr>
            <a:endParaRPr lang="en-DE" sz="1400" dirty="0">
              <a:solidFill>
                <a:schemeClr val="tx1"/>
              </a:solidFill>
            </a:endParaRPr>
          </a:p>
          <a:p>
            <a:pPr algn="just"/>
            <a:r>
              <a:rPr lang="en-US" sz="1400" dirty="0">
                <a:solidFill>
                  <a:schemeClr val="tx1"/>
                </a:solidFill>
              </a:rPr>
              <a:t>Add, remove and peek only change front or count, so they are O(1). Display prints every item: O(n). </a:t>
            </a:r>
            <a:r>
              <a:rPr lang="en-US" sz="1400" dirty="0"/>
              <a:t>Search is linear: O(1) when the item found is at the front, the worst case is O(n). Storage space is O(n), one fixed array of 8.</a:t>
            </a:r>
          </a:p>
        </p:txBody>
      </p:sp>
      <p:sp>
        <p:nvSpPr>
          <p:cNvPr id="136" name="Testing card"/>
          <p:cNvSpPr/>
          <p:nvPr/>
        </p:nvSpPr>
        <p:spPr>
          <a:xfrm>
            <a:off x="22174200" y="2651761"/>
            <a:ext cx="6382512" cy="7042766"/>
          </a:xfrm>
          <a:prstGeom prst="roundRect">
            <a:avLst>
              <a:gd name="adj" fmla="val 2006"/>
            </a:avLst>
          </a:prstGeom>
          <a:solidFill>
            <a:srgbClr val="FFF3DE"/>
          </a:solidFill>
          <a:ln/>
        </p:spPr>
      </p:sp>
      <p:sp>
        <p:nvSpPr>
          <p:cNvPr id="137" name="Testing badge"/>
          <p:cNvSpPr/>
          <p:nvPr/>
        </p:nvSpPr>
        <p:spPr>
          <a:xfrm>
            <a:off x="22430232" y="2849880"/>
            <a:ext cx="402336" cy="402336"/>
          </a:xfrm>
          <a:prstGeom prst="ellipse">
            <a:avLst/>
          </a:prstGeom>
          <a:solidFill>
            <a:schemeClr val="accent1"/>
          </a:solidFill>
          <a:ln/>
        </p:spPr>
      </p:sp>
      <p:sp>
        <p:nvSpPr>
          <p:cNvPr id="138" name="Testing number"/>
          <p:cNvSpPr txBox="1"/>
          <p:nvPr/>
        </p:nvSpPr>
        <p:spPr>
          <a:xfrm>
            <a:off x="22430232" y="2849880"/>
            <a:ext cx="402336" cy="402336"/>
          </a:xfrm>
          <a:prstGeom prst="rect">
            <a:avLst/>
          </a:prstGeom>
          <a:noFill/>
          <a:ln/>
        </p:spPr>
        <p:txBody>
          <a:bodyPr wrap="square" lIns="0" tIns="0" rIns="0" bIns="0" rtlCol="0" anchor="ctr"/>
          <a:lstStyle/>
          <a:p>
            <a:pPr marL="0" indent="0" algn="ctr">
              <a:buNone/>
            </a:pPr>
            <a:r>
              <a:rPr lang="en-US" sz="1600" b="1" dirty="0">
                <a:solidFill>
                  <a:schemeClr val="bg1"/>
                </a:solidFill>
              </a:rPr>
              <a:t>8</a:t>
            </a:r>
            <a:endParaRPr lang="en-US" sz="1600" dirty="0"/>
          </a:p>
        </p:txBody>
      </p:sp>
      <p:sp>
        <p:nvSpPr>
          <p:cNvPr id="139" name="Testing heading"/>
          <p:cNvSpPr txBox="1"/>
          <p:nvPr/>
        </p:nvSpPr>
        <p:spPr>
          <a:xfrm>
            <a:off x="22978872" y="2831592"/>
            <a:ext cx="5321808" cy="438912"/>
          </a:xfrm>
          <a:prstGeom prst="rect">
            <a:avLst/>
          </a:prstGeom>
          <a:noFill/>
          <a:ln/>
        </p:spPr>
        <p:txBody>
          <a:bodyPr wrap="square" lIns="0" tIns="0" rIns="0" bIns="0" rtlCol="0" anchor="ctr"/>
          <a:lstStyle/>
          <a:p>
            <a:pPr marL="0" indent="0">
              <a:buNone/>
            </a:pPr>
            <a:r>
              <a:rPr lang="en-US" sz="2300" b="1" dirty="0">
                <a:solidFill>
                  <a:schemeClr val="tx2"/>
                </a:solidFill>
                <a:latin typeface="Franklin Gothic Medium" panose="020B0603020102020204" pitchFamily="34" charset="0"/>
                <a:ea typeface="Cambria" pitchFamily="34" charset="-122"/>
                <a:cs typeface="Lucida Sans Unicode" panose="020B0602030504020204" pitchFamily="34" charset="0"/>
              </a:rPr>
              <a:t>Validation, Error Handling and Testing</a:t>
            </a:r>
            <a:endParaRPr lang="en-US" sz="2300" dirty="0">
              <a:latin typeface="Franklin Gothic Medium" panose="020B0603020102020204" pitchFamily="34" charset="0"/>
              <a:cs typeface="Lucida Sans Unicode" panose="020B0602030504020204" pitchFamily="34" charset="0"/>
            </a:endParaRPr>
          </a:p>
        </p:txBody>
      </p:sp>
      <p:sp>
        <p:nvSpPr>
          <p:cNvPr id="140" name="Testing text"/>
          <p:cNvSpPr txBox="1"/>
          <p:nvPr/>
        </p:nvSpPr>
        <p:spPr>
          <a:xfrm>
            <a:off x="22430232" y="3511296"/>
            <a:ext cx="5870448" cy="1892596"/>
          </a:xfrm>
          <a:prstGeom prst="rect">
            <a:avLst/>
          </a:prstGeom>
          <a:noFill/>
          <a:ln/>
        </p:spPr>
        <p:txBody>
          <a:bodyPr wrap="square" lIns="0" tIns="0" rIns="0" bIns="0" rtlCol="0" anchor="t"/>
          <a:lstStyle/>
          <a:p>
            <a:pPr marL="0" indent="0">
              <a:buNone/>
            </a:pPr>
            <a:r>
              <a:rPr lang="en-US" sz="1500" dirty="0">
                <a:solidFill>
                  <a:schemeClr val="tx1"/>
                </a:solidFill>
              </a:rPr>
              <a:t>Inputs are checked before an item is created: the name must be one of the 5 foods, the weight a whole number from 50g to 2000g, and the date in YYYY-MM-DD format, not in the past and at most 14 days ahead (Oracle, no date). Letters instead of numbers show an error, not a crash. With no data, remove and peek throw StorageEmptyException and the menu shows a clear message; a 9th item throws StorageFullException. StorageTest runs 9 tests and all pass.</a:t>
            </a:r>
            <a:endParaRPr lang="en-US" sz="1500" dirty="0"/>
          </a:p>
        </p:txBody>
      </p:sp>
      <p:sp>
        <p:nvSpPr>
          <p:cNvPr id="145" name="References card"/>
          <p:cNvSpPr/>
          <p:nvPr/>
        </p:nvSpPr>
        <p:spPr>
          <a:xfrm>
            <a:off x="411480" y="14923008"/>
            <a:ext cx="28145232" cy="960120"/>
          </a:xfrm>
          <a:prstGeom prst="roundRect">
            <a:avLst>
              <a:gd name="adj" fmla="val 11429"/>
            </a:avLst>
          </a:prstGeom>
          <a:solidFill>
            <a:srgbClr val="FFF3DE"/>
          </a:solidFill>
          <a:ln/>
        </p:spPr>
      </p:sp>
      <p:sp>
        <p:nvSpPr>
          <p:cNvPr id="146" name="References heading"/>
          <p:cNvSpPr txBox="1"/>
          <p:nvPr/>
        </p:nvSpPr>
        <p:spPr>
          <a:xfrm>
            <a:off x="667512" y="14923008"/>
            <a:ext cx="1737360" cy="960120"/>
          </a:xfrm>
          <a:prstGeom prst="rect">
            <a:avLst/>
          </a:prstGeom>
          <a:noFill/>
          <a:ln/>
        </p:spPr>
        <p:txBody>
          <a:bodyPr wrap="square" lIns="0" tIns="0" rIns="0" bIns="0" rtlCol="0" anchor="ctr"/>
          <a:lstStyle/>
          <a:p>
            <a:pPr marL="0" indent="0">
              <a:buNone/>
            </a:pPr>
            <a:r>
              <a:rPr lang="en-US" sz="2000" b="1" dirty="0">
                <a:solidFill>
                  <a:schemeClr val="tx2"/>
                </a:solidFill>
                <a:latin typeface="Franklin Gothic Medium" panose="020B0603020102020204" pitchFamily="34" charset="0"/>
                <a:ea typeface="Cambria" pitchFamily="34" charset="-122"/>
                <a:cs typeface="Cambria" pitchFamily="34" charset="-120"/>
              </a:rPr>
              <a:t>References</a:t>
            </a:r>
            <a:endParaRPr lang="en-US" sz="2000" dirty="0">
              <a:latin typeface="Franklin Gothic Medium" panose="020B0603020102020204" pitchFamily="34" charset="0"/>
            </a:endParaRPr>
          </a:p>
        </p:txBody>
      </p:sp>
      <p:sp>
        <p:nvSpPr>
          <p:cNvPr id="147" name="References"/>
          <p:cNvSpPr txBox="1"/>
          <p:nvPr/>
        </p:nvSpPr>
        <p:spPr>
          <a:xfrm>
            <a:off x="2496312" y="14996160"/>
            <a:ext cx="25804368" cy="813816"/>
          </a:xfrm>
          <a:prstGeom prst="rect">
            <a:avLst/>
          </a:prstGeom>
          <a:noFill/>
          <a:ln/>
        </p:spPr>
        <p:txBody>
          <a:bodyPr wrap="square" lIns="0" tIns="0" rIns="0" bIns="0" rtlCol="0" anchor="ctr"/>
          <a:lstStyle/>
          <a:p>
            <a:r>
              <a:rPr lang="en-US" sz="1200" dirty="0" err="1">
                <a:solidFill>
                  <a:schemeClr val="accent6"/>
                </a:solidFill>
              </a:rPr>
              <a:t>Programiz</a:t>
            </a:r>
            <a:r>
              <a:rPr lang="en-US" sz="1200" dirty="0">
                <a:solidFill>
                  <a:schemeClr val="accent6"/>
                </a:solidFill>
              </a:rPr>
              <a:t> (2017). </a:t>
            </a:r>
            <a:r>
              <a:rPr lang="en-US" sz="1200" i="1" dirty="0">
                <a:solidFill>
                  <a:schemeClr val="accent6"/>
                </a:solidFill>
              </a:rPr>
              <a:t>Circular queue data structure</a:t>
            </a:r>
            <a:r>
              <a:rPr lang="en-US" sz="1200" dirty="0">
                <a:solidFill>
                  <a:schemeClr val="accent6"/>
                </a:solidFill>
              </a:rPr>
              <a:t>. [online] </a:t>
            </a:r>
            <a:r>
              <a:rPr lang="en-US" sz="1200" dirty="0" err="1">
                <a:solidFill>
                  <a:schemeClr val="accent6"/>
                </a:solidFill>
              </a:rPr>
              <a:t>Programiz</a:t>
            </a:r>
            <a:r>
              <a:rPr lang="en-US" sz="1200" dirty="0">
                <a:solidFill>
                  <a:schemeClr val="accent6"/>
                </a:solidFill>
              </a:rPr>
              <a:t>. Available at: https://</a:t>
            </a:r>
            <a:r>
              <a:rPr lang="en-US" sz="1200" dirty="0" err="1">
                <a:solidFill>
                  <a:schemeClr val="accent6"/>
                </a:solidFill>
              </a:rPr>
              <a:t>www.programiz.com</a:t>
            </a:r>
            <a:r>
              <a:rPr lang="en-US" sz="1200" dirty="0">
                <a:solidFill>
                  <a:schemeClr val="accent6"/>
                </a:solidFill>
              </a:rPr>
              <a:t>/</a:t>
            </a:r>
            <a:r>
              <a:rPr lang="en-US" sz="1200" dirty="0" err="1">
                <a:solidFill>
                  <a:schemeClr val="accent6"/>
                </a:solidFill>
              </a:rPr>
              <a:t>dsa</a:t>
            </a:r>
            <a:r>
              <a:rPr lang="en-US" sz="1200" dirty="0">
                <a:solidFill>
                  <a:schemeClr val="accent6"/>
                </a:solidFill>
              </a:rPr>
              <a:t>/circular-queue [Accessed 11 Oct. 2026].</a:t>
            </a:r>
          </a:p>
          <a:p>
            <a:r>
              <a:rPr lang="en-US" sz="1200" dirty="0" err="1">
                <a:solidFill>
                  <a:schemeClr val="accent6"/>
                </a:solidFill>
              </a:rPr>
              <a:t>docs.oracle.com</a:t>
            </a:r>
            <a:r>
              <a:rPr lang="en-US" sz="1200" dirty="0">
                <a:solidFill>
                  <a:schemeClr val="accent6"/>
                </a:solidFill>
              </a:rPr>
              <a:t>. (n.d.). </a:t>
            </a:r>
            <a:r>
              <a:rPr lang="en-US" sz="1200" i="1" dirty="0">
                <a:solidFill>
                  <a:schemeClr val="accent6"/>
                </a:solidFill>
              </a:rPr>
              <a:t>Lesson: Exceptions (the </a:t>
            </a:r>
            <a:r>
              <a:rPr lang="en-US" sz="1200" i="1" dirty="0" err="1">
                <a:solidFill>
                  <a:schemeClr val="accent6"/>
                </a:solidFill>
              </a:rPr>
              <a:t>java</a:t>
            </a:r>
            <a:r>
              <a:rPr lang="en-US" sz="1200" i="1" baseline="30000" dirty="0" err="1">
                <a:solidFill>
                  <a:schemeClr val="accent6"/>
                </a:solidFill>
              </a:rPr>
              <a:t>TM</a:t>
            </a:r>
            <a:r>
              <a:rPr lang="en-US" sz="1200" i="1" dirty="0">
                <a:solidFill>
                  <a:schemeClr val="accent6"/>
                </a:solidFill>
              </a:rPr>
              <a:t> tutorials &gt; essential java classes)</a:t>
            </a:r>
            <a:r>
              <a:rPr lang="en-US" sz="1200" dirty="0">
                <a:solidFill>
                  <a:schemeClr val="accent6"/>
                </a:solidFill>
              </a:rPr>
              <a:t>. [online] Available at: https://</a:t>
            </a:r>
            <a:r>
              <a:rPr lang="en-US" sz="1200" dirty="0" err="1">
                <a:solidFill>
                  <a:schemeClr val="accent6"/>
                </a:solidFill>
              </a:rPr>
              <a:t>docs.oracle.com</a:t>
            </a:r>
            <a:r>
              <a:rPr lang="en-US" sz="1200" dirty="0">
                <a:solidFill>
                  <a:schemeClr val="accent6"/>
                </a:solidFill>
              </a:rPr>
              <a:t>/</a:t>
            </a:r>
            <a:r>
              <a:rPr lang="en-US" sz="1200" dirty="0" err="1">
                <a:solidFill>
                  <a:schemeClr val="accent6"/>
                </a:solidFill>
              </a:rPr>
              <a:t>javase</a:t>
            </a:r>
            <a:r>
              <a:rPr lang="en-US" sz="1200" dirty="0">
                <a:solidFill>
                  <a:schemeClr val="accent6"/>
                </a:solidFill>
              </a:rPr>
              <a:t>/tutorial/essential/exceptions/ [Accessed 12 Oct. 2026].</a:t>
            </a:r>
          </a:p>
          <a:p>
            <a:r>
              <a:rPr lang="en-US" sz="1200" dirty="0">
                <a:solidFill>
                  <a:schemeClr val="accent6"/>
                </a:solidFill>
              </a:rPr>
              <a:t>Oracle (n.d.). </a:t>
            </a:r>
            <a:r>
              <a:rPr lang="en-US" sz="1200" i="1" dirty="0">
                <a:solidFill>
                  <a:schemeClr val="accent6"/>
                </a:solidFill>
              </a:rPr>
              <a:t>Standard calendar</a:t>
            </a:r>
            <a:r>
              <a:rPr lang="en-US" sz="1200" dirty="0">
                <a:solidFill>
                  <a:schemeClr val="accent6"/>
                </a:solidFill>
              </a:rPr>
              <a:t>. [online] The </a:t>
            </a:r>
            <a:r>
              <a:rPr lang="en-US" sz="1200" dirty="0" err="1">
                <a:solidFill>
                  <a:schemeClr val="accent6"/>
                </a:solidFill>
              </a:rPr>
              <a:t>Java</a:t>
            </a:r>
            <a:r>
              <a:rPr lang="en-US" sz="1200" baseline="30000" dirty="0" err="1">
                <a:solidFill>
                  <a:schemeClr val="accent6"/>
                </a:solidFill>
              </a:rPr>
              <a:t>TM</a:t>
            </a:r>
            <a:r>
              <a:rPr lang="en-US" sz="1200" dirty="0">
                <a:solidFill>
                  <a:schemeClr val="accent6"/>
                </a:solidFill>
              </a:rPr>
              <a:t> Tutorials. Available at: https://</a:t>
            </a:r>
            <a:r>
              <a:rPr lang="en-US" sz="1200" dirty="0" err="1">
                <a:solidFill>
                  <a:schemeClr val="accent6"/>
                </a:solidFill>
              </a:rPr>
              <a:t>docs.oracle.com</a:t>
            </a:r>
            <a:r>
              <a:rPr lang="en-US" sz="1200" dirty="0">
                <a:solidFill>
                  <a:schemeClr val="accent6"/>
                </a:solidFill>
              </a:rPr>
              <a:t>/</a:t>
            </a:r>
            <a:r>
              <a:rPr lang="en-US" sz="1200" dirty="0" err="1">
                <a:solidFill>
                  <a:schemeClr val="accent6"/>
                </a:solidFill>
              </a:rPr>
              <a:t>javase</a:t>
            </a:r>
            <a:r>
              <a:rPr lang="en-US" sz="1200" dirty="0">
                <a:solidFill>
                  <a:schemeClr val="accent6"/>
                </a:solidFill>
              </a:rPr>
              <a:t>/tutorial/datetime/iso/</a:t>
            </a:r>
            <a:r>
              <a:rPr lang="en-US" sz="1200" dirty="0" err="1">
                <a:solidFill>
                  <a:schemeClr val="accent6"/>
                </a:solidFill>
              </a:rPr>
              <a:t>date.html</a:t>
            </a:r>
            <a:r>
              <a:rPr lang="en-US" sz="1200" dirty="0">
                <a:solidFill>
                  <a:schemeClr val="accent6"/>
                </a:solidFill>
              </a:rPr>
              <a:t> [Accessed 13 Oct. 2026].</a:t>
            </a:r>
          </a:p>
          <a:p>
            <a:r>
              <a:rPr lang="en-US" sz="1200" i="1" dirty="0">
                <a:solidFill>
                  <a:schemeClr val="accent6"/>
                </a:solidFill>
              </a:rPr>
              <a:t>Asymptotic complexity</a:t>
            </a:r>
            <a:r>
              <a:rPr lang="en-US" sz="1200" dirty="0">
                <a:solidFill>
                  <a:schemeClr val="accent6"/>
                </a:solidFill>
              </a:rPr>
              <a:t> (no date) </a:t>
            </a:r>
            <a:r>
              <a:rPr lang="en-US" sz="1200" i="1" dirty="0" err="1">
                <a:solidFill>
                  <a:schemeClr val="accent6"/>
                </a:solidFill>
              </a:rPr>
              <a:t>Cornell.edu</a:t>
            </a:r>
            <a:r>
              <a:rPr lang="en-US" sz="1200" dirty="0">
                <a:solidFill>
                  <a:schemeClr val="accent6"/>
                </a:solidFill>
              </a:rPr>
              <a:t>. Available at: https://</a:t>
            </a:r>
            <a:r>
              <a:rPr lang="en-US" sz="1200" dirty="0" err="1">
                <a:solidFill>
                  <a:schemeClr val="accent6"/>
                </a:solidFill>
              </a:rPr>
              <a:t>www.cs.cornell.edu</a:t>
            </a:r>
            <a:r>
              <a:rPr lang="en-US" sz="1200" dirty="0">
                <a:solidFill>
                  <a:schemeClr val="accent6"/>
                </a:solidFill>
              </a:rPr>
              <a:t>/courses/cs3110/2014fa/lectures/24/lec24.html [Accessed: 17 Oct. 2026].</a:t>
            </a:r>
          </a:p>
        </p:txBody>
      </p:sp>
      <p:sp>
        <p:nvSpPr>
          <p:cNvPr id="153" name="Testing card">
            <a:extLst>
              <a:ext uri="{FF2B5EF4-FFF2-40B4-BE49-F238E27FC236}">
                <a16:creationId xmlns:a16="http://schemas.microsoft.com/office/drawing/2014/main" id="{97FBC29F-8D20-7D3D-B0AF-8E5A6D631204}"/>
              </a:ext>
            </a:extLst>
          </p:cNvPr>
          <p:cNvSpPr/>
          <p:nvPr/>
        </p:nvSpPr>
        <p:spPr>
          <a:xfrm>
            <a:off x="22174200" y="9981637"/>
            <a:ext cx="6382512" cy="4667051"/>
          </a:xfrm>
          <a:prstGeom prst="roundRect">
            <a:avLst>
              <a:gd name="adj" fmla="val 2006"/>
            </a:avLst>
          </a:prstGeom>
          <a:solidFill>
            <a:srgbClr val="FFF3DE"/>
          </a:solidFill>
          <a:ln/>
        </p:spPr>
      </p:sp>
      <p:grpSp>
        <p:nvGrpSpPr>
          <p:cNvPr id="209" name="Group 208">
            <a:extLst>
              <a:ext uri="{FF2B5EF4-FFF2-40B4-BE49-F238E27FC236}">
                <a16:creationId xmlns:a16="http://schemas.microsoft.com/office/drawing/2014/main" id="{B58DFD61-13DB-7EE3-EB3C-985744CF12CB}"/>
              </a:ext>
            </a:extLst>
          </p:cNvPr>
          <p:cNvGrpSpPr/>
          <p:nvPr/>
        </p:nvGrpSpPr>
        <p:grpSpPr>
          <a:xfrm>
            <a:off x="569412" y="5056632"/>
            <a:ext cx="4537578" cy="639170"/>
            <a:chOff x="441452" y="4930436"/>
            <a:chExt cx="4537578" cy="639170"/>
          </a:xfrm>
        </p:grpSpPr>
        <p:sp>
          <p:nvSpPr>
            <p:cNvPr id="12" name="Index 0"/>
            <p:cNvSpPr/>
            <p:nvPr/>
          </p:nvSpPr>
          <p:spPr>
            <a:xfrm>
              <a:off x="1069848" y="5033772"/>
              <a:ext cx="438667" cy="386507"/>
            </a:xfrm>
            <a:prstGeom prst="roundRect">
              <a:avLst>
                <a:gd name="adj" fmla="val 10909"/>
              </a:avLst>
            </a:prstGeom>
            <a:solidFill>
              <a:schemeClr val="bg1"/>
            </a:solidFill>
            <a:ln w="12700">
              <a:solidFill>
                <a:schemeClr val="bg2">
                  <a:lumMod val="50000"/>
                </a:schemeClr>
              </a:solidFill>
              <a:prstDash val="solid"/>
            </a:ln>
          </p:spPr>
        </p:sp>
        <p:sp>
          <p:nvSpPr>
            <p:cNvPr id="21" name="Index 1"/>
            <p:cNvSpPr/>
            <p:nvPr/>
          </p:nvSpPr>
          <p:spPr>
            <a:xfrm>
              <a:off x="1565636" y="5033772"/>
              <a:ext cx="438667" cy="386507"/>
            </a:xfrm>
            <a:prstGeom prst="roundRect">
              <a:avLst>
                <a:gd name="adj" fmla="val 10909"/>
              </a:avLst>
            </a:prstGeom>
            <a:solidFill>
              <a:schemeClr val="bg1"/>
            </a:solidFill>
            <a:ln w="12700">
              <a:solidFill>
                <a:schemeClr val="bg2">
                  <a:lumMod val="50000"/>
                </a:schemeClr>
              </a:solidFill>
              <a:prstDash val="solid"/>
            </a:ln>
          </p:spPr>
        </p:sp>
        <p:sp>
          <p:nvSpPr>
            <p:cNvPr id="24" name="Index 2"/>
            <p:cNvSpPr/>
            <p:nvPr/>
          </p:nvSpPr>
          <p:spPr>
            <a:xfrm>
              <a:off x="2061424" y="5033772"/>
              <a:ext cx="438667" cy="386507"/>
            </a:xfrm>
            <a:prstGeom prst="roundRect">
              <a:avLst>
                <a:gd name="adj" fmla="val 10909"/>
              </a:avLst>
            </a:prstGeom>
            <a:solidFill>
              <a:schemeClr val="bg1"/>
            </a:solidFill>
            <a:ln w="12700">
              <a:solidFill>
                <a:schemeClr val="bg2">
                  <a:lumMod val="50000"/>
                </a:schemeClr>
              </a:solidFill>
              <a:prstDash val="solid"/>
            </a:ln>
          </p:spPr>
        </p:sp>
        <p:sp>
          <p:nvSpPr>
            <p:cNvPr id="144" name="Index 3"/>
            <p:cNvSpPr/>
            <p:nvPr/>
          </p:nvSpPr>
          <p:spPr>
            <a:xfrm>
              <a:off x="2557212" y="5033772"/>
              <a:ext cx="438667" cy="386507"/>
            </a:xfrm>
            <a:prstGeom prst="roundRect">
              <a:avLst>
                <a:gd name="adj" fmla="val 10909"/>
              </a:avLst>
            </a:prstGeom>
            <a:solidFill>
              <a:schemeClr val="bg1"/>
            </a:solidFill>
            <a:ln w="12700">
              <a:solidFill>
                <a:schemeClr val="bg2">
                  <a:lumMod val="50000"/>
                </a:schemeClr>
              </a:solidFill>
              <a:prstDash val="solid"/>
            </a:ln>
          </p:spPr>
        </p:sp>
        <p:sp>
          <p:nvSpPr>
            <p:cNvPr id="149" name="Index 4"/>
            <p:cNvSpPr/>
            <p:nvPr/>
          </p:nvSpPr>
          <p:spPr>
            <a:xfrm>
              <a:off x="3053000" y="5033772"/>
              <a:ext cx="438667" cy="386507"/>
            </a:xfrm>
            <a:prstGeom prst="roundRect">
              <a:avLst>
                <a:gd name="adj" fmla="val 10909"/>
              </a:avLst>
            </a:prstGeom>
            <a:solidFill>
              <a:schemeClr val="bg1"/>
            </a:solidFill>
            <a:ln w="12700">
              <a:solidFill>
                <a:schemeClr val="bg2">
                  <a:lumMod val="50000"/>
                </a:schemeClr>
              </a:solidFill>
              <a:prstDash val="solid"/>
            </a:ln>
          </p:spPr>
        </p:sp>
        <p:sp>
          <p:nvSpPr>
            <p:cNvPr id="151" name="Index 5"/>
            <p:cNvSpPr/>
            <p:nvPr/>
          </p:nvSpPr>
          <p:spPr>
            <a:xfrm>
              <a:off x="3548788" y="5033772"/>
              <a:ext cx="438667" cy="386507"/>
            </a:xfrm>
            <a:prstGeom prst="roundRect">
              <a:avLst>
                <a:gd name="adj" fmla="val 10909"/>
              </a:avLst>
            </a:prstGeom>
            <a:solidFill>
              <a:schemeClr val="bg1"/>
            </a:solidFill>
            <a:ln w="12700">
              <a:solidFill>
                <a:schemeClr val="bg2">
                  <a:lumMod val="50000"/>
                </a:schemeClr>
              </a:solidFill>
              <a:prstDash val="solid"/>
            </a:ln>
          </p:spPr>
        </p:sp>
        <p:sp>
          <p:nvSpPr>
            <p:cNvPr id="154" name="Index 6"/>
            <p:cNvSpPr/>
            <p:nvPr/>
          </p:nvSpPr>
          <p:spPr>
            <a:xfrm>
              <a:off x="4044576" y="5033772"/>
              <a:ext cx="438667" cy="386507"/>
            </a:xfrm>
            <a:prstGeom prst="roundRect">
              <a:avLst>
                <a:gd name="adj" fmla="val 10909"/>
              </a:avLst>
            </a:prstGeom>
            <a:solidFill>
              <a:schemeClr val="bg1"/>
            </a:solidFill>
            <a:ln w="12700">
              <a:solidFill>
                <a:schemeClr val="bg2">
                  <a:lumMod val="50000"/>
                </a:schemeClr>
              </a:solidFill>
              <a:prstDash val="solid"/>
            </a:ln>
          </p:spPr>
        </p:sp>
        <p:sp>
          <p:nvSpPr>
            <p:cNvPr id="156" name="Index 7"/>
            <p:cNvSpPr/>
            <p:nvPr/>
          </p:nvSpPr>
          <p:spPr>
            <a:xfrm>
              <a:off x="4540363" y="5033772"/>
              <a:ext cx="438667" cy="386507"/>
            </a:xfrm>
            <a:prstGeom prst="roundRect">
              <a:avLst>
                <a:gd name="adj" fmla="val 10909"/>
              </a:avLst>
            </a:prstGeom>
            <a:solidFill>
              <a:schemeClr val="bg1"/>
            </a:solidFill>
            <a:ln w="12700">
              <a:solidFill>
                <a:schemeClr val="bg2">
                  <a:lumMod val="50000"/>
                </a:schemeClr>
              </a:solidFill>
              <a:prstDash val="solid"/>
            </a:ln>
          </p:spPr>
        </p:sp>
        <p:sp>
          <p:nvSpPr>
            <p:cNvPr id="192" name="Arrow: Right 191">
              <a:extLst>
                <a:ext uri="{FF2B5EF4-FFF2-40B4-BE49-F238E27FC236}">
                  <a16:creationId xmlns:a16="http://schemas.microsoft.com/office/drawing/2014/main" id="{161E8241-D4B4-ED40-55B9-7E268FCF0536}"/>
                </a:ext>
              </a:extLst>
            </p:cNvPr>
            <p:cNvSpPr/>
            <p:nvPr/>
          </p:nvSpPr>
          <p:spPr>
            <a:xfrm>
              <a:off x="584840" y="5113782"/>
              <a:ext cx="360040" cy="98553"/>
            </a:xfrm>
            <a:prstGeom prst="rightArrow">
              <a:avLst>
                <a:gd name="adj1" fmla="val 68899"/>
                <a:gd name="adj2" fmla="val 44529"/>
              </a:avLst>
            </a:prstGeom>
            <a:solidFill>
              <a:srgbClr val="00A452"/>
            </a:solidFill>
            <a:ln>
              <a:solidFill>
                <a:schemeClr val="accent3">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E"/>
            </a:p>
          </p:txBody>
        </p:sp>
        <p:sp>
          <p:nvSpPr>
            <p:cNvPr id="193" name="Arrow: Right 192">
              <a:extLst>
                <a:ext uri="{FF2B5EF4-FFF2-40B4-BE49-F238E27FC236}">
                  <a16:creationId xmlns:a16="http://schemas.microsoft.com/office/drawing/2014/main" id="{E2E902DB-0A32-A198-1AA6-7D01E9A7ED12}"/>
                </a:ext>
              </a:extLst>
            </p:cNvPr>
            <p:cNvSpPr/>
            <p:nvPr/>
          </p:nvSpPr>
          <p:spPr>
            <a:xfrm rot="10800000">
              <a:off x="649224" y="5256274"/>
              <a:ext cx="360040" cy="98553"/>
            </a:xfrm>
            <a:prstGeom prst="rightArrow">
              <a:avLst>
                <a:gd name="adj1" fmla="val 68899"/>
                <a:gd name="adj2" fmla="val 44529"/>
              </a:avLst>
            </a:prstGeom>
            <a:solidFill>
              <a:schemeClr val="accent1">
                <a:lumMod val="75000"/>
              </a:schemeClr>
            </a:solidFill>
            <a:ln>
              <a:solidFill>
                <a:schemeClr val="accent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E"/>
            </a:p>
          </p:txBody>
        </p:sp>
        <p:sp>
          <p:nvSpPr>
            <p:cNvPr id="194" name="Text 16">
              <a:extLst>
                <a:ext uri="{FF2B5EF4-FFF2-40B4-BE49-F238E27FC236}">
                  <a16:creationId xmlns:a16="http://schemas.microsoft.com/office/drawing/2014/main" id="{AE4F32C8-45EA-D3FD-BB0A-5BC7226B30FF}"/>
                </a:ext>
              </a:extLst>
            </p:cNvPr>
            <p:cNvSpPr/>
            <p:nvPr/>
          </p:nvSpPr>
          <p:spPr>
            <a:xfrm>
              <a:off x="527558" y="4930436"/>
              <a:ext cx="347472" cy="219668"/>
            </a:xfrm>
            <a:prstGeom prst="rect">
              <a:avLst/>
            </a:prstGeom>
            <a:noFill/>
            <a:ln/>
          </p:spPr>
          <p:txBody>
            <a:bodyPr wrap="square" lIns="0" tIns="0" rIns="0" bIns="0" rtlCol="0" anchor="ctr">
              <a:normAutofit/>
            </a:bodyPr>
            <a:lstStyle/>
            <a:p>
              <a:pPr marL="0" indent="0" algn="ctr">
                <a:buNone/>
              </a:pPr>
              <a:r>
                <a:rPr lang="en-DE" sz="1050" b="1" kern="0" spc="20" dirty="0">
                  <a:solidFill>
                    <a:srgbClr val="008E47"/>
                  </a:solidFill>
                  <a:latin typeface="Aptos Display" panose="020B0004020202020204" pitchFamily="34" charset="0"/>
                  <a:ea typeface="Inter Display" pitchFamily="34" charset="-122"/>
                  <a:cs typeface="Inter Display" pitchFamily="34" charset="-120"/>
                </a:rPr>
                <a:t>ADD</a:t>
              </a:r>
              <a:endParaRPr lang="en-US" sz="1050" b="1" dirty="0">
                <a:solidFill>
                  <a:srgbClr val="008E47"/>
                </a:solidFill>
                <a:latin typeface="Aptos Display" panose="020B0004020202020204" pitchFamily="34" charset="0"/>
              </a:endParaRPr>
            </a:p>
          </p:txBody>
        </p:sp>
        <p:sp>
          <p:nvSpPr>
            <p:cNvPr id="195" name="Text 16">
              <a:extLst>
                <a:ext uri="{FF2B5EF4-FFF2-40B4-BE49-F238E27FC236}">
                  <a16:creationId xmlns:a16="http://schemas.microsoft.com/office/drawing/2014/main" id="{E4902AFB-0812-BECE-CE2A-6D2317C6E802}"/>
                </a:ext>
              </a:extLst>
            </p:cNvPr>
            <p:cNvSpPr/>
            <p:nvPr/>
          </p:nvSpPr>
          <p:spPr>
            <a:xfrm>
              <a:off x="441452" y="5349938"/>
              <a:ext cx="652272" cy="219668"/>
            </a:xfrm>
            <a:prstGeom prst="rect">
              <a:avLst/>
            </a:prstGeom>
            <a:noFill/>
            <a:ln/>
          </p:spPr>
          <p:txBody>
            <a:bodyPr wrap="square" lIns="0" tIns="0" rIns="0" bIns="0" rtlCol="0" anchor="ctr">
              <a:normAutofit/>
            </a:bodyPr>
            <a:lstStyle/>
            <a:p>
              <a:pPr marL="0" indent="0" algn="ctr">
                <a:buNone/>
              </a:pPr>
              <a:r>
                <a:rPr lang="en-DE" sz="1050" b="1" kern="0" spc="20" dirty="0">
                  <a:solidFill>
                    <a:srgbClr val="C00000"/>
                  </a:solidFill>
                  <a:latin typeface="Aptos Display" panose="020B0004020202020204" pitchFamily="34" charset="0"/>
                  <a:ea typeface="Inter Display" pitchFamily="34" charset="-122"/>
                  <a:cs typeface="Inter Display" pitchFamily="34" charset="-120"/>
                </a:rPr>
                <a:t>REMOVE</a:t>
              </a:r>
              <a:endParaRPr lang="en-US" sz="1050" b="1" dirty="0">
                <a:solidFill>
                  <a:srgbClr val="C00000"/>
                </a:solidFill>
                <a:latin typeface="Aptos Display" panose="020B0004020202020204" pitchFamily="34" charset="0"/>
              </a:endParaRPr>
            </a:p>
          </p:txBody>
        </p:sp>
      </p:grpSp>
      <p:grpSp>
        <p:nvGrpSpPr>
          <p:cNvPr id="211" name="Group 210">
            <a:extLst>
              <a:ext uri="{FF2B5EF4-FFF2-40B4-BE49-F238E27FC236}">
                <a16:creationId xmlns:a16="http://schemas.microsoft.com/office/drawing/2014/main" id="{84E9D07D-0CB2-7184-0E79-A35A79A1AAEF}"/>
              </a:ext>
            </a:extLst>
          </p:cNvPr>
          <p:cNvGrpSpPr/>
          <p:nvPr/>
        </p:nvGrpSpPr>
        <p:grpSpPr>
          <a:xfrm>
            <a:off x="1850014" y="5753394"/>
            <a:ext cx="5026274" cy="386507"/>
            <a:chOff x="649224" y="5815878"/>
            <a:chExt cx="5026274" cy="386507"/>
          </a:xfrm>
        </p:grpSpPr>
        <p:sp>
          <p:nvSpPr>
            <p:cNvPr id="197" name="Index 0">
              <a:extLst>
                <a:ext uri="{FF2B5EF4-FFF2-40B4-BE49-F238E27FC236}">
                  <a16:creationId xmlns:a16="http://schemas.microsoft.com/office/drawing/2014/main" id="{328A875F-F9E6-55BB-EF61-1B85DD5A916C}"/>
                </a:ext>
              </a:extLst>
            </p:cNvPr>
            <p:cNvSpPr/>
            <p:nvPr/>
          </p:nvSpPr>
          <p:spPr>
            <a:xfrm>
              <a:off x="1097280" y="5815878"/>
              <a:ext cx="438667" cy="386507"/>
            </a:xfrm>
            <a:prstGeom prst="roundRect">
              <a:avLst>
                <a:gd name="adj" fmla="val 10909"/>
              </a:avLst>
            </a:prstGeom>
            <a:solidFill>
              <a:schemeClr val="bg1"/>
            </a:solidFill>
            <a:ln w="12700">
              <a:solidFill>
                <a:schemeClr val="bg2">
                  <a:lumMod val="50000"/>
                </a:schemeClr>
              </a:solidFill>
              <a:prstDash val="solid"/>
            </a:ln>
          </p:spPr>
        </p:sp>
        <p:sp>
          <p:nvSpPr>
            <p:cNvPr id="198" name="Index 1">
              <a:extLst>
                <a:ext uri="{FF2B5EF4-FFF2-40B4-BE49-F238E27FC236}">
                  <a16:creationId xmlns:a16="http://schemas.microsoft.com/office/drawing/2014/main" id="{74F66524-06DD-E8C7-F7F7-D5EB2B40D182}"/>
                </a:ext>
              </a:extLst>
            </p:cNvPr>
            <p:cNvSpPr/>
            <p:nvPr/>
          </p:nvSpPr>
          <p:spPr>
            <a:xfrm>
              <a:off x="1593068" y="5815878"/>
              <a:ext cx="438667" cy="386507"/>
            </a:xfrm>
            <a:prstGeom prst="roundRect">
              <a:avLst>
                <a:gd name="adj" fmla="val 10909"/>
              </a:avLst>
            </a:prstGeom>
            <a:solidFill>
              <a:schemeClr val="bg1"/>
            </a:solidFill>
            <a:ln w="12700">
              <a:solidFill>
                <a:schemeClr val="bg2">
                  <a:lumMod val="50000"/>
                </a:schemeClr>
              </a:solidFill>
              <a:prstDash val="solid"/>
            </a:ln>
          </p:spPr>
        </p:sp>
        <p:sp>
          <p:nvSpPr>
            <p:cNvPr id="199" name="Index 2">
              <a:extLst>
                <a:ext uri="{FF2B5EF4-FFF2-40B4-BE49-F238E27FC236}">
                  <a16:creationId xmlns:a16="http://schemas.microsoft.com/office/drawing/2014/main" id="{A9642D9A-B72A-D51A-70AC-6439305D47D9}"/>
                </a:ext>
              </a:extLst>
            </p:cNvPr>
            <p:cNvSpPr/>
            <p:nvPr/>
          </p:nvSpPr>
          <p:spPr>
            <a:xfrm>
              <a:off x="2088856" y="5815878"/>
              <a:ext cx="438667" cy="386507"/>
            </a:xfrm>
            <a:prstGeom prst="roundRect">
              <a:avLst>
                <a:gd name="adj" fmla="val 10909"/>
              </a:avLst>
            </a:prstGeom>
            <a:solidFill>
              <a:schemeClr val="bg1"/>
            </a:solidFill>
            <a:ln w="12700">
              <a:solidFill>
                <a:schemeClr val="bg2">
                  <a:lumMod val="50000"/>
                </a:schemeClr>
              </a:solidFill>
              <a:prstDash val="solid"/>
            </a:ln>
          </p:spPr>
        </p:sp>
        <p:sp>
          <p:nvSpPr>
            <p:cNvPr id="200" name="Index 3">
              <a:extLst>
                <a:ext uri="{FF2B5EF4-FFF2-40B4-BE49-F238E27FC236}">
                  <a16:creationId xmlns:a16="http://schemas.microsoft.com/office/drawing/2014/main" id="{5BFA34FB-41E1-28DE-4F76-F7ACF1157A3C}"/>
                </a:ext>
              </a:extLst>
            </p:cNvPr>
            <p:cNvSpPr/>
            <p:nvPr/>
          </p:nvSpPr>
          <p:spPr>
            <a:xfrm>
              <a:off x="2584644" y="5815878"/>
              <a:ext cx="438667" cy="386507"/>
            </a:xfrm>
            <a:prstGeom prst="roundRect">
              <a:avLst>
                <a:gd name="adj" fmla="val 10909"/>
              </a:avLst>
            </a:prstGeom>
            <a:solidFill>
              <a:schemeClr val="bg1"/>
            </a:solidFill>
            <a:ln w="12700">
              <a:solidFill>
                <a:schemeClr val="bg2">
                  <a:lumMod val="50000"/>
                </a:schemeClr>
              </a:solidFill>
              <a:prstDash val="solid"/>
            </a:ln>
          </p:spPr>
        </p:sp>
        <p:sp>
          <p:nvSpPr>
            <p:cNvPr id="201" name="Index 4">
              <a:extLst>
                <a:ext uri="{FF2B5EF4-FFF2-40B4-BE49-F238E27FC236}">
                  <a16:creationId xmlns:a16="http://schemas.microsoft.com/office/drawing/2014/main" id="{7F105B61-C14F-8D73-1244-E7550A4F3407}"/>
                </a:ext>
              </a:extLst>
            </p:cNvPr>
            <p:cNvSpPr/>
            <p:nvPr/>
          </p:nvSpPr>
          <p:spPr>
            <a:xfrm>
              <a:off x="3080432" y="5815878"/>
              <a:ext cx="438667" cy="386507"/>
            </a:xfrm>
            <a:prstGeom prst="roundRect">
              <a:avLst>
                <a:gd name="adj" fmla="val 10909"/>
              </a:avLst>
            </a:prstGeom>
            <a:solidFill>
              <a:schemeClr val="bg1"/>
            </a:solidFill>
            <a:ln w="12700">
              <a:solidFill>
                <a:schemeClr val="bg2">
                  <a:lumMod val="50000"/>
                </a:schemeClr>
              </a:solidFill>
              <a:prstDash val="solid"/>
            </a:ln>
          </p:spPr>
        </p:sp>
        <p:sp>
          <p:nvSpPr>
            <p:cNvPr id="202" name="Index 5">
              <a:extLst>
                <a:ext uri="{FF2B5EF4-FFF2-40B4-BE49-F238E27FC236}">
                  <a16:creationId xmlns:a16="http://schemas.microsoft.com/office/drawing/2014/main" id="{F4B947F1-7A07-CA13-C57B-BF790B73D640}"/>
                </a:ext>
              </a:extLst>
            </p:cNvPr>
            <p:cNvSpPr/>
            <p:nvPr/>
          </p:nvSpPr>
          <p:spPr>
            <a:xfrm>
              <a:off x="3576220" y="5815878"/>
              <a:ext cx="438667" cy="386507"/>
            </a:xfrm>
            <a:prstGeom prst="roundRect">
              <a:avLst>
                <a:gd name="adj" fmla="val 10909"/>
              </a:avLst>
            </a:prstGeom>
            <a:solidFill>
              <a:schemeClr val="bg1"/>
            </a:solidFill>
            <a:ln w="12700">
              <a:solidFill>
                <a:schemeClr val="bg2">
                  <a:lumMod val="50000"/>
                </a:schemeClr>
              </a:solidFill>
              <a:prstDash val="solid"/>
            </a:ln>
          </p:spPr>
        </p:sp>
        <p:sp>
          <p:nvSpPr>
            <p:cNvPr id="203" name="Index 6">
              <a:extLst>
                <a:ext uri="{FF2B5EF4-FFF2-40B4-BE49-F238E27FC236}">
                  <a16:creationId xmlns:a16="http://schemas.microsoft.com/office/drawing/2014/main" id="{8B95DA2F-FBD8-BDCA-F8D5-36CF61A3DBEE}"/>
                </a:ext>
              </a:extLst>
            </p:cNvPr>
            <p:cNvSpPr/>
            <p:nvPr/>
          </p:nvSpPr>
          <p:spPr>
            <a:xfrm>
              <a:off x="4072008" y="5815878"/>
              <a:ext cx="438667" cy="386507"/>
            </a:xfrm>
            <a:prstGeom prst="roundRect">
              <a:avLst>
                <a:gd name="adj" fmla="val 10909"/>
              </a:avLst>
            </a:prstGeom>
            <a:solidFill>
              <a:schemeClr val="bg1"/>
            </a:solidFill>
            <a:ln w="12700">
              <a:solidFill>
                <a:schemeClr val="bg2">
                  <a:lumMod val="50000"/>
                </a:schemeClr>
              </a:solidFill>
              <a:prstDash val="solid"/>
            </a:ln>
          </p:spPr>
        </p:sp>
        <p:sp>
          <p:nvSpPr>
            <p:cNvPr id="204" name="Index 7">
              <a:extLst>
                <a:ext uri="{FF2B5EF4-FFF2-40B4-BE49-F238E27FC236}">
                  <a16:creationId xmlns:a16="http://schemas.microsoft.com/office/drawing/2014/main" id="{1948AF97-B063-2AEE-2DD9-ACBCAEBFC515}"/>
                </a:ext>
              </a:extLst>
            </p:cNvPr>
            <p:cNvSpPr/>
            <p:nvPr/>
          </p:nvSpPr>
          <p:spPr>
            <a:xfrm>
              <a:off x="4567795" y="5815878"/>
              <a:ext cx="438667" cy="386507"/>
            </a:xfrm>
            <a:prstGeom prst="roundRect">
              <a:avLst>
                <a:gd name="adj" fmla="val 10909"/>
              </a:avLst>
            </a:prstGeom>
            <a:solidFill>
              <a:schemeClr val="bg1"/>
            </a:solidFill>
            <a:ln w="12700">
              <a:solidFill>
                <a:schemeClr val="bg2">
                  <a:lumMod val="50000"/>
                </a:schemeClr>
              </a:solidFill>
              <a:prstDash val="solid"/>
            </a:ln>
          </p:spPr>
        </p:sp>
        <p:sp>
          <p:nvSpPr>
            <p:cNvPr id="205" name="Arrow: Right 204">
              <a:extLst>
                <a:ext uri="{FF2B5EF4-FFF2-40B4-BE49-F238E27FC236}">
                  <a16:creationId xmlns:a16="http://schemas.microsoft.com/office/drawing/2014/main" id="{FA57BF8B-70CF-D2BF-E366-0EB7165EAEE0}"/>
                </a:ext>
              </a:extLst>
            </p:cNvPr>
            <p:cNvSpPr/>
            <p:nvPr/>
          </p:nvSpPr>
          <p:spPr>
            <a:xfrm>
              <a:off x="651266" y="6008623"/>
              <a:ext cx="360040" cy="98553"/>
            </a:xfrm>
            <a:prstGeom prst="rightArrow">
              <a:avLst>
                <a:gd name="adj1" fmla="val 68899"/>
                <a:gd name="adj2" fmla="val 44529"/>
              </a:avLst>
            </a:prstGeom>
            <a:solidFill>
              <a:srgbClr val="00A452"/>
            </a:solidFill>
            <a:ln>
              <a:solidFill>
                <a:schemeClr val="accent3">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E"/>
            </a:p>
          </p:txBody>
        </p:sp>
        <p:sp>
          <p:nvSpPr>
            <p:cNvPr id="206" name="Arrow: Right 205">
              <a:extLst>
                <a:ext uri="{FF2B5EF4-FFF2-40B4-BE49-F238E27FC236}">
                  <a16:creationId xmlns:a16="http://schemas.microsoft.com/office/drawing/2014/main" id="{E770668B-622B-7CB2-2E4C-7456FC68CFD5}"/>
                </a:ext>
              </a:extLst>
            </p:cNvPr>
            <p:cNvSpPr/>
            <p:nvPr/>
          </p:nvSpPr>
          <p:spPr>
            <a:xfrm>
              <a:off x="5160650" y="6048883"/>
              <a:ext cx="360040" cy="98553"/>
            </a:xfrm>
            <a:prstGeom prst="rightArrow">
              <a:avLst>
                <a:gd name="adj1" fmla="val 68899"/>
                <a:gd name="adj2" fmla="val 44529"/>
              </a:avLst>
            </a:prstGeom>
            <a:solidFill>
              <a:schemeClr val="accent1">
                <a:lumMod val="75000"/>
              </a:schemeClr>
            </a:solidFill>
            <a:ln>
              <a:solidFill>
                <a:schemeClr val="accent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E"/>
            </a:p>
          </p:txBody>
        </p:sp>
        <p:sp>
          <p:nvSpPr>
            <p:cNvPr id="207" name="Text 16">
              <a:extLst>
                <a:ext uri="{FF2B5EF4-FFF2-40B4-BE49-F238E27FC236}">
                  <a16:creationId xmlns:a16="http://schemas.microsoft.com/office/drawing/2014/main" id="{35EAB456-EB3F-1D73-EEB6-A34988EDC7DC}"/>
                </a:ext>
              </a:extLst>
            </p:cNvPr>
            <p:cNvSpPr/>
            <p:nvPr/>
          </p:nvSpPr>
          <p:spPr>
            <a:xfrm>
              <a:off x="649224" y="5834570"/>
              <a:ext cx="347472" cy="219668"/>
            </a:xfrm>
            <a:prstGeom prst="rect">
              <a:avLst/>
            </a:prstGeom>
            <a:noFill/>
            <a:ln/>
          </p:spPr>
          <p:txBody>
            <a:bodyPr wrap="square" lIns="0" tIns="0" rIns="0" bIns="0" rtlCol="0" anchor="ctr">
              <a:normAutofit/>
            </a:bodyPr>
            <a:lstStyle/>
            <a:p>
              <a:pPr marL="0" indent="0" algn="ctr">
                <a:buNone/>
              </a:pPr>
              <a:r>
                <a:rPr lang="en-DE" sz="1050" b="1" kern="0" spc="20" dirty="0">
                  <a:solidFill>
                    <a:srgbClr val="008E47"/>
                  </a:solidFill>
                  <a:latin typeface="Aptos Display" panose="020B0004020202020204" pitchFamily="34" charset="0"/>
                  <a:ea typeface="Inter Display" pitchFamily="34" charset="-122"/>
                  <a:cs typeface="Inter Display" pitchFamily="34" charset="-120"/>
                </a:rPr>
                <a:t>ADD</a:t>
              </a:r>
              <a:endParaRPr lang="en-US" sz="1050" b="1" dirty="0">
                <a:solidFill>
                  <a:srgbClr val="008E47"/>
                </a:solidFill>
                <a:latin typeface="Aptos Display" panose="020B0004020202020204" pitchFamily="34" charset="0"/>
              </a:endParaRPr>
            </a:p>
          </p:txBody>
        </p:sp>
        <p:sp>
          <p:nvSpPr>
            <p:cNvPr id="208" name="Text 16">
              <a:extLst>
                <a:ext uri="{FF2B5EF4-FFF2-40B4-BE49-F238E27FC236}">
                  <a16:creationId xmlns:a16="http://schemas.microsoft.com/office/drawing/2014/main" id="{89A36E6B-E971-9980-5463-28D6173B3D8B}"/>
                </a:ext>
              </a:extLst>
            </p:cNvPr>
            <p:cNvSpPr/>
            <p:nvPr/>
          </p:nvSpPr>
          <p:spPr>
            <a:xfrm>
              <a:off x="5023226" y="5860009"/>
              <a:ext cx="652272" cy="219668"/>
            </a:xfrm>
            <a:prstGeom prst="rect">
              <a:avLst/>
            </a:prstGeom>
            <a:noFill/>
            <a:ln/>
          </p:spPr>
          <p:txBody>
            <a:bodyPr wrap="square" lIns="0" tIns="0" rIns="0" bIns="0" rtlCol="0" anchor="ctr">
              <a:normAutofit/>
            </a:bodyPr>
            <a:lstStyle/>
            <a:p>
              <a:pPr marL="0" indent="0" algn="ctr">
                <a:buNone/>
              </a:pPr>
              <a:r>
                <a:rPr lang="en-DE" sz="1050" b="1" kern="0" spc="20" dirty="0">
                  <a:solidFill>
                    <a:srgbClr val="C00000"/>
                  </a:solidFill>
                  <a:latin typeface="Aptos Display" panose="020B0004020202020204" pitchFamily="34" charset="0"/>
                  <a:ea typeface="Inter Display" pitchFamily="34" charset="-122"/>
                  <a:cs typeface="Inter Display" pitchFamily="34" charset="-120"/>
                </a:rPr>
                <a:t>REMOVE</a:t>
              </a:r>
              <a:endParaRPr lang="en-US" sz="1050" b="1" dirty="0">
                <a:solidFill>
                  <a:srgbClr val="C00000"/>
                </a:solidFill>
                <a:latin typeface="Aptos Display" panose="020B0004020202020204" pitchFamily="34" charset="0"/>
              </a:endParaRPr>
            </a:p>
          </p:txBody>
        </p:sp>
      </p:grpSp>
      <p:sp>
        <p:nvSpPr>
          <p:cNvPr id="216" name="Limitations list item 1">
            <a:extLst>
              <a:ext uri="{FF2B5EF4-FFF2-40B4-BE49-F238E27FC236}">
                <a16:creationId xmlns:a16="http://schemas.microsoft.com/office/drawing/2014/main" id="{8099CA02-E968-E2D2-EE56-93B0E6BEFC73}"/>
              </a:ext>
            </a:extLst>
          </p:cNvPr>
          <p:cNvSpPr txBox="1"/>
          <p:nvPr/>
        </p:nvSpPr>
        <p:spPr>
          <a:xfrm>
            <a:off x="3870511" y="12767407"/>
            <a:ext cx="3080126" cy="1699720"/>
          </a:xfrm>
          <a:prstGeom prst="rect">
            <a:avLst/>
          </a:prstGeom>
          <a:noFill/>
          <a:ln/>
        </p:spPr>
        <p:txBody>
          <a:bodyPr wrap="square" lIns="0" tIns="0" rIns="0" bIns="0" rtlCol="0" anchor="t"/>
          <a:lstStyle/>
          <a:p>
            <a:pPr marL="285750" indent="-285750">
              <a:buClr>
                <a:schemeClr val="accent1"/>
              </a:buClr>
              <a:buFont typeface="Wingdings" panose="05000000000000000000" pitchFamily="2" charset="2"/>
              <a:buChar char="§"/>
            </a:pPr>
            <a:r>
              <a:rPr lang="en-GB" sz="1400" dirty="0">
                <a:solidFill>
                  <a:schemeClr val="tx1"/>
                </a:solidFill>
              </a:rPr>
              <a:t>Capacity is fixed at 8 items</a:t>
            </a:r>
            <a:endParaRPr lang="en-DE" sz="1400" dirty="0">
              <a:solidFill>
                <a:schemeClr val="tx1"/>
              </a:solidFill>
            </a:endParaRPr>
          </a:p>
          <a:p>
            <a:pPr marL="285750" indent="-285750">
              <a:buClr>
                <a:schemeClr val="accent1"/>
              </a:buClr>
              <a:buFont typeface="Wingdings" panose="05000000000000000000" pitchFamily="2" charset="2"/>
              <a:buChar char="§"/>
            </a:pPr>
            <a:r>
              <a:rPr lang="en-GB" sz="1400" dirty="0"/>
              <a:t>Urgent items cannot skip the queue</a:t>
            </a:r>
            <a:endParaRPr lang="en-DE" sz="1400" dirty="0"/>
          </a:p>
          <a:p>
            <a:pPr marL="285750" indent="-285750">
              <a:buClr>
                <a:schemeClr val="accent1"/>
              </a:buClr>
              <a:buFont typeface="Wingdings" panose="05000000000000000000" pitchFamily="2" charset="2"/>
              <a:buChar char="§"/>
            </a:pPr>
            <a:r>
              <a:rPr lang="en-GB" sz="1400" dirty="0"/>
              <a:t>Searching takes O(n) time</a:t>
            </a:r>
            <a:endParaRPr lang="en-DE" sz="1400" dirty="0"/>
          </a:p>
          <a:p>
            <a:pPr marL="285750" indent="-285750">
              <a:buClr>
                <a:schemeClr val="accent1"/>
              </a:buClr>
              <a:buFont typeface="Wingdings" panose="05000000000000000000" pitchFamily="2" charset="2"/>
              <a:buChar char="§"/>
            </a:pPr>
            <a:r>
              <a:rPr lang="en-GB" sz="1400" dirty="0"/>
              <a:t>Does not prioritise expiry dates</a:t>
            </a:r>
            <a:endParaRPr lang="en-DE" sz="1400" dirty="0"/>
          </a:p>
          <a:p>
            <a:pPr marL="285750" indent="-285750">
              <a:buClr>
                <a:schemeClr val="accent1"/>
              </a:buClr>
              <a:buFont typeface="Wingdings" panose="05000000000000000000" pitchFamily="2" charset="2"/>
              <a:buChar char="§"/>
            </a:pPr>
            <a:r>
              <a:rPr lang="en-GB" sz="1400" dirty="0"/>
              <a:t>Fixed capacity cannot expand automatically</a:t>
            </a:r>
            <a:endParaRPr lang="en-US" sz="1400" dirty="0"/>
          </a:p>
        </p:txBody>
      </p:sp>
      <p:grpSp>
        <p:nvGrpSpPr>
          <p:cNvPr id="240" name="Group 239">
            <a:extLst>
              <a:ext uri="{FF2B5EF4-FFF2-40B4-BE49-F238E27FC236}">
                <a16:creationId xmlns:a16="http://schemas.microsoft.com/office/drawing/2014/main" id="{DFC50023-0975-B7FF-13FF-876ED5F03132}"/>
              </a:ext>
            </a:extLst>
          </p:cNvPr>
          <p:cNvGrpSpPr/>
          <p:nvPr/>
        </p:nvGrpSpPr>
        <p:grpSpPr>
          <a:xfrm>
            <a:off x="7264233" y="7388081"/>
            <a:ext cx="7350927" cy="1834849"/>
            <a:chOff x="7264233" y="7317641"/>
            <a:chExt cx="7350927" cy="1834849"/>
          </a:xfrm>
        </p:grpSpPr>
        <p:sp>
          <p:nvSpPr>
            <p:cNvPr id="13" name="Tray 0"/>
            <p:cNvSpPr/>
            <p:nvPr/>
          </p:nvSpPr>
          <p:spPr>
            <a:xfrm>
              <a:off x="7264233" y="7962719"/>
              <a:ext cx="875047" cy="954024"/>
            </a:xfrm>
            <a:prstGeom prst="roundRect">
              <a:avLst>
                <a:gd name="adj" fmla="val 10127"/>
              </a:avLst>
            </a:prstGeom>
            <a:solidFill>
              <a:schemeClr val="tx1">
                <a:lumMod val="25000"/>
                <a:lumOff val="75000"/>
              </a:schemeClr>
            </a:solidFill>
            <a:ln w="12700">
              <a:solidFill>
                <a:schemeClr val="tx1">
                  <a:lumMod val="75000"/>
                  <a:lumOff val="25000"/>
                </a:schemeClr>
              </a:solidFill>
              <a:prstDash val="solid"/>
            </a:ln>
          </p:spPr>
        </p:sp>
        <p:sp>
          <p:nvSpPr>
            <p:cNvPr id="14" name="Tray 1"/>
            <p:cNvSpPr/>
            <p:nvPr/>
          </p:nvSpPr>
          <p:spPr>
            <a:xfrm>
              <a:off x="8173012" y="7962719"/>
              <a:ext cx="875047" cy="954024"/>
            </a:xfrm>
            <a:prstGeom prst="roundRect">
              <a:avLst>
                <a:gd name="adj" fmla="val 10127"/>
              </a:avLst>
            </a:prstGeom>
            <a:solidFill>
              <a:schemeClr val="tx1">
                <a:lumMod val="25000"/>
                <a:lumOff val="75000"/>
              </a:schemeClr>
            </a:solidFill>
            <a:ln w="12700">
              <a:solidFill>
                <a:schemeClr val="tx1">
                  <a:lumMod val="75000"/>
                  <a:lumOff val="25000"/>
                </a:schemeClr>
              </a:solidFill>
              <a:prstDash val="solid"/>
            </a:ln>
          </p:spPr>
        </p:sp>
        <p:sp>
          <p:nvSpPr>
            <p:cNvPr id="15" name="Tray 2"/>
            <p:cNvSpPr/>
            <p:nvPr/>
          </p:nvSpPr>
          <p:spPr>
            <a:xfrm>
              <a:off x="9081791" y="7962719"/>
              <a:ext cx="875047" cy="954024"/>
            </a:xfrm>
            <a:prstGeom prst="roundRect">
              <a:avLst>
                <a:gd name="adj" fmla="val 10127"/>
              </a:avLst>
            </a:prstGeom>
            <a:solidFill>
              <a:schemeClr val="tx1">
                <a:lumMod val="25000"/>
                <a:lumOff val="75000"/>
              </a:schemeClr>
            </a:solidFill>
            <a:ln w="12700">
              <a:solidFill>
                <a:schemeClr val="tx1">
                  <a:lumMod val="75000"/>
                  <a:lumOff val="25000"/>
                </a:schemeClr>
              </a:solidFill>
              <a:prstDash val="solid"/>
            </a:ln>
          </p:spPr>
        </p:sp>
        <p:sp>
          <p:nvSpPr>
            <p:cNvPr id="16" name="Tray 3"/>
            <p:cNvSpPr/>
            <p:nvPr/>
          </p:nvSpPr>
          <p:spPr>
            <a:xfrm>
              <a:off x="9990570" y="7962719"/>
              <a:ext cx="875047" cy="954024"/>
            </a:xfrm>
            <a:prstGeom prst="roundRect">
              <a:avLst>
                <a:gd name="adj" fmla="val 10127"/>
              </a:avLst>
            </a:prstGeom>
            <a:solidFill>
              <a:schemeClr val="tx1">
                <a:lumMod val="25000"/>
                <a:lumOff val="75000"/>
              </a:schemeClr>
            </a:solidFill>
            <a:ln w="12700">
              <a:solidFill>
                <a:schemeClr val="tx1">
                  <a:lumMod val="75000"/>
                  <a:lumOff val="25000"/>
                </a:schemeClr>
              </a:solidFill>
              <a:prstDash val="solid"/>
            </a:ln>
          </p:spPr>
        </p:sp>
        <p:sp>
          <p:nvSpPr>
            <p:cNvPr id="17" name="Tray 4"/>
            <p:cNvSpPr/>
            <p:nvPr/>
          </p:nvSpPr>
          <p:spPr>
            <a:xfrm>
              <a:off x="10899349" y="7962719"/>
              <a:ext cx="875047" cy="954024"/>
            </a:xfrm>
            <a:prstGeom prst="roundRect">
              <a:avLst>
                <a:gd name="adj" fmla="val 10127"/>
              </a:avLst>
            </a:prstGeom>
            <a:solidFill>
              <a:schemeClr val="tx1">
                <a:lumMod val="25000"/>
                <a:lumOff val="75000"/>
              </a:schemeClr>
            </a:solidFill>
            <a:ln w="12700">
              <a:solidFill>
                <a:schemeClr val="tx1">
                  <a:lumMod val="75000"/>
                  <a:lumOff val="25000"/>
                </a:schemeClr>
              </a:solidFill>
              <a:prstDash val="solid"/>
            </a:ln>
          </p:spPr>
        </p:sp>
        <p:sp>
          <p:nvSpPr>
            <p:cNvPr id="18" name="Tray 5"/>
            <p:cNvSpPr/>
            <p:nvPr/>
          </p:nvSpPr>
          <p:spPr>
            <a:xfrm>
              <a:off x="11808128" y="7962719"/>
              <a:ext cx="875047" cy="954024"/>
            </a:xfrm>
            <a:prstGeom prst="roundRect">
              <a:avLst>
                <a:gd name="adj" fmla="val 10127"/>
              </a:avLst>
            </a:prstGeom>
            <a:solidFill>
              <a:schemeClr val="accent2">
                <a:lumMod val="40000"/>
                <a:lumOff val="60000"/>
              </a:schemeClr>
            </a:solidFill>
            <a:ln w="12700">
              <a:solidFill>
                <a:schemeClr val="accent2">
                  <a:lumMod val="75000"/>
                </a:schemeClr>
              </a:solidFill>
              <a:prstDash val="solid"/>
            </a:ln>
          </p:spPr>
          <p:txBody>
            <a:bodyPr/>
            <a:lstStyle/>
            <a:p>
              <a:endParaRPr lang="en-US" dirty="0"/>
            </a:p>
          </p:txBody>
        </p:sp>
        <p:sp>
          <p:nvSpPr>
            <p:cNvPr id="20" name="Tray 6"/>
            <p:cNvSpPr/>
            <p:nvPr/>
          </p:nvSpPr>
          <p:spPr>
            <a:xfrm>
              <a:off x="12716907" y="7962719"/>
              <a:ext cx="875047" cy="954024"/>
            </a:xfrm>
            <a:prstGeom prst="roundRect">
              <a:avLst>
                <a:gd name="adj" fmla="val 10127"/>
              </a:avLst>
            </a:prstGeom>
            <a:solidFill>
              <a:schemeClr val="accent2">
                <a:lumMod val="40000"/>
                <a:lumOff val="60000"/>
              </a:schemeClr>
            </a:solidFill>
            <a:ln w="12700">
              <a:solidFill>
                <a:schemeClr val="accent2">
                  <a:lumMod val="75000"/>
                </a:schemeClr>
              </a:solidFill>
              <a:prstDash val="solid"/>
            </a:ln>
          </p:spPr>
        </p:sp>
        <p:sp>
          <p:nvSpPr>
            <p:cNvPr id="22" name="Tray 7"/>
            <p:cNvSpPr/>
            <p:nvPr/>
          </p:nvSpPr>
          <p:spPr>
            <a:xfrm>
              <a:off x="13625685" y="7962719"/>
              <a:ext cx="875047" cy="954024"/>
            </a:xfrm>
            <a:prstGeom prst="roundRect">
              <a:avLst>
                <a:gd name="adj" fmla="val 10127"/>
              </a:avLst>
            </a:prstGeom>
            <a:solidFill>
              <a:schemeClr val="accent2">
                <a:lumMod val="40000"/>
                <a:lumOff val="60000"/>
              </a:schemeClr>
            </a:solidFill>
            <a:ln w="12700">
              <a:solidFill>
                <a:schemeClr val="accent2">
                  <a:lumMod val="75000"/>
                </a:schemeClr>
              </a:solidFill>
              <a:prstDash val="solid"/>
            </a:ln>
          </p:spPr>
        </p:sp>
        <p:pic>
          <p:nvPicPr>
            <p:cNvPr id="157" name="Picture 156">
              <a:extLst>
                <a:ext uri="{FF2B5EF4-FFF2-40B4-BE49-F238E27FC236}">
                  <a16:creationId xmlns:a16="http://schemas.microsoft.com/office/drawing/2014/main" id="{4A1EE9D5-FED0-D15E-D451-C7AF931BB817}"/>
                </a:ext>
              </a:extLst>
            </p:cNvPr>
            <p:cNvPicPr>
              <a:picLocks noChangeAspect="1"/>
            </p:cNvPicPr>
            <p:nvPr/>
          </p:nvPicPr>
          <p:blipFill>
            <a:blip r:embed="rId4"/>
            <a:stretch>
              <a:fillRect/>
            </a:stretch>
          </p:blipFill>
          <p:spPr>
            <a:xfrm>
              <a:off x="10943090" y="8066340"/>
              <a:ext cx="778097" cy="778097"/>
            </a:xfrm>
            <a:prstGeom prst="rect">
              <a:avLst/>
            </a:prstGeom>
          </p:spPr>
        </p:pic>
        <p:pic>
          <p:nvPicPr>
            <p:cNvPr id="159" name="Picture 158" descr="A taco on a plate&#10;&#10;Description automatically generated">
              <a:extLst>
                <a:ext uri="{FF2B5EF4-FFF2-40B4-BE49-F238E27FC236}">
                  <a16:creationId xmlns:a16="http://schemas.microsoft.com/office/drawing/2014/main" id="{6DC2EF1E-C7B3-9043-DB73-E48D39ACF09D}"/>
                </a:ext>
              </a:extLst>
            </p:cNvPr>
            <p:cNvPicPr>
              <a:picLocks noChangeAspect="1"/>
            </p:cNvPicPr>
            <p:nvPr/>
          </p:nvPicPr>
          <p:blipFill>
            <a:blip r:embed="rId5"/>
            <a:stretch>
              <a:fillRect/>
            </a:stretch>
          </p:blipFill>
          <p:spPr>
            <a:xfrm>
              <a:off x="10054286" y="8049785"/>
              <a:ext cx="746532" cy="746532"/>
            </a:xfrm>
            <a:prstGeom prst="rect">
              <a:avLst/>
            </a:prstGeom>
          </p:spPr>
        </p:pic>
        <p:pic>
          <p:nvPicPr>
            <p:cNvPr id="161" name="Picture 160" descr="A red and white container with french fries&#10;&#10;Description automatically generated">
              <a:extLst>
                <a:ext uri="{FF2B5EF4-FFF2-40B4-BE49-F238E27FC236}">
                  <a16:creationId xmlns:a16="http://schemas.microsoft.com/office/drawing/2014/main" id="{D1CDE817-9CF4-EEB7-8E5F-166F8C05AE38}"/>
                </a:ext>
              </a:extLst>
            </p:cNvPr>
            <p:cNvPicPr>
              <a:picLocks noChangeAspect="1"/>
            </p:cNvPicPr>
            <p:nvPr/>
          </p:nvPicPr>
          <p:blipFill>
            <a:blip r:embed="rId6"/>
            <a:stretch>
              <a:fillRect/>
            </a:stretch>
          </p:blipFill>
          <p:spPr>
            <a:xfrm>
              <a:off x="9143549" y="8054415"/>
              <a:ext cx="758443" cy="758443"/>
            </a:xfrm>
            <a:prstGeom prst="rect">
              <a:avLst/>
            </a:prstGeom>
          </p:spPr>
        </p:pic>
        <p:pic>
          <p:nvPicPr>
            <p:cNvPr id="163" name="Picture 162" descr="A slice of pizza with red and yellow toppings&#10;&#10;Description automatically generated">
              <a:extLst>
                <a:ext uri="{FF2B5EF4-FFF2-40B4-BE49-F238E27FC236}">
                  <a16:creationId xmlns:a16="http://schemas.microsoft.com/office/drawing/2014/main" id="{B8228ECD-4BEE-F96C-A19E-9770F5CFC567}"/>
                </a:ext>
              </a:extLst>
            </p:cNvPr>
            <p:cNvPicPr>
              <a:picLocks noChangeAspect="1"/>
            </p:cNvPicPr>
            <p:nvPr/>
          </p:nvPicPr>
          <p:blipFill>
            <a:blip r:embed="rId7"/>
            <a:stretch>
              <a:fillRect/>
            </a:stretch>
          </p:blipFill>
          <p:spPr>
            <a:xfrm>
              <a:off x="8232781" y="8066340"/>
              <a:ext cx="752206" cy="752206"/>
            </a:xfrm>
            <a:prstGeom prst="rect">
              <a:avLst/>
            </a:prstGeom>
          </p:spPr>
        </p:pic>
        <p:pic>
          <p:nvPicPr>
            <p:cNvPr id="165" name="Picture 164" descr="A cartoon of a burger&#10;&#10;Description automatically generated">
              <a:extLst>
                <a:ext uri="{FF2B5EF4-FFF2-40B4-BE49-F238E27FC236}">
                  <a16:creationId xmlns:a16="http://schemas.microsoft.com/office/drawing/2014/main" id="{B709AEA5-F5D1-72DD-B070-A2BCD49889FE}"/>
                </a:ext>
              </a:extLst>
            </p:cNvPr>
            <p:cNvPicPr>
              <a:picLocks noChangeAspect="1"/>
            </p:cNvPicPr>
            <p:nvPr/>
          </p:nvPicPr>
          <p:blipFill>
            <a:blip r:embed="rId8"/>
            <a:stretch>
              <a:fillRect/>
            </a:stretch>
          </p:blipFill>
          <p:spPr>
            <a:xfrm>
              <a:off x="7330259" y="8067765"/>
              <a:ext cx="750781" cy="750781"/>
            </a:xfrm>
            <a:prstGeom prst="rect">
              <a:avLst/>
            </a:prstGeom>
          </p:spPr>
        </p:pic>
        <p:sp>
          <p:nvSpPr>
            <p:cNvPr id="171" name="Arrow: Right 170">
              <a:extLst>
                <a:ext uri="{FF2B5EF4-FFF2-40B4-BE49-F238E27FC236}">
                  <a16:creationId xmlns:a16="http://schemas.microsoft.com/office/drawing/2014/main" id="{8060DC84-D525-F2D8-3E6A-F61BFD2A2B39}"/>
                </a:ext>
              </a:extLst>
            </p:cNvPr>
            <p:cNvSpPr/>
            <p:nvPr/>
          </p:nvSpPr>
          <p:spPr>
            <a:xfrm rot="10800000">
              <a:off x="7355418" y="7511953"/>
              <a:ext cx="1432973" cy="383033"/>
            </a:xfrm>
            <a:prstGeom prst="rightArrow">
              <a:avLst>
                <a:gd name="adj1" fmla="val 68899"/>
                <a:gd name="adj2" fmla="val 44529"/>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E" dirty="0"/>
            </a:p>
          </p:txBody>
        </p:sp>
        <p:sp>
          <p:nvSpPr>
            <p:cNvPr id="168" name="Text 16">
              <a:extLst>
                <a:ext uri="{FF2B5EF4-FFF2-40B4-BE49-F238E27FC236}">
                  <a16:creationId xmlns:a16="http://schemas.microsoft.com/office/drawing/2014/main" id="{59838BB5-3E27-9138-5693-2C6016A36E86}"/>
                </a:ext>
              </a:extLst>
            </p:cNvPr>
            <p:cNvSpPr/>
            <p:nvPr/>
          </p:nvSpPr>
          <p:spPr>
            <a:xfrm>
              <a:off x="7701756" y="7570416"/>
              <a:ext cx="875048" cy="257472"/>
            </a:xfrm>
            <a:prstGeom prst="rect">
              <a:avLst/>
            </a:prstGeom>
            <a:noFill/>
            <a:ln/>
          </p:spPr>
          <p:txBody>
            <a:bodyPr wrap="square" lIns="0" tIns="0" rIns="0" bIns="0" rtlCol="0" anchor="ctr">
              <a:normAutofit fontScale="92500"/>
            </a:bodyPr>
            <a:lstStyle/>
            <a:p>
              <a:pPr marL="0" indent="0" algn="ctr">
                <a:buNone/>
              </a:pPr>
              <a:r>
                <a:rPr lang="en-DE" sz="1400" b="1" kern="0" spc="300" dirty="0">
                  <a:solidFill>
                    <a:schemeClr val="bg1"/>
                  </a:solidFill>
                  <a:latin typeface="Cascadia Mono SemiBold" panose="020B0609020000020004" pitchFamily="49" charset="0"/>
                  <a:ea typeface="Inter Display" pitchFamily="34" charset="-122"/>
                  <a:cs typeface="Cascadia Mono SemiBold" panose="020B0609020000020004" pitchFamily="49" charset="0"/>
                </a:rPr>
                <a:t>REMOVE</a:t>
              </a:r>
              <a:endParaRPr lang="en-US" sz="1400" b="1" spc="300" dirty="0">
                <a:solidFill>
                  <a:schemeClr val="bg1"/>
                </a:solidFill>
                <a:latin typeface="Cascadia Mono SemiBold" panose="020B0609020000020004" pitchFamily="49" charset="0"/>
                <a:cs typeface="Cascadia Mono SemiBold" panose="020B0609020000020004" pitchFamily="49" charset="0"/>
              </a:endParaRPr>
            </a:p>
          </p:txBody>
        </p:sp>
        <p:sp>
          <p:nvSpPr>
            <p:cNvPr id="172" name="Arrow: Right 171">
              <a:extLst>
                <a:ext uri="{FF2B5EF4-FFF2-40B4-BE49-F238E27FC236}">
                  <a16:creationId xmlns:a16="http://schemas.microsoft.com/office/drawing/2014/main" id="{72014317-670D-A855-D328-8C014E1D961B}"/>
                </a:ext>
              </a:extLst>
            </p:cNvPr>
            <p:cNvSpPr/>
            <p:nvPr/>
          </p:nvSpPr>
          <p:spPr>
            <a:xfrm rot="10800000">
              <a:off x="12977123" y="7511954"/>
              <a:ext cx="1432973" cy="383033"/>
            </a:xfrm>
            <a:prstGeom prst="rightArrow">
              <a:avLst>
                <a:gd name="adj1" fmla="val 68899"/>
                <a:gd name="adj2" fmla="val 44529"/>
              </a:avLst>
            </a:prstGeom>
            <a:solidFill>
              <a:srgbClr val="00A452"/>
            </a:solidFill>
            <a:ln>
              <a:solidFill>
                <a:schemeClr val="accent3">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E"/>
            </a:p>
          </p:txBody>
        </p:sp>
        <p:sp>
          <p:nvSpPr>
            <p:cNvPr id="173" name="Text 16">
              <a:extLst>
                <a:ext uri="{FF2B5EF4-FFF2-40B4-BE49-F238E27FC236}">
                  <a16:creationId xmlns:a16="http://schemas.microsoft.com/office/drawing/2014/main" id="{2003CF36-72F5-CCD0-52DE-E172D774D7D7}"/>
                </a:ext>
              </a:extLst>
            </p:cNvPr>
            <p:cNvSpPr/>
            <p:nvPr/>
          </p:nvSpPr>
          <p:spPr>
            <a:xfrm>
              <a:off x="13334189" y="7570416"/>
              <a:ext cx="875048" cy="257472"/>
            </a:xfrm>
            <a:prstGeom prst="rect">
              <a:avLst/>
            </a:prstGeom>
            <a:noFill/>
            <a:ln/>
          </p:spPr>
          <p:txBody>
            <a:bodyPr wrap="square" lIns="0" tIns="0" rIns="0" bIns="0" rtlCol="0" anchor="ctr">
              <a:normAutofit/>
            </a:bodyPr>
            <a:lstStyle/>
            <a:p>
              <a:pPr marL="0" indent="0" algn="ctr">
                <a:buNone/>
              </a:pPr>
              <a:r>
                <a:rPr lang="en-DE" sz="1400" b="1" kern="0" spc="300" dirty="0">
                  <a:solidFill>
                    <a:schemeClr val="bg1"/>
                  </a:solidFill>
                  <a:latin typeface="Cascadia Mono SemiBold" panose="020B0609020000020004" pitchFamily="49" charset="0"/>
                  <a:ea typeface="Inter Display" pitchFamily="34" charset="-122"/>
                  <a:cs typeface="Cascadia Mono SemiBold" panose="020B0609020000020004" pitchFamily="49" charset="0"/>
                </a:rPr>
                <a:t>ADD</a:t>
              </a:r>
              <a:endParaRPr lang="en-US" sz="1400" b="1" spc="300" dirty="0">
                <a:solidFill>
                  <a:schemeClr val="bg1"/>
                </a:solidFill>
                <a:latin typeface="Cascadia Mono SemiBold" panose="020B0609020000020004" pitchFamily="49" charset="0"/>
                <a:cs typeface="Cascadia Mono SemiBold" panose="020B0609020000020004" pitchFamily="49" charset="0"/>
              </a:endParaRPr>
            </a:p>
          </p:txBody>
        </p:sp>
        <p:sp>
          <p:nvSpPr>
            <p:cNvPr id="224" name="TextBox 223">
              <a:extLst>
                <a:ext uri="{FF2B5EF4-FFF2-40B4-BE49-F238E27FC236}">
                  <a16:creationId xmlns:a16="http://schemas.microsoft.com/office/drawing/2014/main" id="{1F59211B-800B-4260-B457-8D450E4D235C}"/>
                </a:ext>
              </a:extLst>
            </p:cNvPr>
            <p:cNvSpPr txBox="1"/>
            <p:nvPr/>
          </p:nvSpPr>
          <p:spPr>
            <a:xfrm>
              <a:off x="11928898" y="8301232"/>
              <a:ext cx="584712" cy="276999"/>
            </a:xfrm>
            <a:prstGeom prst="rect">
              <a:avLst/>
            </a:prstGeom>
            <a:noFill/>
          </p:spPr>
          <p:txBody>
            <a:bodyPr wrap="none" rtlCol="0">
              <a:spAutoFit/>
            </a:bodyPr>
            <a:lstStyle/>
            <a:p>
              <a:r>
                <a:rPr lang="en-DE" sz="1200" dirty="0">
                  <a:solidFill>
                    <a:schemeClr val="accent2"/>
                  </a:solidFill>
                  <a:latin typeface="Cascadia Mono SemiBold" panose="020B0609020000020004" pitchFamily="49" charset="0"/>
                  <a:cs typeface="Cascadia Mono SemiBold" panose="020B0609020000020004" pitchFamily="49" charset="0"/>
                </a:rPr>
                <a:t>empty</a:t>
              </a:r>
              <a:endParaRPr lang="en-IE" sz="1200" dirty="0">
                <a:solidFill>
                  <a:schemeClr val="accent2"/>
                </a:solidFill>
                <a:latin typeface="Cascadia Mono SemiBold" panose="020B0609020000020004" pitchFamily="49" charset="0"/>
                <a:cs typeface="Cascadia Mono SemiBold" panose="020B0609020000020004" pitchFamily="49" charset="0"/>
              </a:endParaRPr>
            </a:p>
          </p:txBody>
        </p:sp>
        <p:sp>
          <p:nvSpPr>
            <p:cNvPr id="225" name="TextBox 224">
              <a:extLst>
                <a:ext uri="{FF2B5EF4-FFF2-40B4-BE49-F238E27FC236}">
                  <a16:creationId xmlns:a16="http://schemas.microsoft.com/office/drawing/2014/main" id="{14AC9FDB-FAD3-49DD-CEB5-807825C46FC1}"/>
                </a:ext>
              </a:extLst>
            </p:cNvPr>
            <p:cNvSpPr txBox="1"/>
            <p:nvPr/>
          </p:nvSpPr>
          <p:spPr>
            <a:xfrm>
              <a:off x="12837677" y="8310164"/>
              <a:ext cx="584712" cy="276999"/>
            </a:xfrm>
            <a:prstGeom prst="rect">
              <a:avLst/>
            </a:prstGeom>
            <a:noFill/>
          </p:spPr>
          <p:txBody>
            <a:bodyPr wrap="none" rtlCol="0">
              <a:spAutoFit/>
            </a:bodyPr>
            <a:lstStyle/>
            <a:p>
              <a:r>
                <a:rPr lang="en-DE" sz="1200" dirty="0">
                  <a:solidFill>
                    <a:schemeClr val="accent2"/>
                  </a:solidFill>
                  <a:latin typeface="Cascadia Mono SemiBold" panose="020B0609020000020004" pitchFamily="49" charset="0"/>
                  <a:cs typeface="Cascadia Mono SemiBold" panose="020B0609020000020004" pitchFamily="49" charset="0"/>
                </a:rPr>
                <a:t>empty</a:t>
              </a:r>
              <a:endParaRPr lang="en-IE" sz="1200" dirty="0">
                <a:solidFill>
                  <a:schemeClr val="accent2"/>
                </a:solidFill>
                <a:latin typeface="Cascadia Mono SemiBold" panose="020B0609020000020004" pitchFamily="49" charset="0"/>
                <a:cs typeface="Cascadia Mono SemiBold" panose="020B0609020000020004" pitchFamily="49" charset="0"/>
              </a:endParaRPr>
            </a:p>
          </p:txBody>
        </p:sp>
        <p:sp>
          <p:nvSpPr>
            <p:cNvPr id="226" name="TextBox 225">
              <a:extLst>
                <a:ext uri="{FF2B5EF4-FFF2-40B4-BE49-F238E27FC236}">
                  <a16:creationId xmlns:a16="http://schemas.microsoft.com/office/drawing/2014/main" id="{4D6EA0D6-5390-C669-3879-330A7E7CA251}"/>
                </a:ext>
              </a:extLst>
            </p:cNvPr>
            <p:cNvSpPr txBox="1"/>
            <p:nvPr/>
          </p:nvSpPr>
          <p:spPr>
            <a:xfrm>
              <a:off x="13746455" y="8301232"/>
              <a:ext cx="584712" cy="276999"/>
            </a:xfrm>
            <a:prstGeom prst="rect">
              <a:avLst/>
            </a:prstGeom>
            <a:noFill/>
          </p:spPr>
          <p:txBody>
            <a:bodyPr wrap="none" rtlCol="0">
              <a:spAutoFit/>
            </a:bodyPr>
            <a:lstStyle/>
            <a:p>
              <a:r>
                <a:rPr lang="en-DE" sz="1200" dirty="0">
                  <a:solidFill>
                    <a:schemeClr val="accent2"/>
                  </a:solidFill>
                  <a:latin typeface="Cascadia Mono SemiBold" panose="020B0609020000020004" pitchFamily="49" charset="0"/>
                  <a:cs typeface="Cascadia Mono SemiBold" panose="020B0609020000020004" pitchFamily="49" charset="0"/>
                </a:rPr>
                <a:t>empty</a:t>
              </a:r>
              <a:endParaRPr lang="en-IE" sz="1200" dirty="0">
                <a:solidFill>
                  <a:schemeClr val="accent2"/>
                </a:solidFill>
                <a:latin typeface="Cascadia Mono SemiBold" panose="020B0609020000020004" pitchFamily="49" charset="0"/>
                <a:cs typeface="Cascadia Mono SemiBold" panose="020B0609020000020004" pitchFamily="49" charset="0"/>
              </a:endParaRPr>
            </a:p>
          </p:txBody>
        </p:sp>
        <p:sp>
          <p:nvSpPr>
            <p:cNvPr id="228" name="TextBox 227">
              <a:extLst>
                <a:ext uri="{FF2B5EF4-FFF2-40B4-BE49-F238E27FC236}">
                  <a16:creationId xmlns:a16="http://schemas.microsoft.com/office/drawing/2014/main" id="{5694278A-81CB-0684-9184-EAD98889DE34}"/>
                </a:ext>
              </a:extLst>
            </p:cNvPr>
            <p:cNvSpPr txBox="1"/>
            <p:nvPr/>
          </p:nvSpPr>
          <p:spPr>
            <a:xfrm>
              <a:off x="7565793" y="8875491"/>
              <a:ext cx="368760" cy="276999"/>
            </a:xfrm>
            <a:prstGeom prst="rect">
              <a:avLst/>
            </a:prstGeom>
            <a:noFill/>
          </p:spPr>
          <p:txBody>
            <a:bodyPr wrap="square" rtlCol="0">
              <a:spAutoFit/>
            </a:bodyPr>
            <a:lstStyle/>
            <a:p>
              <a:r>
                <a:rPr lang="en-DE" sz="1200" dirty="0">
                  <a:solidFill>
                    <a:schemeClr val="accent5"/>
                  </a:solidFill>
                  <a:latin typeface="Cascadia Mono SemiBold" panose="020B0609020000020004" pitchFamily="49" charset="0"/>
                  <a:cs typeface="Cascadia Mono SemiBold" panose="020B0609020000020004" pitchFamily="49" charset="0"/>
                </a:rPr>
                <a:t>0</a:t>
              </a:r>
              <a:endParaRPr lang="en-IE" sz="1200" dirty="0">
                <a:solidFill>
                  <a:schemeClr val="accent5"/>
                </a:solidFill>
                <a:latin typeface="Cascadia Mono SemiBold" panose="020B0609020000020004" pitchFamily="49" charset="0"/>
                <a:cs typeface="Cascadia Mono SemiBold" panose="020B0609020000020004" pitchFamily="49" charset="0"/>
              </a:endParaRPr>
            </a:p>
          </p:txBody>
        </p:sp>
        <p:sp>
          <p:nvSpPr>
            <p:cNvPr id="229" name="TextBox 228">
              <a:extLst>
                <a:ext uri="{FF2B5EF4-FFF2-40B4-BE49-F238E27FC236}">
                  <a16:creationId xmlns:a16="http://schemas.microsoft.com/office/drawing/2014/main" id="{4D186930-31C8-3F86-CC6D-B82A429EAB19}"/>
                </a:ext>
              </a:extLst>
            </p:cNvPr>
            <p:cNvSpPr txBox="1"/>
            <p:nvPr/>
          </p:nvSpPr>
          <p:spPr>
            <a:xfrm>
              <a:off x="8470857" y="8875491"/>
              <a:ext cx="368760" cy="276999"/>
            </a:xfrm>
            <a:prstGeom prst="rect">
              <a:avLst/>
            </a:prstGeom>
            <a:noFill/>
          </p:spPr>
          <p:txBody>
            <a:bodyPr wrap="square" rtlCol="0">
              <a:spAutoFit/>
            </a:bodyPr>
            <a:lstStyle/>
            <a:p>
              <a:r>
                <a:rPr lang="en-DE" sz="1200" dirty="0">
                  <a:solidFill>
                    <a:schemeClr val="accent5"/>
                  </a:solidFill>
                  <a:latin typeface="Cascadia Mono SemiBold" panose="020B0609020000020004" pitchFamily="49" charset="0"/>
                  <a:cs typeface="Cascadia Mono SemiBold" panose="020B0609020000020004" pitchFamily="49" charset="0"/>
                </a:rPr>
                <a:t>1</a:t>
              </a:r>
              <a:endParaRPr lang="en-IE" sz="1200" dirty="0">
                <a:solidFill>
                  <a:schemeClr val="accent5"/>
                </a:solidFill>
                <a:latin typeface="Cascadia Mono SemiBold" panose="020B0609020000020004" pitchFamily="49" charset="0"/>
                <a:cs typeface="Cascadia Mono SemiBold" panose="020B0609020000020004" pitchFamily="49" charset="0"/>
              </a:endParaRPr>
            </a:p>
          </p:txBody>
        </p:sp>
        <p:sp>
          <p:nvSpPr>
            <p:cNvPr id="230" name="TextBox 229">
              <a:extLst>
                <a:ext uri="{FF2B5EF4-FFF2-40B4-BE49-F238E27FC236}">
                  <a16:creationId xmlns:a16="http://schemas.microsoft.com/office/drawing/2014/main" id="{A3BAE6A2-83CB-0003-5215-A446DF0105A4}"/>
                </a:ext>
              </a:extLst>
            </p:cNvPr>
            <p:cNvSpPr txBox="1"/>
            <p:nvPr/>
          </p:nvSpPr>
          <p:spPr>
            <a:xfrm>
              <a:off x="9375921" y="8875491"/>
              <a:ext cx="368760" cy="276999"/>
            </a:xfrm>
            <a:prstGeom prst="rect">
              <a:avLst/>
            </a:prstGeom>
            <a:noFill/>
          </p:spPr>
          <p:txBody>
            <a:bodyPr wrap="square" rtlCol="0">
              <a:spAutoFit/>
            </a:bodyPr>
            <a:lstStyle/>
            <a:p>
              <a:r>
                <a:rPr lang="en-DE" sz="1200" dirty="0">
                  <a:solidFill>
                    <a:schemeClr val="accent5"/>
                  </a:solidFill>
                  <a:latin typeface="Cascadia Mono SemiBold" panose="020B0609020000020004" pitchFamily="49" charset="0"/>
                  <a:cs typeface="Cascadia Mono SemiBold" panose="020B0609020000020004" pitchFamily="49" charset="0"/>
                </a:rPr>
                <a:t>2</a:t>
              </a:r>
              <a:endParaRPr lang="en-IE" sz="1200" dirty="0">
                <a:solidFill>
                  <a:schemeClr val="accent5"/>
                </a:solidFill>
                <a:latin typeface="Cascadia Mono SemiBold" panose="020B0609020000020004" pitchFamily="49" charset="0"/>
                <a:cs typeface="Cascadia Mono SemiBold" panose="020B0609020000020004" pitchFamily="49" charset="0"/>
              </a:endParaRPr>
            </a:p>
          </p:txBody>
        </p:sp>
        <p:sp>
          <p:nvSpPr>
            <p:cNvPr id="231" name="TextBox 230">
              <a:extLst>
                <a:ext uri="{FF2B5EF4-FFF2-40B4-BE49-F238E27FC236}">
                  <a16:creationId xmlns:a16="http://schemas.microsoft.com/office/drawing/2014/main" id="{8D7B9B3C-363A-4A17-CD5A-F31F6E26631F}"/>
                </a:ext>
              </a:extLst>
            </p:cNvPr>
            <p:cNvSpPr txBox="1"/>
            <p:nvPr/>
          </p:nvSpPr>
          <p:spPr>
            <a:xfrm>
              <a:off x="10280985" y="8875491"/>
              <a:ext cx="368760" cy="276999"/>
            </a:xfrm>
            <a:prstGeom prst="rect">
              <a:avLst/>
            </a:prstGeom>
            <a:noFill/>
          </p:spPr>
          <p:txBody>
            <a:bodyPr wrap="square" rtlCol="0">
              <a:spAutoFit/>
            </a:bodyPr>
            <a:lstStyle/>
            <a:p>
              <a:r>
                <a:rPr lang="en-DE" sz="1200" dirty="0">
                  <a:solidFill>
                    <a:schemeClr val="accent5"/>
                  </a:solidFill>
                  <a:latin typeface="Cascadia Mono SemiBold" panose="020B0609020000020004" pitchFamily="49" charset="0"/>
                  <a:cs typeface="Cascadia Mono SemiBold" panose="020B0609020000020004" pitchFamily="49" charset="0"/>
                </a:rPr>
                <a:t>3</a:t>
              </a:r>
              <a:endParaRPr lang="en-IE" sz="1200" dirty="0">
                <a:solidFill>
                  <a:schemeClr val="accent5"/>
                </a:solidFill>
                <a:latin typeface="Cascadia Mono SemiBold" panose="020B0609020000020004" pitchFamily="49" charset="0"/>
                <a:cs typeface="Cascadia Mono SemiBold" panose="020B0609020000020004" pitchFamily="49" charset="0"/>
              </a:endParaRPr>
            </a:p>
          </p:txBody>
        </p:sp>
        <p:sp>
          <p:nvSpPr>
            <p:cNvPr id="233" name="TextBox 232">
              <a:extLst>
                <a:ext uri="{FF2B5EF4-FFF2-40B4-BE49-F238E27FC236}">
                  <a16:creationId xmlns:a16="http://schemas.microsoft.com/office/drawing/2014/main" id="{A549A710-A59C-21AC-29E1-972C9BD83DF0}"/>
                </a:ext>
              </a:extLst>
            </p:cNvPr>
            <p:cNvSpPr txBox="1"/>
            <p:nvPr/>
          </p:nvSpPr>
          <p:spPr>
            <a:xfrm>
              <a:off x="11186049" y="8875491"/>
              <a:ext cx="368760" cy="276999"/>
            </a:xfrm>
            <a:prstGeom prst="rect">
              <a:avLst/>
            </a:prstGeom>
            <a:noFill/>
          </p:spPr>
          <p:txBody>
            <a:bodyPr wrap="square" rtlCol="0">
              <a:spAutoFit/>
            </a:bodyPr>
            <a:lstStyle/>
            <a:p>
              <a:r>
                <a:rPr lang="en-DE" sz="1200" dirty="0">
                  <a:solidFill>
                    <a:schemeClr val="accent5"/>
                  </a:solidFill>
                  <a:latin typeface="Cascadia Mono SemiBold" panose="020B0609020000020004" pitchFamily="49" charset="0"/>
                  <a:cs typeface="Cascadia Mono SemiBold" panose="020B0609020000020004" pitchFamily="49" charset="0"/>
                </a:rPr>
                <a:t>4</a:t>
              </a:r>
              <a:endParaRPr lang="en-IE" sz="1200" dirty="0">
                <a:solidFill>
                  <a:schemeClr val="accent5"/>
                </a:solidFill>
                <a:latin typeface="Cascadia Mono SemiBold" panose="020B0609020000020004" pitchFamily="49" charset="0"/>
                <a:cs typeface="Cascadia Mono SemiBold" panose="020B0609020000020004" pitchFamily="49" charset="0"/>
              </a:endParaRPr>
            </a:p>
          </p:txBody>
        </p:sp>
        <p:sp>
          <p:nvSpPr>
            <p:cNvPr id="234" name="TextBox 233">
              <a:extLst>
                <a:ext uri="{FF2B5EF4-FFF2-40B4-BE49-F238E27FC236}">
                  <a16:creationId xmlns:a16="http://schemas.microsoft.com/office/drawing/2014/main" id="{0D41E6EB-8600-B906-1A5B-189BDE9E75F9}"/>
                </a:ext>
              </a:extLst>
            </p:cNvPr>
            <p:cNvSpPr txBox="1"/>
            <p:nvPr/>
          </p:nvSpPr>
          <p:spPr>
            <a:xfrm>
              <a:off x="12091113" y="8875491"/>
              <a:ext cx="368760" cy="276999"/>
            </a:xfrm>
            <a:prstGeom prst="rect">
              <a:avLst/>
            </a:prstGeom>
            <a:noFill/>
          </p:spPr>
          <p:txBody>
            <a:bodyPr wrap="square" rtlCol="0">
              <a:spAutoFit/>
            </a:bodyPr>
            <a:lstStyle/>
            <a:p>
              <a:r>
                <a:rPr lang="en-DE" sz="1200" dirty="0">
                  <a:solidFill>
                    <a:schemeClr val="accent5"/>
                  </a:solidFill>
                  <a:latin typeface="Cascadia Mono SemiBold" panose="020B0609020000020004" pitchFamily="49" charset="0"/>
                  <a:cs typeface="Cascadia Mono SemiBold" panose="020B0609020000020004" pitchFamily="49" charset="0"/>
                </a:rPr>
                <a:t>5</a:t>
              </a:r>
              <a:endParaRPr lang="en-IE" sz="1200" dirty="0">
                <a:solidFill>
                  <a:schemeClr val="accent5"/>
                </a:solidFill>
                <a:latin typeface="Cascadia Mono SemiBold" panose="020B0609020000020004" pitchFamily="49" charset="0"/>
                <a:cs typeface="Cascadia Mono SemiBold" panose="020B0609020000020004" pitchFamily="49" charset="0"/>
              </a:endParaRPr>
            </a:p>
          </p:txBody>
        </p:sp>
        <p:sp>
          <p:nvSpPr>
            <p:cNvPr id="235" name="TextBox 234">
              <a:extLst>
                <a:ext uri="{FF2B5EF4-FFF2-40B4-BE49-F238E27FC236}">
                  <a16:creationId xmlns:a16="http://schemas.microsoft.com/office/drawing/2014/main" id="{CCEB60D2-0BBA-B771-D3A7-317EF554ABF4}"/>
                </a:ext>
              </a:extLst>
            </p:cNvPr>
            <p:cNvSpPr txBox="1"/>
            <p:nvPr/>
          </p:nvSpPr>
          <p:spPr>
            <a:xfrm>
              <a:off x="12996177" y="8875491"/>
              <a:ext cx="368760" cy="276999"/>
            </a:xfrm>
            <a:prstGeom prst="rect">
              <a:avLst/>
            </a:prstGeom>
            <a:noFill/>
          </p:spPr>
          <p:txBody>
            <a:bodyPr wrap="square" rtlCol="0">
              <a:spAutoFit/>
            </a:bodyPr>
            <a:lstStyle/>
            <a:p>
              <a:r>
                <a:rPr lang="en-DE" sz="1200" dirty="0">
                  <a:solidFill>
                    <a:schemeClr val="accent5"/>
                  </a:solidFill>
                  <a:latin typeface="Cascadia Mono SemiBold" panose="020B0609020000020004" pitchFamily="49" charset="0"/>
                  <a:cs typeface="Cascadia Mono SemiBold" panose="020B0609020000020004" pitchFamily="49" charset="0"/>
                </a:rPr>
                <a:t>6</a:t>
              </a:r>
              <a:endParaRPr lang="en-IE" sz="1200" dirty="0">
                <a:solidFill>
                  <a:schemeClr val="accent5"/>
                </a:solidFill>
                <a:latin typeface="Cascadia Mono SemiBold" panose="020B0609020000020004" pitchFamily="49" charset="0"/>
                <a:cs typeface="Cascadia Mono SemiBold" panose="020B0609020000020004" pitchFamily="49" charset="0"/>
              </a:endParaRPr>
            </a:p>
          </p:txBody>
        </p:sp>
        <p:sp>
          <p:nvSpPr>
            <p:cNvPr id="236" name="TextBox 235">
              <a:extLst>
                <a:ext uri="{FF2B5EF4-FFF2-40B4-BE49-F238E27FC236}">
                  <a16:creationId xmlns:a16="http://schemas.microsoft.com/office/drawing/2014/main" id="{103E2B8E-EB17-27C5-5AED-597B0C4D4EA2}"/>
                </a:ext>
              </a:extLst>
            </p:cNvPr>
            <p:cNvSpPr txBox="1"/>
            <p:nvPr/>
          </p:nvSpPr>
          <p:spPr>
            <a:xfrm>
              <a:off x="13901243" y="8875491"/>
              <a:ext cx="368760" cy="276999"/>
            </a:xfrm>
            <a:prstGeom prst="rect">
              <a:avLst/>
            </a:prstGeom>
            <a:noFill/>
          </p:spPr>
          <p:txBody>
            <a:bodyPr wrap="square" rtlCol="0">
              <a:spAutoFit/>
            </a:bodyPr>
            <a:lstStyle/>
            <a:p>
              <a:r>
                <a:rPr lang="en-DE" sz="1200" dirty="0">
                  <a:solidFill>
                    <a:schemeClr val="accent5"/>
                  </a:solidFill>
                  <a:latin typeface="Cascadia Mono SemiBold" panose="020B0609020000020004" pitchFamily="49" charset="0"/>
                  <a:cs typeface="Cascadia Mono SemiBold" panose="020B0609020000020004" pitchFamily="49" charset="0"/>
                </a:rPr>
                <a:t>7</a:t>
              </a:r>
              <a:endParaRPr lang="en-IE" sz="1200" dirty="0">
                <a:solidFill>
                  <a:schemeClr val="accent5"/>
                </a:solidFill>
                <a:latin typeface="Cascadia Mono SemiBold" panose="020B0609020000020004" pitchFamily="49" charset="0"/>
                <a:cs typeface="Cascadia Mono SemiBold" panose="020B0609020000020004" pitchFamily="49" charset="0"/>
              </a:endParaRPr>
            </a:p>
          </p:txBody>
        </p:sp>
        <p:sp>
          <p:nvSpPr>
            <p:cNvPr id="238" name="TextBox 237">
              <a:extLst>
                <a:ext uri="{FF2B5EF4-FFF2-40B4-BE49-F238E27FC236}">
                  <a16:creationId xmlns:a16="http://schemas.microsoft.com/office/drawing/2014/main" id="{E067061F-AC4D-EB7F-7E1C-16FB5E225671}"/>
                </a:ext>
              </a:extLst>
            </p:cNvPr>
            <p:cNvSpPr txBox="1"/>
            <p:nvPr/>
          </p:nvSpPr>
          <p:spPr>
            <a:xfrm>
              <a:off x="7555833" y="7317641"/>
              <a:ext cx="1455495" cy="285954"/>
            </a:xfrm>
            <a:prstGeom prst="rect">
              <a:avLst/>
            </a:prstGeom>
            <a:noFill/>
          </p:spPr>
          <p:txBody>
            <a:bodyPr wrap="square" rtlCol="0">
              <a:spAutoFit/>
            </a:bodyPr>
            <a:lstStyle/>
            <a:p>
              <a:r>
                <a:rPr lang="en-DE" sz="1200" dirty="0">
                  <a:solidFill>
                    <a:schemeClr val="accent5"/>
                  </a:solidFill>
                  <a:latin typeface="Cascadia Mono SemiBold" panose="020B0609020000020004" pitchFamily="49" charset="0"/>
                  <a:cs typeface="Cascadia Mono SemiBold" panose="020B0609020000020004" pitchFamily="49" charset="0"/>
                </a:rPr>
                <a:t>FRONT</a:t>
              </a:r>
              <a:endParaRPr lang="en-IE" sz="1200" dirty="0">
                <a:solidFill>
                  <a:schemeClr val="accent5"/>
                </a:solidFill>
                <a:latin typeface="Cascadia Mono SemiBold" panose="020B0609020000020004" pitchFamily="49" charset="0"/>
                <a:cs typeface="Cascadia Mono SemiBold" panose="020B0609020000020004" pitchFamily="49" charset="0"/>
              </a:endParaRPr>
            </a:p>
          </p:txBody>
        </p:sp>
        <p:sp>
          <p:nvSpPr>
            <p:cNvPr id="239" name="TextBox 238">
              <a:extLst>
                <a:ext uri="{FF2B5EF4-FFF2-40B4-BE49-F238E27FC236}">
                  <a16:creationId xmlns:a16="http://schemas.microsoft.com/office/drawing/2014/main" id="{029F7452-1916-1FA7-B11C-9C98BBAABB02}"/>
                </a:ext>
              </a:extLst>
            </p:cNvPr>
            <p:cNvSpPr txBox="1"/>
            <p:nvPr/>
          </p:nvSpPr>
          <p:spPr>
            <a:xfrm>
              <a:off x="13159665" y="7317641"/>
              <a:ext cx="1455495" cy="285954"/>
            </a:xfrm>
            <a:prstGeom prst="rect">
              <a:avLst/>
            </a:prstGeom>
            <a:noFill/>
          </p:spPr>
          <p:txBody>
            <a:bodyPr wrap="square" rtlCol="0">
              <a:spAutoFit/>
            </a:bodyPr>
            <a:lstStyle/>
            <a:p>
              <a:r>
                <a:rPr lang="en-DE" sz="1200" dirty="0">
                  <a:solidFill>
                    <a:schemeClr val="accent5"/>
                  </a:solidFill>
                  <a:latin typeface="Cascadia Mono SemiBold" panose="020B0609020000020004" pitchFamily="49" charset="0"/>
                  <a:cs typeface="Cascadia Mono SemiBold" panose="020B0609020000020004" pitchFamily="49" charset="0"/>
                </a:rPr>
                <a:t>REAR</a:t>
              </a:r>
              <a:endParaRPr lang="en-IE" sz="1200" dirty="0">
                <a:solidFill>
                  <a:schemeClr val="accent5"/>
                </a:solidFill>
                <a:latin typeface="Cascadia Mono SemiBold" panose="020B0609020000020004" pitchFamily="49" charset="0"/>
                <a:cs typeface="Cascadia Mono SemiBold" panose="020B0609020000020004" pitchFamily="49" charset="0"/>
              </a:endParaRPr>
            </a:p>
          </p:txBody>
        </p:sp>
      </p:grpSp>
      <p:sp>
        <p:nvSpPr>
          <p:cNvPr id="241" name="Testing badge">
            <a:extLst>
              <a:ext uri="{FF2B5EF4-FFF2-40B4-BE49-F238E27FC236}">
                <a16:creationId xmlns:a16="http://schemas.microsoft.com/office/drawing/2014/main" id="{415C7C6D-BA26-F686-3F1D-3D9EAC4CF680}"/>
              </a:ext>
            </a:extLst>
          </p:cNvPr>
          <p:cNvSpPr/>
          <p:nvPr/>
        </p:nvSpPr>
        <p:spPr>
          <a:xfrm>
            <a:off x="22382770" y="10168128"/>
            <a:ext cx="402336" cy="402336"/>
          </a:xfrm>
          <a:prstGeom prst="ellipse">
            <a:avLst/>
          </a:prstGeom>
          <a:solidFill>
            <a:schemeClr val="accent1"/>
          </a:solidFill>
          <a:ln/>
        </p:spPr>
      </p:sp>
      <p:sp>
        <p:nvSpPr>
          <p:cNvPr id="242" name="Testing number">
            <a:extLst>
              <a:ext uri="{FF2B5EF4-FFF2-40B4-BE49-F238E27FC236}">
                <a16:creationId xmlns:a16="http://schemas.microsoft.com/office/drawing/2014/main" id="{EE5E1CCF-D8F9-2CEB-CF02-1B8106EB7412}"/>
              </a:ext>
            </a:extLst>
          </p:cNvPr>
          <p:cNvSpPr txBox="1"/>
          <p:nvPr/>
        </p:nvSpPr>
        <p:spPr>
          <a:xfrm>
            <a:off x="22393655" y="10162502"/>
            <a:ext cx="402336" cy="402336"/>
          </a:xfrm>
          <a:prstGeom prst="rect">
            <a:avLst/>
          </a:prstGeom>
          <a:noFill/>
          <a:ln/>
        </p:spPr>
        <p:txBody>
          <a:bodyPr wrap="square" lIns="0" tIns="0" rIns="0" bIns="0" rtlCol="0" anchor="ctr"/>
          <a:lstStyle/>
          <a:p>
            <a:pPr marL="0" indent="0" algn="ctr">
              <a:buNone/>
            </a:pPr>
            <a:r>
              <a:rPr lang="en-DE" sz="1600" b="1" dirty="0">
                <a:solidFill>
                  <a:schemeClr val="bg1"/>
                </a:solidFill>
              </a:rPr>
              <a:t>9</a:t>
            </a:r>
            <a:endParaRPr lang="en-US" sz="1600" dirty="0"/>
          </a:p>
        </p:txBody>
      </p:sp>
      <p:sp>
        <p:nvSpPr>
          <p:cNvPr id="243" name="Testing heading">
            <a:extLst>
              <a:ext uri="{FF2B5EF4-FFF2-40B4-BE49-F238E27FC236}">
                <a16:creationId xmlns:a16="http://schemas.microsoft.com/office/drawing/2014/main" id="{169C588B-6A48-3C1B-8062-4939BB280A4D}"/>
              </a:ext>
            </a:extLst>
          </p:cNvPr>
          <p:cNvSpPr txBox="1"/>
          <p:nvPr/>
        </p:nvSpPr>
        <p:spPr>
          <a:xfrm>
            <a:off x="22942295" y="10144214"/>
            <a:ext cx="5321808" cy="438912"/>
          </a:xfrm>
          <a:prstGeom prst="rect">
            <a:avLst/>
          </a:prstGeom>
          <a:noFill/>
          <a:ln/>
        </p:spPr>
        <p:txBody>
          <a:bodyPr wrap="square" lIns="0" tIns="0" rIns="0" bIns="0" rtlCol="0" anchor="ctr"/>
          <a:lstStyle/>
          <a:p>
            <a:pPr marL="0" indent="0">
              <a:buNone/>
            </a:pPr>
            <a:r>
              <a:rPr lang="en-DE" sz="2300" b="1" dirty="0">
                <a:solidFill>
                  <a:schemeClr val="tx2"/>
                </a:solidFill>
                <a:latin typeface="Franklin Gothic Medium" panose="020B0603020102020204" pitchFamily="34" charset="0"/>
                <a:ea typeface="Cambria" pitchFamily="34" charset="-122"/>
                <a:cs typeface="Lucida Sans Unicode" panose="020B0602030504020204" pitchFamily="34" charset="0"/>
              </a:rPr>
              <a:t>GitHub</a:t>
            </a:r>
            <a:endParaRPr lang="en-US" sz="2300" dirty="0">
              <a:latin typeface="Franklin Gothic Medium" panose="020B0603020102020204" pitchFamily="34" charset="0"/>
              <a:cs typeface="Lucida Sans Unicode" panose="020B0602030504020204" pitchFamily="34" charset="0"/>
            </a:endParaRPr>
          </a:p>
        </p:txBody>
      </p:sp>
      <p:pic>
        <p:nvPicPr>
          <p:cNvPr id="23" name="Picture 22">
            <a:extLst>
              <a:ext uri="{FF2B5EF4-FFF2-40B4-BE49-F238E27FC236}">
                <a16:creationId xmlns:a16="http://schemas.microsoft.com/office/drawing/2014/main" id="{9FCAD6AA-5971-1C27-D9EB-75E91E8B2E55}"/>
              </a:ext>
            </a:extLst>
          </p:cNvPr>
          <p:cNvPicPr>
            <a:picLocks noChangeAspect="1"/>
          </p:cNvPicPr>
          <p:nvPr/>
        </p:nvPicPr>
        <p:blipFill>
          <a:blip r:embed="rId9"/>
          <a:stretch>
            <a:fillRect/>
          </a:stretch>
        </p:blipFill>
        <p:spPr>
          <a:xfrm>
            <a:off x="22393656" y="5337429"/>
            <a:ext cx="5914390" cy="3847031"/>
          </a:xfrm>
          <a:prstGeom prst="rect">
            <a:avLst/>
          </a:prstGeom>
        </p:spPr>
      </p:pic>
      <p:sp>
        <p:nvSpPr>
          <p:cNvPr id="38" name="OOP note">
            <a:extLst>
              <a:ext uri="{FF2B5EF4-FFF2-40B4-BE49-F238E27FC236}">
                <a16:creationId xmlns:a16="http://schemas.microsoft.com/office/drawing/2014/main" id="{68A0BBA3-4F9A-807A-4153-6575E76D8753}"/>
              </a:ext>
            </a:extLst>
          </p:cNvPr>
          <p:cNvSpPr txBox="1"/>
          <p:nvPr/>
        </p:nvSpPr>
        <p:spPr>
          <a:xfrm>
            <a:off x="23084442" y="9220578"/>
            <a:ext cx="4391121" cy="121163"/>
          </a:xfrm>
          <a:prstGeom prst="rect">
            <a:avLst/>
          </a:prstGeom>
          <a:noFill/>
          <a:ln/>
        </p:spPr>
        <p:txBody>
          <a:bodyPr wrap="square" lIns="0" tIns="0" rIns="0" bIns="0" rtlCol="0" anchor="ctr"/>
          <a:lstStyle/>
          <a:p>
            <a:pPr algn="ctr"/>
            <a:r>
              <a:rPr lang="en-US" sz="1200" dirty="0"/>
              <a:t>Figure 1: Invalid input and empty storage handled without crashing.</a:t>
            </a:r>
          </a:p>
        </p:txBody>
      </p:sp>
      <p:pic>
        <p:nvPicPr>
          <p:cNvPr id="40" name="Picture 39">
            <a:extLst>
              <a:ext uri="{FF2B5EF4-FFF2-40B4-BE49-F238E27FC236}">
                <a16:creationId xmlns:a16="http://schemas.microsoft.com/office/drawing/2014/main" id="{08070B25-615F-8D2B-3B3F-5ACA11D6F2A6}"/>
              </a:ext>
            </a:extLst>
          </p:cNvPr>
          <p:cNvPicPr>
            <a:picLocks noChangeAspect="1"/>
          </p:cNvPicPr>
          <p:nvPr/>
        </p:nvPicPr>
        <p:blipFill>
          <a:blip r:embed="rId10"/>
          <a:stretch>
            <a:fillRect/>
          </a:stretch>
        </p:blipFill>
        <p:spPr>
          <a:xfrm>
            <a:off x="22667540" y="10658672"/>
            <a:ext cx="5289923" cy="3435650"/>
          </a:xfrm>
          <a:prstGeom prst="rect">
            <a:avLst/>
          </a:prstGeom>
        </p:spPr>
      </p:pic>
      <p:sp>
        <p:nvSpPr>
          <p:cNvPr id="41" name="OOP note">
            <a:extLst>
              <a:ext uri="{FF2B5EF4-FFF2-40B4-BE49-F238E27FC236}">
                <a16:creationId xmlns:a16="http://schemas.microsoft.com/office/drawing/2014/main" id="{E9589C1C-76FF-DA32-D046-5B2E70C1F27F}"/>
              </a:ext>
            </a:extLst>
          </p:cNvPr>
          <p:cNvSpPr txBox="1"/>
          <p:nvPr/>
        </p:nvSpPr>
        <p:spPr>
          <a:xfrm>
            <a:off x="22854719" y="14154201"/>
            <a:ext cx="4876220" cy="121163"/>
          </a:xfrm>
          <a:prstGeom prst="rect">
            <a:avLst/>
          </a:prstGeom>
          <a:noFill/>
          <a:ln/>
        </p:spPr>
        <p:txBody>
          <a:bodyPr wrap="square" lIns="0" tIns="0" rIns="0" bIns="0" rtlCol="0" anchor="ctr"/>
          <a:lstStyle/>
          <a:p>
            <a:pPr algn="ctr"/>
            <a:r>
              <a:rPr lang="en-US" sz="1200" dirty="0"/>
              <a:t>Figure 2: Git log showing 19 commits by both members on different dates.</a:t>
            </a:r>
          </a:p>
        </p:txBody>
      </p:sp>
      <mc:AlternateContent xmlns:mc="http://schemas.openxmlformats.org/markup-compatibility/2006" xmlns:p14="http://schemas.microsoft.com/office/powerpoint/2010/main">
        <mc:Choice Requires="p14">
          <p:contentPart p14:bwMode="auto" r:id="rId11">
            <p14:nvContentPartPr>
              <p14:cNvPr id="43" name="Ink 42">
                <a:extLst>
                  <a:ext uri="{FF2B5EF4-FFF2-40B4-BE49-F238E27FC236}">
                    <a16:creationId xmlns:a16="http://schemas.microsoft.com/office/drawing/2014/main" id="{FF8664CF-FAEC-FC5A-2E0B-56F033BD9AD0}"/>
                  </a:ext>
                </a:extLst>
              </p14:cNvPr>
              <p14:cNvContentPartPr/>
              <p14:nvPr/>
            </p14:nvContentPartPr>
            <p14:xfrm>
              <a:off x="22623480" y="2670480"/>
              <a:ext cx="360" cy="360"/>
            </p14:xfrm>
          </p:contentPart>
        </mc:Choice>
        <mc:Fallback xmlns="">
          <p:pic>
            <p:nvPicPr>
              <p:cNvPr id="43" name="Ink 42">
                <a:extLst>
                  <a:ext uri="{FF2B5EF4-FFF2-40B4-BE49-F238E27FC236}">
                    <a16:creationId xmlns:a16="http://schemas.microsoft.com/office/drawing/2014/main" id="{FF8664CF-FAEC-FC5A-2E0B-56F033BD9AD0}"/>
                  </a:ext>
                </a:extLst>
              </p:cNvPr>
              <p:cNvPicPr/>
              <p:nvPr/>
            </p:nvPicPr>
            <p:blipFill>
              <a:blip r:embed="rId12"/>
              <a:stretch>
                <a:fillRect/>
              </a:stretch>
            </p:blipFill>
            <p:spPr>
              <a:xfrm>
                <a:off x="22614120" y="2661120"/>
                <a:ext cx="19080" cy="19080"/>
              </a:xfrm>
              <a:prstGeom prst="rect">
                <a:avLst/>
              </a:prstGeom>
            </p:spPr>
          </p:pic>
        </mc:Fallback>
      </mc:AlternateContent>
    </p:spTree>
  </p:cSld>
  <p:clrMapOvr>
    <a:masterClrMapping/>
  </p:clrMapOvr>
</p:sld>
</file>

<file path=ppt/theme/theme1.xml><?xml version="1.0" encoding="utf-8"?>
<a:theme xmlns:a="http://schemas.openxmlformats.org/drawingml/2006/main" name="Food Storage Poster">
  <a:themeElements>
    <a:clrScheme name="Food Storage Poster">
      <a:dk1>
        <a:srgbClr val="1F2933"/>
      </a:dk1>
      <a:lt1>
        <a:srgbClr val="FFFFFF"/>
      </a:lt1>
      <a:dk2>
        <a:srgbClr val="2B2D42"/>
      </a:dk2>
      <a:lt2>
        <a:srgbClr val="F1F3F5"/>
      </a:lt2>
      <a:accent1>
        <a:srgbClr val="E63946"/>
      </a:accent1>
      <a:accent2>
        <a:srgbClr val="E9A23B"/>
      </a:accent2>
      <a:accent3>
        <a:srgbClr val="2A9D8F"/>
      </a:accent3>
      <a:accent4>
        <a:srgbClr val="8D99AE"/>
      </a:accent4>
      <a:accent5>
        <a:srgbClr val="457B9D"/>
      </a:accent5>
      <a:accent6>
        <a:srgbClr val="6C757D"/>
      </a:accent6>
      <a:hlink>
        <a:srgbClr val="457B9D"/>
      </a:hlink>
      <a:folHlink>
        <a:srgbClr val="6C75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2635</TotalTime>
  <Words>1298</Words>
  <Application>Microsoft Office PowerPoint</Application>
  <PresentationFormat>Custom</PresentationFormat>
  <Paragraphs>163</Paragraphs>
  <Slides>1</Slides>
  <Notes>1</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1</vt:i4>
      </vt:variant>
    </vt:vector>
  </HeadingPairs>
  <TitlesOfParts>
    <vt:vector size="9" baseType="lpstr">
      <vt:lpstr>Aptos Display</vt:lpstr>
      <vt:lpstr>Arial</vt:lpstr>
      <vt:lpstr>Cascadia Mono SemiBold</vt:lpstr>
      <vt:lpstr>Cascadia Mono SemiLight</vt:lpstr>
      <vt:lpstr>Courier New</vt:lpstr>
      <vt:lpstr>Franklin Gothic Medium</vt:lpstr>
      <vt:lpstr>Wingdings</vt:lpstr>
      <vt:lpstr>Food Storage Poster</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Food Storage System Poster</dc:title>
  <dc:subject>PptxGenJS Presentation</dc:subject>
  <dc:creator>Flavia Castro and Sissyane Rodrigues</dc:creator>
  <cp:lastModifiedBy>Sissy Rodrigues</cp:lastModifiedBy>
  <cp:revision>11</cp:revision>
  <dcterms:created xsi:type="dcterms:W3CDTF">2026-10-27T09:44:39Z</dcterms:created>
  <dcterms:modified xsi:type="dcterms:W3CDTF">2026-10-30T13:22:45Z</dcterms:modified>
</cp:coreProperties>
</file>